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D1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60"/>
  </p:normalViewPr>
  <p:slideViewPr>
    <p:cSldViewPr snapToGrid="0" snapToObjects="1">
      <p:cViewPr varScale="1">
        <p:scale>
          <a:sx n="106" d="100"/>
          <a:sy n="106" d="100"/>
        </p:scale>
        <p:origin x="600"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8470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Open by positioning DxFactory Operations Intelligence as a single AI-powered layer for smarter manufacturing decisions. Emphasize that the platform speaks to three roles at once: production, maintenance, and management.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Walk through the three operating perspectives. Production gets shift handover, performance, downtime, and root cause visibility. Maintenance gets machine health, preventive maintenance alerts, and reliability metrics. Management gets KPI, OEE, progress, and executive views.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is the attention slide. Explain that teams no longer need to search MES, CMMS, Excel, and production reports separately. They can ask factory questions directly and receive instant, actionable answers.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Summarize the expected business impact with the large numbers on screen: reporting time saved, faster decision response, reduced unplanned downtime, OEE potential, and a single source of truth.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Explain the operating flow: source systems feed DxFactory Operations Intelligence, which produces reports, insights, faster decisions, and continuous improvement.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Close by inviting the audience to the demo station. Point out that the demo covers real production, maintenance, and management use cases, not a generic dashboard tour.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gradFill>
              <a:gsLst>
                <a:gs pos="0">
                  <a:srgbClr val="07111F"/>
                </a:gs>
                <a:gs pos="55000">
                  <a:srgbClr val="0E1D2E"/>
                </a:gs>
                <a:gs pos="100000">
                  <a:srgbClr val="102B44"/>
                </a:gs>
              </a:gsLst>
              <a:lin ang="2700000" scaled="1"/>
            </a:gradFill>
            <a:ln>
              <a:noFill/>
            </a:ln>
          </p:spPr>
          <p:txBody>
            <a:bodyPr/>
            <a:lstStyle/>
            <a:p>
              <a:endParaRPr lang="en-US"/>
            </a:p>
          </p:txBody>
        </p:sp>
        <p:sp>
          <p:nvSpPr>
            <p:cNvPr id="3" name="Rectangle 3"/>
            <p:cNvSpPr>
              <a:spLocks noGrp="1" noRot="1" noMove="1" noResize="1" noEditPoints="1" noAdjustHandles="1" noChangeArrowheads="1" noChangeShapeType="1"/>
            </p:cNvSpPr>
            <p:nvPr/>
          </p:nvSpPr>
          <p:spPr>
            <a:xfrm>
              <a:off x="0" y="0"/>
              <a:ext cx="12192000" cy="6858000"/>
            </a:xfrm>
            <a:prstGeom prst="rect">
              <a:avLst/>
            </a:prstGeom>
            <a:gradFill>
              <a:gsLst>
                <a:gs pos="0">
                  <a:srgbClr val="2EA7FF">
                    <a:alpha val="22000"/>
                  </a:srgbClr>
                </a:gs>
                <a:gs pos="100000">
                  <a:srgbClr val="2EA7FF">
                    <a:alpha val="0"/>
                  </a:srgbClr>
                </a:gs>
              </a:gsLst>
              <a:path path="circle">
                <a:fillToRect l="50000" t="50000" r="50000" b="50000"/>
              </a:path>
            </a:gradFill>
            <a:ln>
              <a:noFill/>
            </a:ln>
          </p:spPr>
          <p:txBody>
            <a:bodyPr/>
            <a:lstStyle/>
            <a:p>
              <a:endParaRPr lang="en-US"/>
            </a:p>
          </p:txBody>
        </p:sp>
      </p:grpSp>
      <p:grpSp>
        <p:nvGrpSpPr>
          <p:cNvPr id="10" name="Group 10"/>
          <p:cNvGrpSpPr/>
          <p:nvPr/>
        </p:nvGrpSpPr>
        <p:grpSpPr>
          <a:xfrm>
            <a:off x="455295" y="690562"/>
            <a:ext cx="9516349" cy="3511082"/>
            <a:chOff x="455295" y="690562"/>
            <a:chExt cx="9516349" cy="3511082"/>
          </a:xfrm>
        </p:grpSpPr>
        <p:sp>
          <p:nvSpPr>
            <p:cNvPr id="5" name="TextBox 5"/>
            <p:cNvSpPr txBox="1"/>
            <p:nvPr/>
          </p:nvSpPr>
          <p:spPr>
            <a:xfrm>
              <a:off x="504825" y="690562"/>
              <a:ext cx="1765113" cy="457200"/>
            </a:xfrm>
            <a:prstGeom prst="rect">
              <a:avLst/>
            </a:prstGeom>
            <a:noFill/>
            <a:ln>
              <a:noFill/>
            </a:ln>
          </p:spPr>
          <p:txBody>
            <a:bodyPr wrap="none" lIns="0" tIns="0" rIns="0" bIns="0" anchor="t" anchorCtr="0">
              <a:spAutoFit/>
            </a:bodyPr>
            <a:lstStyle/>
            <a:p>
              <a:pPr algn="l"/>
              <a:r>
                <a:rPr lang="zh-CN" sz="2250" b="1" dirty="0">
                  <a:solidFill>
                    <a:srgbClr val="00D1FF"/>
                  </a:solidFill>
                  <a:latin typeface="Arial"/>
                  <a:ea typeface="Microsoft YaHei"/>
                  <a:cs typeface="Arial"/>
                </a:rPr>
                <a:t>DxFactory</a:t>
              </a:r>
            </a:p>
          </p:txBody>
        </p:sp>
        <p:sp>
          <p:nvSpPr>
            <p:cNvPr id="6" name="TextBox 6"/>
            <p:cNvSpPr txBox="1"/>
            <p:nvPr/>
          </p:nvSpPr>
          <p:spPr>
            <a:xfrm>
              <a:off x="455295" y="1164908"/>
              <a:ext cx="5296202" cy="1249680"/>
            </a:xfrm>
            <a:prstGeom prst="rect">
              <a:avLst/>
            </a:prstGeom>
            <a:noFill/>
            <a:ln>
              <a:noFill/>
            </a:ln>
          </p:spPr>
          <p:txBody>
            <a:bodyPr wrap="none" lIns="0" tIns="0" rIns="0" bIns="0" anchor="t" anchorCtr="0">
              <a:spAutoFit/>
            </a:bodyPr>
            <a:lstStyle/>
            <a:p>
              <a:pPr algn="l"/>
              <a:r>
                <a:rPr lang="zh-CN" sz="6150" b="1" dirty="0">
                  <a:solidFill>
                    <a:srgbClr val="F4F8FF"/>
                  </a:solidFill>
                  <a:latin typeface="Arial"/>
                  <a:ea typeface="Microsoft YaHei"/>
                  <a:cs typeface="Arial"/>
                </a:rPr>
                <a:t>Operations</a:t>
              </a:r>
            </a:p>
          </p:txBody>
        </p:sp>
        <p:sp>
          <p:nvSpPr>
            <p:cNvPr id="7" name="TextBox 7"/>
            <p:cNvSpPr txBox="1"/>
            <p:nvPr/>
          </p:nvSpPr>
          <p:spPr>
            <a:xfrm>
              <a:off x="455295" y="1945958"/>
              <a:ext cx="5437670" cy="1249680"/>
            </a:xfrm>
            <a:prstGeom prst="rect">
              <a:avLst/>
            </a:prstGeom>
            <a:noFill/>
            <a:ln>
              <a:noFill/>
            </a:ln>
          </p:spPr>
          <p:txBody>
            <a:bodyPr wrap="none" lIns="0" tIns="0" rIns="0" bIns="0" anchor="t" anchorCtr="0">
              <a:spAutoFit/>
            </a:bodyPr>
            <a:lstStyle/>
            <a:p>
              <a:pPr algn="l"/>
              <a:r>
                <a:rPr lang="zh-CN" sz="6150" b="1" dirty="0">
                  <a:solidFill>
                    <a:srgbClr val="F4F8FF"/>
                  </a:solidFill>
                  <a:latin typeface="Arial"/>
                  <a:ea typeface="Microsoft YaHei"/>
                  <a:cs typeface="Arial"/>
                </a:rPr>
                <a:t>Intelligence</a:t>
              </a:r>
            </a:p>
          </p:txBody>
        </p:sp>
        <p:sp>
          <p:nvSpPr>
            <p:cNvPr id="8" name="TextBox 8"/>
            <p:cNvSpPr txBox="1"/>
            <p:nvPr/>
          </p:nvSpPr>
          <p:spPr>
            <a:xfrm>
              <a:off x="543878" y="3292959"/>
              <a:ext cx="9427766" cy="441960"/>
            </a:xfrm>
            <a:prstGeom prst="rect">
              <a:avLst/>
            </a:prstGeom>
            <a:noFill/>
            <a:ln>
              <a:noFill/>
            </a:ln>
          </p:spPr>
          <p:txBody>
            <a:bodyPr wrap="none" lIns="0" tIns="0" rIns="0" bIns="0" anchor="t" anchorCtr="0">
              <a:spAutoFit/>
            </a:bodyPr>
            <a:lstStyle/>
            <a:p>
              <a:pPr algn="l"/>
              <a:r>
                <a:rPr lang="zh-CN" sz="2175" b="1" dirty="0">
                  <a:solidFill>
                    <a:srgbClr val="A8B7C8"/>
                  </a:solidFill>
                  <a:latin typeface="Arial"/>
                  <a:ea typeface="Microsoft YaHei"/>
                  <a:cs typeface="Arial"/>
                </a:rPr>
                <a:t>AI-Powered Insights For Smarter Manufacturing Decisions</a:t>
              </a:r>
            </a:p>
          </p:txBody>
        </p:sp>
        <p:sp>
          <p:nvSpPr>
            <p:cNvPr id="9" name="TextBox 9"/>
            <p:cNvSpPr txBox="1"/>
            <p:nvPr/>
          </p:nvSpPr>
          <p:spPr>
            <a:xfrm>
              <a:off x="547688" y="3820644"/>
              <a:ext cx="5021997" cy="381000"/>
            </a:xfrm>
            <a:prstGeom prst="rect">
              <a:avLst/>
            </a:prstGeom>
            <a:noFill/>
            <a:ln>
              <a:noFill/>
            </a:ln>
          </p:spPr>
          <p:txBody>
            <a:bodyPr wrap="none" lIns="0" tIns="0" rIns="0" bIns="0" anchor="t" anchorCtr="0">
              <a:spAutoFit/>
            </a:bodyPr>
            <a:lstStyle/>
            <a:p>
              <a:pPr algn="l"/>
              <a:r>
                <a:rPr lang="zh-CN" sz="1875" b="1" dirty="0">
                  <a:solidFill>
                    <a:srgbClr val="18E0A8"/>
                  </a:solidFill>
                  <a:latin typeface="Arial"/>
                  <a:ea typeface="Microsoft YaHei"/>
                  <a:cs typeface="Arial"/>
                </a:rPr>
                <a:t>One Platform. Three Perspectives.</a:t>
              </a:r>
            </a:p>
          </p:txBody>
        </p:sp>
      </p:grpSp>
      <p:grpSp>
        <p:nvGrpSpPr>
          <p:cNvPr id="34" name="Group 34"/>
          <p:cNvGrpSpPr/>
          <p:nvPr/>
        </p:nvGrpSpPr>
        <p:grpSpPr>
          <a:xfrm>
            <a:off x="460187" y="4468810"/>
            <a:ext cx="6058186" cy="723900"/>
            <a:chOff x="571500" y="3638550"/>
            <a:chExt cx="6058186" cy="723900"/>
          </a:xfrm>
        </p:grpSpPr>
        <p:sp>
          <p:nvSpPr>
            <p:cNvPr id="11" name="Freeform 11"/>
            <p:cNvSpPr/>
            <p:nvPr/>
          </p:nvSpPr>
          <p:spPr>
            <a:xfrm>
              <a:off x="571500" y="3638550"/>
              <a:ext cx="1809750" cy="723900"/>
            </a:xfrm>
            <a:custGeom>
              <a:avLst/>
              <a:gdLst/>
              <a:ahLst/>
              <a:cxnLst/>
              <a:rect l="l" t="t" r="r" b="b"/>
              <a:pathLst>
                <a:path w="1809750" h="723900">
                  <a:moveTo>
                    <a:pt x="133350" y="0"/>
                  </a:moveTo>
                  <a:lnTo>
                    <a:pt x="1676400" y="0"/>
                  </a:lnTo>
                  <a:cubicBezTo>
                    <a:pt x="1750047" y="0"/>
                    <a:pt x="1809750" y="59703"/>
                    <a:pt x="1809750" y="133350"/>
                  </a:cubicBezTo>
                  <a:lnTo>
                    <a:pt x="1809750" y="590550"/>
                  </a:lnTo>
                  <a:cubicBezTo>
                    <a:pt x="1809750" y="664197"/>
                    <a:pt x="1750047" y="723900"/>
                    <a:pt x="1676400" y="723900"/>
                  </a:cubicBezTo>
                  <a:lnTo>
                    <a:pt x="133350" y="723900"/>
                  </a:lnTo>
                  <a:cubicBezTo>
                    <a:pt x="59703" y="723900"/>
                    <a:pt x="0" y="664197"/>
                    <a:pt x="0" y="590550"/>
                  </a:cubicBezTo>
                  <a:lnTo>
                    <a:pt x="0" y="133350"/>
                  </a:lnTo>
                  <a:cubicBezTo>
                    <a:pt x="0" y="59703"/>
                    <a:pt x="59703" y="0"/>
                    <a:pt x="133350" y="0"/>
                  </a:cubicBezTo>
                  <a:close/>
                </a:path>
              </a:pathLst>
            </a:custGeom>
            <a:solidFill>
              <a:srgbClr val="0E1D2E"/>
            </a:solidFill>
            <a:ln w="9525">
              <a:solidFill>
                <a:srgbClr val="294157"/>
              </a:solidFill>
            </a:ln>
          </p:spPr>
          <p:txBody>
            <a:bodyPr/>
            <a:lstStyle/>
            <a:p>
              <a:endParaRPr lang="en-US"/>
            </a:p>
          </p:txBody>
        </p:sp>
        <p:grpSp>
          <p:nvGrpSpPr>
            <p:cNvPr id="16" name="Group 16"/>
            <p:cNvGrpSpPr/>
            <p:nvPr/>
          </p:nvGrpSpPr>
          <p:grpSpPr>
            <a:xfrm>
              <a:off x="821531" y="3882801"/>
              <a:ext cx="256381" cy="239143"/>
              <a:chOff x="821531" y="3882801"/>
              <a:chExt cx="256381" cy="239143"/>
            </a:xfrm>
          </p:grpSpPr>
          <p:sp>
            <p:nvSpPr>
              <p:cNvPr id="12" name="Freeform 12"/>
              <p:cNvSpPr/>
              <p:nvPr/>
            </p:nvSpPr>
            <p:spPr>
              <a:xfrm>
                <a:off x="835025" y="3950494"/>
                <a:ext cx="134938" cy="161925"/>
              </a:xfrm>
              <a:custGeom>
                <a:avLst/>
                <a:gdLst/>
                <a:ahLst/>
                <a:cxnLst/>
                <a:rect l="l" t="t" r="r" b="b"/>
                <a:pathLst>
                  <a:path w="134938" h="161925">
                    <a:moveTo>
                      <a:pt x="0" y="161925"/>
                    </a:moveTo>
                    <a:cubicBezTo>
                      <a:pt x="15477" y="107680"/>
                      <a:pt x="26758" y="53611"/>
                      <a:pt x="26987" y="0"/>
                    </a:cubicBezTo>
                    <a:lnTo>
                      <a:pt x="107950" y="0"/>
                    </a:lnTo>
                    <a:cubicBezTo>
                      <a:pt x="108179" y="53611"/>
                      <a:pt x="119460" y="107680"/>
                      <a:pt x="134938" y="161925"/>
                    </a:cubicBezTo>
                  </a:path>
                </a:pathLst>
              </a:custGeom>
              <a:noFill/>
              <a:ln w="19050">
                <a:solidFill>
                  <a:srgbClr val="2EA7FF"/>
                </a:solidFill>
              </a:ln>
            </p:spPr>
            <p:txBody>
              <a:bodyPr/>
              <a:lstStyle/>
              <a:p>
                <a:endParaRPr lang="en-US"/>
              </a:p>
            </p:txBody>
          </p:sp>
          <p:sp>
            <p:nvSpPr>
              <p:cNvPr id="13" name="Freeform 13"/>
              <p:cNvSpPr/>
              <p:nvPr/>
            </p:nvSpPr>
            <p:spPr>
              <a:xfrm>
                <a:off x="949722" y="4004469"/>
                <a:ext cx="87709" cy="107950"/>
              </a:xfrm>
              <a:custGeom>
                <a:avLst/>
                <a:gdLst/>
                <a:ahLst/>
                <a:cxnLst/>
                <a:rect l="l" t="t" r="r" b="b"/>
                <a:pathLst>
                  <a:path w="87709" h="107950">
                    <a:moveTo>
                      <a:pt x="0" y="0"/>
                    </a:moveTo>
                    <a:lnTo>
                      <a:pt x="60722" y="0"/>
                    </a:lnTo>
                    <a:cubicBezTo>
                      <a:pt x="61059" y="35246"/>
                      <a:pt x="72785" y="71463"/>
                      <a:pt x="87709" y="107950"/>
                    </a:cubicBezTo>
                  </a:path>
                </a:pathLst>
              </a:custGeom>
              <a:noFill/>
              <a:ln w="19050">
                <a:solidFill>
                  <a:srgbClr val="2EA7FF"/>
                </a:solidFill>
              </a:ln>
            </p:spPr>
            <p:txBody>
              <a:bodyPr/>
              <a:lstStyle/>
              <a:p>
                <a:endParaRPr lang="en-US"/>
              </a:p>
            </p:txBody>
          </p:sp>
          <p:sp>
            <p:nvSpPr>
              <p:cNvPr id="14" name="Freeform 14"/>
              <p:cNvSpPr/>
              <p:nvPr/>
            </p:nvSpPr>
            <p:spPr>
              <a:xfrm>
                <a:off x="902494" y="3882801"/>
                <a:ext cx="161925" cy="27435"/>
              </a:xfrm>
              <a:custGeom>
                <a:avLst/>
                <a:gdLst/>
                <a:ahLst/>
                <a:cxnLst/>
                <a:rect l="l" t="t" r="r" b="b"/>
                <a:pathLst>
                  <a:path w="161925" h="27435">
                    <a:moveTo>
                      <a:pt x="0" y="13717"/>
                    </a:moveTo>
                    <a:cubicBezTo>
                      <a:pt x="6223" y="5047"/>
                      <a:pt x="16318" y="0"/>
                      <a:pt x="26987" y="224"/>
                    </a:cubicBezTo>
                    <a:cubicBezTo>
                      <a:pt x="37657" y="0"/>
                      <a:pt x="47752" y="5047"/>
                      <a:pt x="53975" y="13717"/>
                    </a:cubicBezTo>
                    <a:cubicBezTo>
                      <a:pt x="60198" y="22387"/>
                      <a:pt x="70293" y="27435"/>
                      <a:pt x="80962" y="27211"/>
                    </a:cubicBezTo>
                    <a:cubicBezTo>
                      <a:pt x="91632" y="27435"/>
                      <a:pt x="101727" y="22387"/>
                      <a:pt x="107950" y="13717"/>
                    </a:cubicBezTo>
                    <a:cubicBezTo>
                      <a:pt x="114173" y="5047"/>
                      <a:pt x="124268" y="0"/>
                      <a:pt x="134938" y="224"/>
                    </a:cubicBezTo>
                    <a:cubicBezTo>
                      <a:pt x="145607" y="0"/>
                      <a:pt x="155702" y="5047"/>
                      <a:pt x="161925" y="13717"/>
                    </a:cubicBezTo>
                  </a:path>
                </a:pathLst>
              </a:custGeom>
              <a:noFill/>
              <a:ln w="19050">
                <a:solidFill>
                  <a:srgbClr val="2EA7FF"/>
                </a:solidFill>
              </a:ln>
            </p:spPr>
            <p:txBody>
              <a:bodyPr/>
              <a:lstStyle/>
              <a:p>
                <a:endParaRPr lang="en-US"/>
              </a:p>
            </p:txBody>
          </p:sp>
          <p:sp>
            <p:nvSpPr>
              <p:cNvPr id="15" name="Freeform 15"/>
              <p:cNvSpPr/>
              <p:nvPr/>
            </p:nvSpPr>
            <p:spPr>
              <a:xfrm>
                <a:off x="821531" y="4112419"/>
                <a:ext cx="256381" cy="9525"/>
              </a:xfrm>
              <a:custGeom>
                <a:avLst/>
                <a:gdLst/>
                <a:ahLst/>
                <a:cxnLst/>
                <a:rect l="l" t="t" r="r" b="b"/>
                <a:pathLst>
                  <a:path w="256381" h="9525">
                    <a:moveTo>
                      <a:pt x="0" y="0"/>
                    </a:moveTo>
                    <a:lnTo>
                      <a:pt x="256381" y="0"/>
                    </a:lnTo>
                  </a:path>
                </a:pathLst>
              </a:custGeom>
              <a:noFill/>
              <a:ln w="19050">
                <a:solidFill>
                  <a:srgbClr val="2EA7FF"/>
                </a:solidFill>
              </a:ln>
            </p:spPr>
            <p:txBody>
              <a:bodyPr/>
              <a:lstStyle/>
              <a:p>
                <a:endParaRPr lang="en-US"/>
              </a:p>
            </p:txBody>
          </p:sp>
        </p:grpSp>
        <p:sp>
          <p:nvSpPr>
            <p:cNvPr id="17" name="TextBox 17"/>
            <p:cNvSpPr txBox="1"/>
            <p:nvPr/>
          </p:nvSpPr>
          <p:spPr>
            <a:xfrm>
              <a:off x="1219200" y="3943350"/>
              <a:ext cx="1245751" cy="304800"/>
            </a:xfrm>
            <a:prstGeom prst="rect">
              <a:avLst/>
            </a:prstGeom>
            <a:noFill/>
            <a:ln>
              <a:noFill/>
            </a:ln>
          </p:spPr>
          <p:txBody>
            <a:bodyPr wrap="none" lIns="0" tIns="0" rIns="0" bIns="0" anchor="t" anchorCtr="0">
              <a:spAutoFit/>
            </a:bodyPr>
            <a:lstStyle/>
            <a:p>
              <a:pPr algn="l"/>
              <a:r>
                <a:rPr lang="zh-CN" sz="1500" b="1" dirty="0">
                  <a:solidFill>
                    <a:srgbClr val="F4F8FF"/>
                  </a:solidFill>
                  <a:latin typeface="Arial"/>
                  <a:ea typeface="Microsoft YaHei"/>
                  <a:cs typeface="Arial"/>
                </a:rPr>
                <a:t>Production</a:t>
              </a:r>
            </a:p>
          </p:txBody>
        </p:sp>
        <p:sp>
          <p:nvSpPr>
            <p:cNvPr id="18" name="Freeform 18"/>
            <p:cNvSpPr/>
            <p:nvPr/>
          </p:nvSpPr>
          <p:spPr>
            <a:xfrm>
              <a:off x="2590800" y="3638550"/>
              <a:ext cx="1885950" cy="723900"/>
            </a:xfrm>
            <a:custGeom>
              <a:avLst/>
              <a:gdLst/>
              <a:ahLst/>
              <a:cxnLst/>
              <a:rect l="l" t="t" r="r" b="b"/>
              <a:pathLst>
                <a:path w="1885950" h="723900">
                  <a:moveTo>
                    <a:pt x="133350" y="0"/>
                  </a:moveTo>
                  <a:lnTo>
                    <a:pt x="1752600" y="0"/>
                  </a:lnTo>
                  <a:cubicBezTo>
                    <a:pt x="1826247" y="0"/>
                    <a:pt x="1885950" y="59703"/>
                    <a:pt x="1885950" y="133350"/>
                  </a:cubicBezTo>
                  <a:lnTo>
                    <a:pt x="1885950" y="590550"/>
                  </a:lnTo>
                  <a:cubicBezTo>
                    <a:pt x="1885950" y="664197"/>
                    <a:pt x="1826247" y="723900"/>
                    <a:pt x="1752600" y="723900"/>
                  </a:cubicBezTo>
                  <a:lnTo>
                    <a:pt x="133350" y="723900"/>
                  </a:lnTo>
                  <a:cubicBezTo>
                    <a:pt x="59703" y="723900"/>
                    <a:pt x="0" y="664197"/>
                    <a:pt x="0" y="590550"/>
                  </a:cubicBezTo>
                  <a:lnTo>
                    <a:pt x="0" y="133350"/>
                  </a:lnTo>
                  <a:cubicBezTo>
                    <a:pt x="0" y="59703"/>
                    <a:pt x="59703" y="0"/>
                    <a:pt x="133350" y="0"/>
                  </a:cubicBezTo>
                  <a:close/>
                </a:path>
              </a:pathLst>
            </a:custGeom>
            <a:solidFill>
              <a:srgbClr val="0E1D2E"/>
            </a:solidFill>
            <a:ln w="9525">
              <a:solidFill>
                <a:srgbClr val="294157"/>
              </a:solidFill>
            </a:ln>
          </p:spPr>
          <p:txBody>
            <a:bodyPr/>
            <a:lstStyle/>
            <a:p>
              <a:endParaRPr lang="en-US"/>
            </a:p>
          </p:txBody>
        </p:sp>
        <p:grpSp>
          <p:nvGrpSpPr>
            <p:cNvPr id="25" name="Group 25"/>
            <p:cNvGrpSpPr/>
            <p:nvPr/>
          </p:nvGrpSpPr>
          <p:grpSpPr>
            <a:xfrm>
              <a:off x="2840831" y="3868120"/>
              <a:ext cx="244299" cy="244299"/>
              <a:chOff x="2840831" y="3868120"/>
              <a:chExt cx="244299" cy="244299"/>
            </a:xfrm>
          </p:grpSpPr>
          <p:sp>
            <p:nvSpPr>
              <p:cNvPr id="19" name="Freeform 19"/>
              <p:cNvSpPr/>
              <p:nvPr/>
            </p:nvSpPr>
            <p:spPr>
              <a:xfrm>
                <a:off x="2840831" y="3868120"/>
                <a:ext cx="244299" cy="244299"/>
              </a:xfrm>
              <a:custGeom>
                <a:avLst/>
                <a:gdLst/>
                <a:ahLst/>
                <a:cxnLst/>
                <a:rect l="l" t="t" r="r" b="b"/>
                <a:pathLst>
                  <a:path w="244299" h="244299">
                    <a:moveTo>
                      <a:pt x="0" y="244299"/>
                    </a:moveTo>
                    <a:lnTo>
                      <a:pt x="53975" y="244299"/>
                    </a:lnTo>
                    <a:lnTo>
                      <a:pt x="229394" y="68880"/>
                    </a:lnTo>
                    <a:cubicBezTo>
                      <a:pt x="244299" y="53975"/>
                      <a:pt x="244299" y="29810"/>
                      <a:pt x="229394" y="14905"/>
                    </a:cubicBezTo>
                    <a:cubicBezTo>
                      <a:pt x="214489" y="0"/>
                      <a:pt x="190324" y="0"/>
                      <a:pt x="175419" y="14905"/>
                    </a:cubicBezTo>
                    <a:lnTo>
                      <a:pt x="0" y="190324"/>
                    </a:lnTo>
                    <a:lnTo>
                      <a:pt x="0" y="244299"/>
                    </a:lnTo>
                  </a:path>
                </a:pathLst>
              </a:custGeom>
              <a:noFill/>
              <a:ln w="19050">
                <a:solidFill>
                  <a:srgbClr val="2EA7FF"/>
                </a:solidFill>
              </a:ln>
            </p:spPr>
            <p:txBody>
              <a:bodyPr/>
              <a:lstStyle/>
              <a:p>
                <a:endParaRPr lang="en-US"/>
              </a:p>
            </p:txBody>
          </p:sp>
          <p:sp>
            <p:nvSpPr>
              <p:cNvPr id="20" name="Freeform 20"/>
              <p:cNvSpPr/>
              <p:nvPr/>
            </p:nvSpPr>
            <p:spPr>
              <a:xfrm>
                <a:off x="2996009" y="3903266"/>
                <a:ext cx="53975" cy="53975"/>
              </a:xfrm>
              <a:custGeom>
                <a:avLst/>
                <a:gdLst/>
                <a:ahLst/>
                <a:cxnLst/>
                <a:rect l="l" t="t" r="r" b="b"/>
                <a:pathLst>
                  <a:path w="53975" h="53975">
                    <a:moveTo>
                      <a:pt x="0" y="0"/>
                    </a:moveTo>
                    <a:lnTo>
                      <a:pt x="53975" y="53975"/>
                    </a:lnTo>
                  </a:path>
                </a:pathLst>
              </a:custGeom>
              <a:noFill/>
              <a:ln w="19050">
                <a:solidFill>
                  <a:srgbClr val="2EA7FF"/>
                </a:solidFill>
              </a:ln>
            </p:spPr>
            <p:txBody>
              <a:bodyPr/>
              <a:lstStyle/>
              <a:p>
                <a:endParaRPr lang="en-US"/>
              </a:p>
            </p:txBody>
          </p:sp>
          <p:sp>
            <p:nvSpPr>
              <p:cNvPr id="21" name="Freeform 21"/>
              <p:cNvSpPr/>
              <p:nvPr/>
            </p:nvSpPr>
            <p:spPr>
              <a:xfrm>
                <a:off x="2840831" y="3869531"/>
                <a:ext cx="121444" cy="121444"/>
              </a:xfrm>
              <a:custGeom>
                <a:avLst/>
                <a:gdLst/>
                <a:ahLst/>
                <a:cxnLst/>
                <a:rect l="l" t="t" r="r" b="b"/>
                <a:pathLst>
                  <a:path w="121444" h="121444">
                    <a:moveTo>
                      <a:pt x="121444" y="67469"/>
                    </a:moveTo>
                    <a:lnTo>
                      <a:pt x="53975" y="0"/>
                    </a:lnTo>
                    <a:lnTo>
                      <a:pt x="0" y="53975"/>
                    </a:lnTo>
                    <a:lnTo>
                      <a:pt x="67469" y="121444"/>
                    </a:lnTo>
                  </a:path>
                </a:pathLst>
              </a:custGeom>
              <a:noFill/>
              <a:ln w="19050">
                <a:solidFill>
                  <a:srgbClr val="2EA7FF"/>
                </a:solidFill>
              </a:ln>
            </p:spPr>
            <p:txBody>
              <a:bodyPr/>
              <a:lstStyle/>
              <a:p>
                <a:endParaRPr lang="en-US"/>
              </a:p>
            </p:txBody>
          </p:sp>
          <p:sp>
            <p:nvSpPr>
              <p:cNvPr id="22" name="Freeform 22"/>
              <p:cNvSpPr/>
              <p:nvPr/>
            </p:nvSpPr>
            <p:spPr>
              <a:xfrm>
                <a:off x="2874566" y="3937000"/>
                <a:ext cx="20241" cy="20241"/>
              </a:xfrm>
              <a:custGeom>
                <a:avLst/>
                <a:gdLst/>
                <a:ahLst/>
                <a:cxnLst/>
                <a:rect l="l" t="t" r="r" b="b"/>
                <a:pathLst>
                  <a:path w="20241" h="20241">
                    <a:moveTo>
                      <a:pt x="20241" y="0"/>
                    </a:moveTo>
                    <a:lnTo>
                      <a:pt x="0" y="20241"/>
                    </a:lnTo>
                  </a:path>
                </a:pathLst>
              </a:custGeom>
              <a:noFill/>
              <a:ln w="19050">
                <a:solidFill>
                  <a:srgbClr val="2EA7FF"/>
                </a:solidFill>
              </a:ln>
            </p:spPr>
            <p:txBody>
              <a:bodyPr/>
              <a:lstStyle/>
              <a:p>
                <a:endParaRPr lang="en-US"/>
              </a:p>
            </p:txBody>
          </p:sp>
          <p:sp>
            <p:nvSpPr>
              <p:cNvPr id="23" name="Freeform 23"/>
              <p:cNvSpPr/>
              <p:nvPr/>
            </p:nvSpPr>
            <p:spPr>
              <a:xfrm>
                <a:off x="2962275" y="3990975"/>
                <a:ext cx="121444" cy="121444"/>
              </a:xfrm>
              <a:custGeom>
                <a:avLst/>
                <a:gdLst/>
                <a:ahLst/>
                <a:cxnLst/>
                <a:rect l="l" t="t" r="r" b="b"/>
                <a:pathLst>
                  <a:path w="121444" h="121444">
                    <a:moveTo>
                      <a:pt x="53975" y="0"/>
                    </a:moveTo>
                    <a:lnTo>
                      <a:pt x="121444" y="67469"/>
                    </a:lnTo>
                    <a:lnTo>
                      <a:pt x="67469" y="121444"/>
                    </a:lnTo>
                    <a:lnTo>
                      <a:pt x="0" y="53975"/>
                    </a:lnTo>
                  </a:path>
                </a:pathLst>
              </a:custGeom>
              <a:noFill/>
              <a:ln w="19050">
                <a:solidFill>
                  <a:srgbClr val="2EA7FF"/>
                </a:solidFill>
              </a:ln>
            </p:spPr>
            <p:txBody>
              <a:bodyPr/>
              <a:lstStyle/>
              <a:p>
                <a:endParaRPr lang="en-US"/>
              </a:p>
            </p:txBody>
          </p:sp>
          <p:sp>
            <p:nvSpPr>
              <p:cNvPr id="24" name="Freeform 24"/>
              <p:cNvSpPr/>
              <p:nvPr/>
            </p:nvSpPr>
            <p:spPr>
              <a:xfrm>
                <a:off x="2996009" y="4058444"/>
                <a:ext cx="20241" cy="20241"/>
              </a:xfrm>
              <a:custGeom>
                <a:avLst/>
                <a:gdLst/>
                <a:ahLst/>
                <a:cxnLst/>
                <a:rect l="l" t="t" r="r" b="b"/>
                <a:pathLst>
                  <a:path w="20241" h="20241">
                    <a:moveTo>
                      <a:pt x="20241" y="0"/>
                    </a:moveTo>
                    <a:lnTo>
                      <a:pt x="0" y="20241"/>
                    </a:lnTo>
                  </a:path>
                </a:pathLst>
              </a:custGeom>
              <a:noFill/>
              <a:ln w="19050">
                <a:solidFill>
                  <a:srgbClr val="2EA7FF"/>
                </a:solidFill>
              </a:ln>
            </p:spPr>
            <p:txBody>
              <a:bodyPr/>
              <a:lstStyle/>
              <a:p>
                <a:endParaRPr lang="en-US"/>
              </a:p>
            </p:txBody>
          </p:sp>
        </p:grpSp>
        <p:sp>
          <p:nvSpPr>
            <p:cNvPr id="26" name="TextBox 26"/>
            <p:cNvSpPr txBox="1"/>
            <p:nvPr/>
          </p:nvSpPr>
          <p:spPr>
            <a:xfrm>
              <a:off x="3238500" y="3943350"/>
              <a:ext cx="1418272" cy="304800"/>
            </a:xfrm>
            <a:prstGeom prst="rect">
              <a:avLst/>
            </a:prstGeom>
            <a:noFill/>
            <a:ln>
              <a:noFill/>
            </a:ln>
          </p:spPr>
          <p:txBody>
            <a:bodyPr wrap="none" lIns="0" tIns="0" rIns="0" bIns="0" anchor="t" anchorCtr="0">
              <a:spAutoFit/>
            </a:bodyPr>
            <a:lstStyle/>
            <a:p>
              <a:pPr algn="l"/>
              <a:r>
                <a:rPr lang="zh-CN" sz="1500" b="1" dirty="0">
                  <a:solidFill>
                    <a:srgbClr val="F4F8FF"/>
                  </a:solidFill>
                  <a:latin typeface="Arial"/>
                  <a:ea typeface="Microsoft YaHei"/>
                  <a:cs typeface="Arial"/>
                </a:rPr>
                <a:t>Maintenance</a:t>
              </a:r>
            </a:p>
          </p:txBody>
        </p:sp>
        <p:sp>
          <p:nvSpPr>
            <p:cNvPr id="27" name="Freeform 27"/>
            <p:cNvSpPr/>
            <p:nvPr/>
          </p:nvSpPr>
          <p:spPr>
            <a:xfrm>
              <a:off x="4686300" y="3638550"/>
              <a:ext cx="1809750" cy="723900"/>
            </a:xfrm>
            <a:custGeom>
              <a:avLst/>
              <a:gdLst/>
              <a:ahLst/>
              <a:cxnLst/>
              <a:rect l="l" t="t" r="r" b="b"/>
              <a:pathLst>
                <a:path w="1809750" h="723900">
                  <a:moveTo>
                    <a:pt x="133350" y="0"/>
                  </a:moveTo>
                  <a:lnTo>
                    <a:pt x="1676400" y="0"/>
                  </a:lnTo>
                  <a:cubicBezTo>
                    <a:pt x="1750047" y="0"/>
                    <a:pt x="1809750" y="59703"/>
                    <a:pt x="1809750" y="133350"/>
                  </a:cubicBezTo>
                  <a:lnTo>
                    <a:pt x="1809750" y="590550"/>
                  </a:lnTo>
                  <a:cubicBezTo>
                    <a:pt x="1809750" y="664197"/>
                    <a:pt x="1750047" y="723900"/>
                    <a:pt x="1676400" y="723900"/>
                  </a:cubicBezTo>
                  <a:lnTo>
                    <a:pt x="133350" y="723900"/>
                  </a:lnTo>
                  <a:cubicBezTo>
                    <a:pt x="59703" y="723900"/>
                    <a:pt x="0" y="664197"/>
                    <a:pt x="0" y="590550"/>
                  </a:cubicBezTo>
                  <a:lnTo>
                    <a:pt x="0" y="133350"/>
                  </a:lnTo>
                  <a:cubicBezTo>
                    <a:pt x="0" y="59703"/>
                    <a:pt x="59703" y="0"/>
                    <a:pt x="133350" y="0"/>
                  </a:cubicBezTo>
                  <a:close/>
                </a:path>
              </a:pathLst>
            </a:custGeom>
            <a:solidFill>
              <a:srgbClr val="0E1D2E"/>
            </a:solidFill>
            <a:ln w="9525">
              <a:solidFill>
                <a:srgbClr val="294157"/>
              </a:solidFill>
            </a:ln>
          </p:spPr>
          <p:txBody>
            <a:bodyPr/>
            <a:lstStyle/>
            <a:p>
              <a:endParaRPr lang="en-US"/>
            </a:p>
          </p:txBody>
        </p:sp>
        <p:grpSp>
          <p:nvGrpSpPr>
            <p:cNvPr id="32" name="Group 32"/>
            <p:cNvGrpSpPr/>
            <p:nvPr/>
          </p:nvGrpSpPr>
          <p:grpSpPr>
            <a:xfrm>
              <a:off x="4936331" y="3869531"/>
              <a:ext cx="242888" cy="242887"/>
              <a:chOff x="4936331" y="3869531"/>
              <a:chExt cx="242888" cy="242887"/>
            </a:xfrm>
          </p:grpSpPr>
          <p:sp>
            <p:nvSpPr>
              <p:cNvPr id="28" name="Freeform 28"/>
              <p:cNvSpPr/>
              <p:nvPr/>
            </p:nvSpPr>
            <p:spPr>
              <a:xfrm>
                <a:off x="4963319" y="3869531"/>
                <a:ext cx="107950" cy="107950"/>
              </a:xfrm>
              <a:custGeom>
                <a:avLst/>
                <a:gdLst/>
                <a:ahLst/>
                <a:cxnLst/>
                <a:rect l="l" t="t" r="r" b="b"/>
                <a:pathLst>
                  <a:path w="107950" h="107950">
                    <a:moveTo>
                      <a:pt x="0" y="53975"/>
                    </a:moveTo>
                    <a:cubicBezTo>
                      <a:pt x="0" y="83785"/>
                      <a:pt x="24165" y="107950"/>
                      <a:pt x="53975" y="107950"/>
                    </a:cubicBezTo>
                    <a:cubicBezTo>
                      <a:pt x="83785" y="107950"/>
                      <a:pt x="107950" y="83785"/>
                      <a:pt x="107950" y="53975"/>
                    </a:cubicBezTo>
                    <a:cubicBezTo>
                      <a:pt x="107950" y="24165"/>
                      <a:pt x="83785" y="0"/>
                      <a:pt x="53975" y="0"/>
                    </a:cubicBezTo>
                    <a:cubicBezTo>
                      <a:pt x="24165" y="0"/>
                      <a:pt x="0" y="24165"/>
                      <a:pt x="0" y="53975"/>
                    </a:cubicBezTo>
                  </a:path>
                </a:pathLst>
              </a:custGeom>
              <a:noFill/>
              <a:ln w="19050">
                <a:solidFill>
                  <a:srgbClr val="2EA7FF"/>
                </a:solidFill>
              </a:ln>
            </p:spPr>
            <p:txBody>
              <a:bodyPr/>
              <a:lstStyle/>
              <a:p>
                <a:endParaRPr lang="en-US"/>
              </a:p>
            </p:txBody>
          </p:sp>
          <p:sp>
            <p:nvSpPr>
              <p:cNvPr id="29" name="Freeform 29"/>
              <p:cNvSpPr/>
              <p:nvPr/>
            </p:nvSpPr>
            <p:spPr>
              <a:xfrm>
                <a:off x="4936331" y="4031456"/>
                <a:ext cx="161925" cy="80962"/>
              </a:xfrm>
              <a:custGeom>
                <a:avLst/>
                <a:gdLst/>
                <a:ahLst/>
                <a:cxnLst/>
                <a:rect l="l" t="t" r="r" b="b"/>
                <a:pathLst>
                  <a:path w="161925" h="80962">
                    <a:moveTo>
                      <a:pt x="0" y="80962"/>
                    </a:moveTo>
                    <a:lnTo>
                      <a:pt x="0" y="53975"/>
                    </a:lnTo>
                    <a:cubicBezTo>
                      <a:pt x="0" y="24165"/>
                      <a:pt x="24165" y="0"/>
                      <a:pt x="53975" y="0"/>
                    </a:cubicBezTo>
                    <a:lnTo>
                      <a:pt x="107950" y="0"/>
                    </a:lnTo>
                    <a:cubicBezTo>
                      <a:pt x="137760" y="0"/>
                      <a:pt x="161925" y="24165"/>
                      <a:pt x="161925" y="53975"/>
                    </a:cubicBezTo>
                    <a:lnTo>
                      <a:pt x="161925" y="80962"/>
                    </a:lnTo>
                  </a:path>
                </a:pathLst>
              </a:custGeom>
              <a:noFill/>
              <a:ln w="19050">
                <a:solidFill>
                  <a:srgbClr val="2EA7FF"/>
                </a:solidFill>
              </a:ln>
            </p:spPr>
            <p:txBody>
              <a:bodyPr/>
              <a:lstStyle/>
              <a:p>
                <a:endParaRPr lang="en-US"/>
              </a:p>
            </p:txBody>
          </p:sp>
          <p:sp>
            <p:nvSpPr>
              <p:cNvPr id="30" name="Freeform 30"/>
              <p:cNvSpPr/>
              <p:nvPr/>
            </p:nvSpPr>
            <p:spPr>
              <a:xfrm>
                <a:off x="5111750" y="3871285"/>
                <a:ext cx="40587" cy="104577"/>
              </a:xfrm>
              <a:custGeom>
                <a:avLst/>
                <a:gdLst/>
                <a:ahLst/>
                <a:cxnLst/>
                <a:rect l="l" t="t" r="r" b="b"/>
                <a:pathLst>
                  <a:path w="40587" h="104577">
                    <a:moveTo>
                      <a:pt x="0" y="0"/>
                    </a:moveTo>
                    <a:cubicBezTo>
                      <a:pt x="23883" y="6115"/>
                      <a:pt x="40587" y="27635"/>
                      <a:pt x="40587" y="52288"/>
                    </a:cubicBezTo>
                    <a:cubicBezTo>
                      <a:pt x="40587" y="76941"/>
                      <a:pt x="23883" y="98462"/>
                      <a:pt x="0" y="104577"/>
                    </a:cubicBezTo>
                  </a:path>
                </a:pathLst>
              </a:custGeom>
              <a:noFill/>
              <a:ln w="19050">
                <a:solidFill>
                  <a:srgbClr val="2EA7FF"/>
                </a:solidFill>
              </a:ln>
            </p:spPr>
            <p:txBody>
              <a:bodyPr/>
              <a:lstStyle/>
              <a:p>
                <a:endParaRPr lang="en-US"/>
              </a:p>
            </p:txBody>
          </p:sp>
          <p:sp>
            <p:nvSpPr>
              <p:cNvPr id="31" name="Freeform 31"/>
              <p:cNvSpPr/>
              <p:nvPr/>
            </p:nvSpPr>
            <p:spPr>
              <a:xfrm>
                <a:off x="5138738" y="4033480"/>
                <a:ext cx="40481" cy="78938"/>
              </a:xfrm>
              <a:custGeom>
                <a:avLst/>
                <a:gdLst/>
                <a:ahLst/>
                <a:cxnLst/>
                <a:rect l="l" t="t" r="r" b="b"/>
                <a:pathLst>
                  <a:path w="40481" h="78938">
                    <a:moveTo>
                      <a:pt x="40481" y="78938"/>
                    </a:moveTo>
                    <a:lnTo>
                      <a:pt x="40481" y="51951"/>
                    </a:lnTo>
                    <a:cubicBezTo>
                      <a:pt x="40340" y="27454"/>
                      <a:pt x="23720" y="6124"/>
                      <a:pt x="0" y="0"/>
                    </a:cubicBezTo>
                  </a:path>
                </a:pathLst>
              </a:custGeom>
              <a:noFill/>
              <a:ln w="19050">
                <a:solidFill>
                  <a:srgbClr val="2EA7FF"/>
                </a:solidFill>
              </a:ln>
            </p:spPr>
            <p:txBody>
              <a:bodyPr/>
              <a:lstStyle/>
              <a:p>
                <a:endParaRPr lang="en-US"/>
              </a:p>
            </p:txBody>
          </p:sp>
        </p:grpSp>
        <p:sp>
          <p:nvSpPr>
            <p:cNvPr id="33" name="TextBox 33"/>
            <p:cNvSpPr txBox="1"/>
            <p:nvPr/>
          </p:nvSpPr>
          <p:spPr>
            <a:xfrm>
              <a:off x="5234416" y="3943350"/>
              <a:ext cx="1395270" cy="304800"/>
            </a:xfrm>
            <a:prstGeom prst="rect">
              <a:avLst/>
            </a:prstGeom>
            <a:noFill/>
            <a:ln>
              <a:noFill/>
            </a:ln>
          </p:spPr>
          <p:txBody>
            <a:bodyPr wrap="none" lIns="0" tIns="0" rIns="0" bIns="0" anchor="t" anchorCtr="0">
              <a:spAutoFit/>
            </a:bodyPr>
            <a:lstStyle/>
            <a:p>
              <a:pPr algn="l"/>
              <a:r>
                <a:rPr lang="zh-CN" sz="1500" b="1" dirty="0">
                  <a:solidFill>
                    <a:srgbClr val="F4F8FF"/>
                  </a:solidFill>
                  <a:latin typeface="Arial"/>
                  <a:ea typeface="Microsoft YaHei"/>
                  <a:cs typeface="Arial"/>
                </a:rPr>
                <a:t>Management</a:t>
              </a:r>
            </a:p>
          </p:txBody>
        </p:sp>
      </p:grpSp>
      <p:grpSp>
        <p:nvGrpSpPr>
          <p:cNvPr id="40" name="Group 40"/>
          <p:cNvGrpSpPr/>
          <p:nvPr/>
        </p:nvGrpSpPr>
        <p:grpSpPr>
          <a:xfrm>
            <a:off x="6705600" y="876300"/>
            <a:ext cx="4876800" cy="5121806"/>
            <a:chOff x="6705600" y="876300"/>
            <a:chExt cx="4876800" cy="5121806"/>
          </a:xfrm>
        </p:grpSpPr>
        <p:sp>
          <p:nvSpPr>
            <p:cNvPr id="35" name="Freeform 35"/>
            <p:cNvSpPr/>
            <p:nvPr/>
          </p:nvSpPr>
          <p:spPr>
            <a:xfrm>
              <a:off x="6905625" y="876300"/>
              <a:ext cx="4476750" cy="4229100"/>
            </a:xfrm>
            <a:custGeom>
              <a:avLst/>
              <a:gdLst/>
              <a:ahLst/>
              <a:cxnLst/>
              <a:rect l="l" t="t" r="r" b="b"/>
              <a:pathLst>
                <a:path w="4476750" h="4229100">
                  <a:moveTo>
                    <a:pt x="152400" y="0"/>
                  </a:moveTo>
                  <a:lnTo>
                    <a:pt x="4324350" y="0"/>
                  </a:lnTo>
                  <a:cubicBezTo>
                    <a:pt x="4408518" y="0"/>
                    <a:pt x="4476750" y="68232"/>
                    <a:pt x="4476750" y="152400"/>
                  </a:cubicBezTo>
                  <a:lnTo>
                    <a:pt x="4476750" y="4076700"/>
                  </a:lnTo>
                  <a:cubicBezTo>
                    <a:pt x="4476750" y="4160868"/>
                    <a:pt x="4408518" y="4229100"/>
                    <a:pt x="4324350" y="4229100"/>
                  </a:cubicBezTo>
                  <a:lnTo>
                    <a:pt x="152400" y="4229100"/>
                  </a:lnTo>
                  <a:cubicBezTo>
                    <a:pt x="68232" y="4229100"/>
                    <a:pt x="0" y="4160868"/>
                    <a:pt x="0" y="4076700"/>
                  </a:cubicBezTo>
                  <a:lnTo>
                    <a:pt x="0" y="152400"/>
                  </a:lnTo>
                  <a:cubicBezTo>
                    <a:pt x="0" y="68232"/>
                    <a:pt x="68232" y="0"/>
                    <a:pt x="152400" y="0"/>
                  </a:cubicBezTo>
                  <a:close/>
                </a:path>
              </a:pathLst>
            </a:custGeom>
            <a:solidFill>
              <a:srgbClr val="0E1D2E"/>
            </a:solidFill>
            <a:ln w="9525">
              <a:solidFill>
                <a:srgbClr val="294157"/>
              </a:solidFill>
            </a:ln>
          </p:spPr>
          <p:txBody>
            <a:bodyPr/>
            <a:lstStyle/>
            <a:p>
              <a:endParaRPr lang="en-US"/>
            </a:p>
          </p:txBody>
        </p:sp>
        <p:pic>
          <p:nvPicPr>
            <p:cNvPr id="36" name="Image 36"/>
            <p:cNvPicPr>
              <a:picLocks noChangeAspect="1"/>
            </p:cNvPicPr>
            <p:nvPr/>
          </p:nvPicPr>
          <p:blipFill>
            <a:blip r:embed="rId3"/>
            <a:srcRect l="15737"/>
            <a:stretch>
              <a:fillRect/>
            </a:stretch>
          </p:blipFill>
          <p:spPr>
            <a:xfrm>
              <a:off x="7287556" y="1012185"/>
              <a:ext cx="3700390" cy="2103906"/>
            </a:xfrm>
            <a:prstGeom prst="rect">
              <a:avLst/>
            </a:prstGeom>
          </p:spPr>
        </p:pic>
        <p:pic>
          <p:nvPicPr>
            <p:cNvPr id="37" name="Image 37"/>
            <p:cNvPicPr>
              <a:picLocks noChangeAspect="1"/>
            </p:cNvPicPr>
            <p:nvPr/>
          </p:nvPicPr>
          <p:blipFill>
            <a:blip r:embed="rId4"/>
            <a:stretch>
              <a:fillRect/>
            </a:stretch>
          </p:blipFill>
          <p:spPr>
            <a:xfrm>
              <a:off x="7300055" y="3215674"/>
              <a:ext cx="3687890" cy="1771650"/>
            </a:xfrm>
            <a:prstGeom prst="rect">
              <a:avLst/>
            </a:prstGeom>
          </p:spPr>
        </p:pic>
        <p:sp>
          <p:nvSpPr>
            <p:cNvPr id="38" name="Freeform 38"/>
            <p:cNvSpPr/>
            <p:nvPr/>
          </p:nvSpPr>
          <p:spPr>
            <a:xfrm>
              <a:off x="6705600" y="5274206"/>
              <a:ext cx="4876800" cy="723900"/>
            </a:xfrm>
            <a:custGeom>
              <a:avLst/>
              <a:gdLst/>
              <a:ahLst/>
              <a:cxnLst/>
              <a:rect l="l" t="t" r="r" b="b"/>
              <a:pathLst>
                <a:path w="4876800" h="723900">
                  <a:moveTo>
                    <a:pt x="133350" y="0"/>
                  </a:moveTo>
                  <a:lnTo>
                    <a:pt x="4743450" y="0"/>
                  </a:lnTo>
                  <a:cubicBezTo>
                    <a:pt x="4817097" y="0"/>
                    <a:pt x="4876800" y="59703"/>
                    <a:pt x="4876800" y="133350"/>
                  </a:cubicBezTo>
                  <a:lnTo>
                    <a:pt x="4876800" y="590550"/>
                  </a:lnTo>
                  <a:cubicBezTo>
                    <a:pt x="4876800" y="664197"/>
                    <a:pt x="4817097" y="723900"/>
                    <a:pt x="4743450" y="723900"/>
                  </a:cubicBezTo>
                  <a:lnTo>
                    <a:pt x="133350" y="723900"/>
                  </a:lnTo>
                  <a:cubicBezTo>
                    <a:pt x="59703" y="723900"/>
                    <a:pt x="0" y="664197"/>
                    <a:pt x="0" y="590550"/>
                  </a:cubicBezTo>
                  <a:lnTo>
                    <a:pt x="0" y="133350"/>
                  </a:lnTo>
                  <a:cubicBezTo>
                    <a:pt x="0" y="59703"/>
                    <a:pt x="59703" y="0"/>
                    <a:pt x="133350" y="0"/>
                  </a:cubicBezTo>
                  <a:close/>
                </a:path>
              </a:pathLst>
            </a:custGeom>
            <a:solidFill>
              <a:srgbClr val="12263A"/>
            </a:solidFill>
            <a:ln w="9525">
              <a:solidFill>
                <a:srgbClr val="2EA7FF"/>
              </a:solidFill>
            </a:ln>
          </p:spPr>
          <p:txBody>
            <a:bodyPr/>
            <a:lstStyle/>
            <a:p>
              <a:endParaRPr lang="en-US"/>
            </a:p>
          </p:txBody>
        </p:sp>
        <p:sp>
          <p:nvSpPr>
            <p:cNvPr id="39" name="TextBox 39"/>
            <p:cNvSpPr txBox="1"/>
            <p:nvPr/>
          </p:nvSpPr>
          <p:spPr>
            <a:xfrm>
              <a:off x="6974136" y="5394525"/>
              <a:ext cx="4434676" cy="492443"/>
            </a:xfrm>
            <a:prstGeom prst="rect">
              <a:avLst/>
            </a:prstGeom>
            <a:noFill/>
            <a:ln>
              <a:noFill/>
            </a:ln>
          </p:spPr>
          <p:txBody>
            <a:bodyPr wrap="none" lIns="0" tIns="0" rIns="0" bIns="0" anchor="t" anchorCtr="0">
              <a:spAutoFit/>
            </a:bodyPr>
            <a:lstStyle/>
            <a:p>
              <a:pPr algn="l"/>
              <a:r>
                <a:rPr lang="zh-CN" sz="1600" b="1" dirty="0">
                  <a:solidFill>
                    <a:srgbClr val="F4F8FF"/>
                  </a:solidFill>
                  <a:latin typeface="Arial"/>
                  <a:ea typeface="Microsoft YaHei"/>
                  <a:cs typeface="Arial"/>
                </a:rPr>
                <a:t>Turn operational data into </a:t>
              </a:r>
              <a:r>
                <a:rPr lang="zh-CN" sz="1600" b="1" dirty="0">
                  <a:solidFill>
                    <a:srgbClr val="00D1FF"/>
                  </a:solidFill>
                  <a:latin typeface="Arial"/>
                  <a:ea typeface="Microsoft YaHei"/>
                  <a:cs typeface="Arial"/>
                </a:rPr>
                <a:t>actionable insights</a:t>
              </a:r>
              <a:endParaRPr lang="en-US" altLang="zh-CN" sz="1600" b="1" dirty="0">
                <a:solidFill>
                  <a:srgbClr val="00D1FF"/>
                </a:solidFill>
                <a:latin typeface="Arial"/>
                <a:ea typeface="Microsoft YaHei"/>
                <a:cs typeface="Arial"/>
              </a:endParaRPr>
            </a:p>
            <a:p>
              <a:pPr algn="ctr"/>
              <a:r>
                <a:rPr lang="zh-CN" sz="1600" b="1" dirty="0">
                  <a:solidFill>
                    <a:srgbClr val="F4F8FF"/>
                  </a:solidFill>
                  <a:latin typeface="Arial"/>
                  <a:ea typeface="Microsoft YaHei"/>
                  <a:cs typeface="Arial"/>
                </a:rPr>
                <a:t>and </a:t>
              </a:r>
              <a:r>
                <a:rPr lang="zh-CN" sz="1600" b="1" dirty="0">
                  <a:solidFill>
                    <a:srgbClr val="00D1FF"/>
                  </a:solidFill>
                  <a:latin typeface="Arial"/>
                  <a:ea typeface="Microsoft YaHei"/>
                  <a:cs typeface="Arial"/>
                </a:rPr>
                <a:t>automated reports</a:t>
              </a:r>
              <a:r>
                <a:rPr lang="zh-CN" sz="1600" b="1" dirty="0">
                  <a:solidFill>
                    <a:srgbClr val="F4F8FF"/>
                  </a:solidFill>
                  <a:latin typeface="Arial"/>
                  <a:ea typeface="Microsoft YaHei"/>
                  <a:cs typeface="Arial"/>
                </a:rPr>
                <a:t>.</a:t>
              </a:r>
            </a:p>
          </p:txBody>
        </p:sp>
      </p:grpSp>
      <p:grpSp>
        <p:nvGrpSpPr>
          <p:cNvPr id="44" name="Group 44"/>
          <p:cNvGrpSpPr/>
          <p:nvPr/>
        </p:nvGrpSpPr>
        <p:grpSpPr>
          <a:xfrm>
            <a:off x="520065" y="6419850"/>
            <a:ext cx="11151870" cy="347662"/>
            <a:chOff x="520065" y="6419850"/>
            <a:chExt cx="11151870" cy="347662"/>
          </a:xfrm>
        </p:grpSpPr>
        <p:sp>
          <p:nvSpPr>
            <p:cNvPr id="41" name="Line 41"/>
            <p:cNvSpPr/>
            <p:nvPr/>
          </p:nvSpPr>
          <p:spPr>
            <a:xfrm>
              <a:off x="533400" y="6419850"/>
              <a:ext cx="11125200" cy="9525"/>
            </a:xfrm>
            <a:custGeom>
              <a:avLst/>
              <a:gdLst/>
              <a:ahLst/>
              <a:cxnLst/>
              <a:rect l="l" t="t" r="r" b="b"/>
              <a:pathLst>
                <a:path w="11125200" h="9525">
                  <a:moveTo>
                    <a:pt x="0" y="0"/>
                  </a:moveTo>
                  <a:lnTo>
                    <a:pt x="11125200" y="0"/>
                  </a:lnTo>
                </a:path>
              </a:pathLst>
            </a:custGeom>
            <a:noFill/>
            <a:ln w="9525">
              <a:solidFill>
                <a:srgbClr val="294157">
                  <a:alpha val="75000"/>
                </a:srgbClr>
              </a:solidFill>
            </a:ln>
          </p:spPr>
          <p:txBody>
            <a:bodyPr/>
            <a:lstStyle/>
            <a:p>
              <a:endParaRPr lang="en-US"/>
            </a:p>
          </p:txBody>
        </p:sp>
        <p:sp>
          <p:nvSpPr>
            <p:cNvPr id="42" name="TextBox 42"/>
            <p:cNvSpPr txBox="1"/>
            <p:nvPr/>
          </p:nvSpPr>
          <p:spPr>
            <a:xfrm>
              <a:off x="520065" y="6554152"/>
              <a:ext cx="3576780" cy="213360"/>
            </a:xfrm>
            <a:prstGeom prst="rect">
              <a:avLst/>
            </a:prstGeom>
            <a:noFill/>
            <a:ln>
              <a:noFill/>
            </a:ln>
          </p:spPr>
          <p:txBody>
            <a:bodyPr wrap="none" lIns="0" tIns="0" rIns="0" bIns="0" anchor="t" anchorCtr="0">
              <a:spAutoFit/>
            </a:bodyPr>
            <a:lstStyle/>
            <a:p>
              <a:pPr algn="l"/>
              <a:r>
                <a:rPr lang="zh-CN" sz="1050" dirty="0">
                  <a:solidFill>
                    <a:srgbClr val="708195"/>
                  </a:solidFill>
                  <a:latin typeface="Arial"/>
                  <a:ea typeface="Microsoft YaHei"/>
                  <a:cs typeface="Arial"/>
                </a:rPr>
                <a:t>One platform. Three operational perspectives.</a:t>
              </a:r>
            </a:p>
          </p:txBody>
        </p:sp>
        <p:sp>
          <p:nvSpPr>
            <p:cNvPr id="43" name="TextBox 43"/>
            <p:cNvSpPr txBox="1"/>
            <p:nvPr/>
          </p:nvSpPr>
          <p:spPr>
            <a:xfrm>
              <a:off x="8739235" y="6554152"/>
              <a:ext cx="2932700" cy="213360"/>
            </a:xfrm>
            <a:prstGeom prst="rect">
              <a:avLst/>
            </a:prstGeom>
            <a:noFill/>
            <a:ln>
              <a:noFill/>
            </a:ln>
          </p:spPr>
          <p:txBody>
            <a:bodyPr wrap="none" lIns="0" tIns="0" rIns="0" bIns="0" anchor="t" anchorCtr="0">
              <a:spAutoFit/>
            </a:bodyPr>
            <a:lstStyle/>
            <a:p>
              <a:pPr algn="r"/>
              <a:r>
                <a:rPr lang="zh-CN" sz="1050" dirty="0">
                  <a:solidFill>
                    <a:srgbClr val="708195"/>
                  </a:solidFill>
                  <a:latin typeface="Arial"/>
                  <a:ea typeface="Microsoft YaHei"/>
                  <a:cs typeface="Arial"/>
                </a:rPr>
                <a:t>Production | Maintenance | Management</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900"/>
                            </p:stCondLst>
                            <p:childTnLst>
                              <p:par>
                                <p:cTn id="9" presetID="3" presetClass="entr" presetSubtype="10"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blinds(horizontal)">
                                      <p:cBhvr>
                                        <p:cTn id="11" dur="400"/>
                                        <p:tgtEl>
                                          <p:spTgt spid="34"/>
                                        </p:tgtEl>
                                      </p:cBhvr>
                                    </p:animEffect>
                                  </p:childTnLst>
                                </p:cTn>
                              </p:par>
                            </p:childTnLst>
                          </p:cTn>
                        </p:par>
                        <p:par>
                          <p:cTn id="12" fill="hold">
                            <p:stCondLst>
                              <p:cond delay="1800"/>
                            </p:stCondLst>
                            <p:childTnLst>
                              <p:par>
                                <p:cTn id="13" presetID="5" presetClass="entr" presetSubtype="6" fill="hold" nodeType="after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checkerboard(across)">
                                      <p:cBhvr>
                                        <p:cTn id="15"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4" grpId="0"/>
      <p:bldP spid="4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7111F"/>
          </a:solidFill>
          <a:ln>
            <a:noFill/>
          </a:ln>
        </p:spPr>
        <p:txBody>
          <a:bodyPr/>
          <a:lstStyle/>
          <a:p>
            <a:endParaRPr lang="en-US"/>
          </a:p>
        </p:txBody>
      </p:sp>
      <p:grpSp>
        <p:nvGrpSpPr>
          <p:cNvPr id="7" name="Group 7"/>
          <p:cNvGrpSpPr/>
          <p:nvPr/>
        </p:nvGrpSpPr>
        <p:grpSpPr>
          <a:xfrm>
            <a:off x="495300" y="390049"/>
            <a:ext cx="11175683" cy="848201"/>
            <a:chOff x="495300" y="390049"/>
            <a:chExt cx="11175683" cy="848201"/>
          </a:xfrm>
        </p:grpSpPr>
        <p:sp>
          <p:nvSpPr>
            <p:cNvPr id="3" name="TextBox 3"/>
            <p:cNvSpPr txBox="1"/>
            <p:nvPr/>
          </p:nvSpPr>
          <p:spPr>
            <a:xfrm>
              <a:off x="521018" y="390049"/>
              <a:ext cx="2641342" cy="198120"/>
            </a:xfrm>
            <a:prstGeom prst="rect">
              <a:avLst/>
            </a:prstGeom>
            <a:noFill/>
            <a:ln>
              <a:noFill/>
            </a:ln>
          </p:spPr>
          <p:txBody>
            <a:bodyPr wrap="none" lIns="0" tIns="0" rIns="0" bIns="0" anchor="t" anchorCtr="0">
              <a:spAutoFit/>
            </a:bodyPr>
            <a:lstStyle/>
            <a:p>
              <a:pPr algn="l"/>
              <a:r>
                <a:rPr lang="zh-CN" sz="975" b="1" dirty="0">
                  <a:solidFill>
                    <a:srgbClr val="708195"/>
                  </a:solidFill>
                  <a:latin typeface="Arial"/>
                  <a:ea typeface="Microsoft YaHei"/>
                  <a:cs typeface="Arial"/>
                </a:rPr>
                <a:t>DXFACTORY OPERATIONS INTELLIGENCE</a:t>
              </a:r>
            </a:p>
          </p:txBody>
        </p:sp>
        <p:sp>
          <p:nvSpPr>
            <p:cNvPr id="4" name="TextBox 4"/>
            <p:cNvSpPr txBox="1"/>
            <p:nvPr/>
          </p:nvSpPr>
          <p:spPr>
            <a:xfrm>
              <a:off x="11145330" y="390049"/>
              <a:ext cx="525653" cy="198120"/>
            </a:xfrm>
            <a:prstGeom prst="rect">
              <a:avLst/>
            </a:prstGeom>
            <a:noFill/>
            <a:ln>
              <a:noFill/>
            </a:ln>
          </p:spPr>
          <p:txBody>
            <a:bodyPr wrap="none" lIns="0" tIns="0" rIns="0" bIns="0" anchor="t" anchorCtr="0">
              <a:spAutoFit/>
            </a:bodyPr>
            <a:lstStyle/>
            <a:p>
              <a:pPr algn="r"/>
              <a:r>
                <a:rPr lang="zh-CN" sz="975" b="1" dirty="0">
                  <a:solidFill>
                    <a:srgbClr val="708195"/>
                  </a:solidFill>
                  <a:latin typeface="Arial"/>
                  <a:ea typeface="Microsoft YaHei"/>
                  <a:cs typeface="Arial"/>
                </a:rPr>
                <a:t>02 / 06</a:t>
              </a:r>
            </a:p>
          </p:txBody>
        </p:sp>
        <p:sp>
          <p:nvSpPr>
            <p:cNvPr id="5" name="TextBox 5"/>
            <p:cNvSpPr txBox="1"/>
            <p:nvPr/>
          </p:nvSpPr>
          <p:spPr>
            <a:xfrm>
              <a:off x="495300" y="628650"/>
              <a:ext cx="8771287" cy="609600"/>
            </a:xfrm>
            <a:prstGeom prst="rect">
              <a:avLst/>
            </a:prstGeom>
            <a:noFill/>
            <a:ln>
              <a:noFill/>
            </a:ln>
          </p:spPr>
          <p:txBody>
            <a:bodyPr wrap="none" lIns="0" tIns="0" rIns="0" bIns="0" anchor="t" anchorCtr="0">
              <a:spAutoFit/>
            </a:bodyPr>
            <a:lstStyle/>
            <a:p>
              <a:pPr algn="l"/>
              <a:r>
                <a:rPr lang="zh-CN" sz="3000" b="1" dirty="0">
                  <a:solidFill>
                    <a:srgbClr val="F4F8FF"/>
                  </a:solidFill>
                  <a:latin typeface="Arial"/>
                  <a:ea typeface="Microsoft YaHei"/>
                  <a:cs typeface="Arial"/>
                </a:rPr>
                <a:t>Intelligence For Every Operational Role</a:t>
              </a:r>
            </a:p>
          </p:txBody>
        </p:sp>
        <p:sp>
          <p:nvSpPr>
            <p:cNvPr id="6" name="Line 6"/>
            <p:cNvSpPr/>
            <p:nvPr/>
          </p:nvSpPr>
          <p:spPr>
            <a:xfrm>
              <a:off x="533400" y="1123950"/>
              <a:ext cx="11125200" cy="9525"/>
            </a:xfrm>
            <a:custGeom>
              <a:avLst/>
              <a:gdLst/>
              <a:ahLst/>
              <a:cxnLst/>
              <a:rect l="l" t="t" r="r" b="b"/>
              <a:pathLst>
                <a:path w="11125200" h="9525">
                  <a:moveTo>
                    <a:pt x="0" y="0"/>
                  </a:moveTo>
                  <a:lnTo>
                    <a:pt x="11125200" y="0"/>
                  </a:lnTo>
                </a:path>
              </a:pathLst>
            </a:custGeom>
            <a:noFill/>
            <a:ln w="9525">
              <a:solidFill>
                <a:srgbClr val="294157"/>
              </a:solidFill>
            </a:ln>
          </p:spPr>
          <p:txBody>
            <a:bodyPr/>
            <a:lstStyle/>
            <a:p>
              <a:endParaRPr lang="en-US"/>
            </a:p>
          </p:txBody>
        </p:sp>
      </p:grpSp>
      <p:grpSp>
        <p:nvGrpSpPr>
          <p:cNvPr id="55" name="Group 55"/>
          <p:cNvGrpSpPr/>
          <p:nvPr/>
        </p:nvGrpSpPr>
        <p:grpSpPr>
          <a:xfrm>
            <a:off x="533400" y="1504950"/>
            <a:ext cx="11681117" cy="4095750"/>
            <a:chOff x="533400" y="1504950"/>
            <a:chExt cx="11681117" cy="4095750"/>
          </a:xfrm>
        </p:grpSpPr>
        <p:grpSp>
          <p:nvGrpSpPr>
            <p:cNvPr id="22" name="Group 22"/>
            <p:cNvGrpSpPr/>
            <p:nvPr/>
          </p:nvGrpSpPr>
          <p:grpSpPr>
            <a:xfrm>
              <a:off x="533400" y="1504950"/>
              <a:ext cx="3786445" cy="4095750"/>
              <a:chOff x="533400" y="1504950"/>
              <a:chExt cx="3786445" cy="4095750"/>
            </a:xfrm>
          </p:grpSpPr>
          <p:sp>
            <p:nvSpPr>
              <p:cNvPr id="8" name="Freeform 8"/>
              <p:cNvSpPr/>
              <p:nvPr/>
            </p:nvSpPr>
            <p:spPr>
              <a:xfrm>
                <a:off x="533400" y="1504950"/>
                <a:ext cx="3409950" cy="4095750"/>
              </a:xfrm>
              <a:custGeom>
                <a:avLst/>
                <a:gdLst/>
                <a:ahLst/>
                <a:cxnLst/>
                <a:rect l="l" t="t" r="r" b="b"/>
                <a:pathLst>
                  <a:path w="3409950" h="4095750">
                    <a:moveTo>
                      <a:pt x="133350" y="0"/>
                    </a:moveTo>
                    <a:lnTo>
                      <a:pt x="3276600" y="0"/>
                    </a:lnTo>
                    <a:cubicBezTo>
                      <a:pt x="3350247" y="0"/>
                      <a:pt x="3409950" y="59703"/>
                      <a:pt x="3409950" y="133350"/>
                    </a:cubicBezTo>
                    <a:lnTo>
                      <a:pt x="3409950" y="3962400"/>
                    </a:lnTo>
                    <a:cubicBezTo>
                      <a:pt x="3409950" y="4036047"/>
                      <a:pt x="3350247" y="4095750"/>
                      <a:pt x="3276600" y="4095750"/>
                    </a:cubicBezTo>
                    <a:lnTo>
                      <a:pt x="133350" y="4095750"/>
                    </a:lnTo>
                    <a:cubicBezTo>
                      <a:pt x="59703" y="4095750"/>
                      <a:pt x="0" y="4036047"/>
                      <a:pt x="0" y="3962400"/>
                    </a:cubicBezTo>
                    <a:lnTo>
                      <a:pt x="0" y="133350"/>
                    </a:lnTo>
                    <a:cubicBezTo>
                      <a:pt x="0" y="59703"/>
                      <a:pt x="59703" y="0"/>
                      <a:pt x="133350" y="0"/>
                    </a:cubicBezTo>
                    <a:close/>
                  </a:path>
                </a:pathLst>
              </a:custGeom>
              <a:solidFill>
                <a:srgbClr val="12263A"/>
              </a:solidFill>
              <a:ln w="9525">
                <a:solidFill>
                  <a:srgbClr val="294157"/>
                </a:solidFill>
              </a:ln>
            </p:spPr>
            <p:txBody>
              <a:bodyPr/>
              <a:lstStyle/>
              <a:p>
                <a:endParaRPr lang="en-US"/>
              </a:p>
            </p:txBody>
          </p:sp>
          <p:sp>
            <p:nvSpPr>
              <p:cNvPr id="9" name="Freeform 9"/>
              <p:cNvSpPr/>
              <p:nvPr/>
            </p:nvSpPr>
            <p:spPr>
              <a:xfrm>
                <a:off x="533400" y="1504950"/>
                <a:ext cx="57150" cy="4095750"/>
              </a:xfrm>
              <a:custGeom>
                <a:avLst/>
                <a:gdLst/>
                <a:ahLst/>
                <a:cxnLst/>
                <a:rect l="l" t="t" r="r" b="b"/>
                <a:pathLst>
                  <a:path w="57150" h="4095750">
                    <a:moveTo>
                      <a:pt x="28575" y="0"/>
                    </a:moveTo>
                    <a:lnTo>
                      <a:pt x="28575" y="0"/>
                    </a:lnTo>
                    <a:cubicBezTo>
                      <a:pt x="44357" y="0"/>
                      <a:pt x="57150" y="12793"/>
                      <a:pt x="57150" y="28575"/>
                    </a:cubicBezTo>
                    <a:lnTo>
                      <a:pt x="57150" y="4067175"/>
                    </a:lnTo>
                    <a:cubicBezTo>
                      <a:pt x="57150" y="4082957"/>
                      <a:pt x="44357" y="4095750"/>
                      <a:pt x="28575" y="4095750"/>
                    </a:cubicBezTo>
                    <a:lnTo>
                      <a:pt x="28575" y="4095750"/>
                    </a:lnTo>
                    <a:cubicBezTo>
                      <a:pt x="12793" y="4095750"/>
                      <a:pt x="0" y="4082957"/>
                      <a:pt x="0" y="4067175"/>
                    </a:cubicBezTo>
                    <a:lnTo>
                      <a:pt x="0" y="28575"/>
                    </a:lnTo>
                    <a:cubicBezTo>
                      <a:pt x="0" y="12793"/>
                      <a:pt x="12793" y="0"/>
                      <a:pt x="28575" y="0"/>
                    </a:cubicBezTo>
                    <a:close/>
                  </a:path>
                </a:pathLst>
              </a:custGeom>
              <a:solidFill>
                <a:srgbClr val="2EA7FF"/>
              </a:solidFill>
              <a:ln>
                <a:noFill/>
              </a:ln>
            </p:spPr>
            <p:txBody>
              <a:bodyPr/>
              <a:lstStyle/>
              <a:p>
                <a:endParaRPr lang="en-US"/>
              </a:p>
            </p:txBody>
          </p:sp>
          <p:grpSp>
            <p:nvGrpSpPr>
              <p:cNvPr id="14" name="Group 14"/>
              <p:cNvGrpSpPr/>
              <p:nvPr/>
            </p:nvGrpSpPr>
            <p:grpSpPr>
              <a:xfrm>
                <a:off x="804862" y="1790463"/>
                <a:ext cx="271462" cy="252650"/>
                <a:chOff x="804862" y="1790463"/>
                <a:chExt cx="271462" cy="252650"/>
              </a:xfrm>
            </p:grpSpPr>
            <p:sp>
              <p:nvSpPr>
                <p:cNvPr id="10" name="Freeform 10"/>
                <p:cNvSpPr/>
                <p:nvPr/>
              </p:nvSpPr>
              <p:spPr>
                <a:xfrm>
                  <a:off x="819150" y="1862138"/>
                  <a:ext cx="142875" cy="171450"/>
                </a:xfrm>
                <a:custGeom>
                  <a:avLst/>
                  <a:gdLst/>
                  <a:ahLst/>
                  <a:cxnLst/>
                  <a:rect l="l" t="t" r="r" b="b"/>
                  <a:pathLst>
                    <a:path w="142875" h="171450">
                      <a:moveTo>
                        <a:pt x="0" y="171450"/>
                      </a:moveTo>
                      <a:cubicBezTo>
                        <a:pt x="16388" y="114014"/>
                        <a:pt x="28332" y="56764"/>
                        <a:pt x="28575" y="0"/>
                      </a:cubicBezTo>
                      <a:lnTo>
                        <a:pt x="114300" y="0"/>
                      </a:lnTo>
                      <a:cubicBezTo>
                        <a:pt x="114543" y="56764"/>
                        <a:pt x="126487" y="114014"/>
                        <a:pt x="142875" y="171450"/>
                      </a:cubicBezTo>
                    </a:path>
                  </a:pathLst>
                </a:custGeom>
                <a:noFill/>
                <a:ln w="19050">
                  <a:solidFill>
                    <a:srgbClr val="2EA7FF"/>
                  </a:solidFill>
                </a:ln>
              </p:spPr>
              <p:txBody>
                <a:bodyPr/>
                <a:lstStyle/>
                <a:p>
                  <a:endParaRPr lang="en-US"/>
                </a:p>
              </p:txBody>
            </p:sp>
            <p:sp>
              <p:nvSpPr>
                <p:cNvPr id="11" name="Freeform 11"/>
                <p:cNvSpPr/>
                <p:nvPr/>
              </p:nvSpPr>
              <p:spPr>
                <a:xfrm>
                  <a:off x="940594" y="1919288"/>
                  <a:ext cx="92869" cy="114300"/>
                </a:xfrm>
                <a:custGeom>
                  <a:avLst/>
                  <a:gdLst/>
                  <a:ahLst/>
                  <a:cxnLst/>
                  <a:rect l="l" t="t" r="r" b="b"/>
                  <a:pathLst>
                    <a:path w="92869" h="114300">
                      <a:moveTo>
                        <a:pt x="0" y="0"/>
                      </a:moveTo>
                      <a:lnTo>
                        <a:pt x="64294" y="0"/>
                      </a:lnTo>
                      <a:cubicBezTo>
                        <a:pt x="64651" y="37319"/>
                        <a:pt x="77067" y="75667"/>
                        <a:pt x="92869" y="114300"/>
                      </a:cubicBezTo>
                    </a:path>
                  </a:pathLst>
                </a:custGeom>
                <a:noFill/>
                <a:ln w="19050">
                  <a:solidFill>
                    <a:srgbClr val="2EA7FF"/>
                  </a:solidFill>
                </a:ln>
              </p:spPr>
              <p:txBody>
                <a:bodyPr/>
                <a:lstStyle/>
                <a:p>
                  <a:endParaRPr lang="en-US"/>
                </a:p>
              </p:txBody>
            </p:sp>
            <p:sp>
              <p:nvSpPr>
                <p:cNvPr id="12" name="Freeform 12"/>
                <p:cNvSpPr/>
                <p:nvPr/>
              </p:nvSpPr>
              <p:spPr>
                <a:xfrm>
                  <a:off x="890588" y="1790463"/>
                  <a:ext cx="171450" cy="29048"/>
                </a:xfrm>
                <a:custGeom>
                  <a:avLst/>
                  <a:gdLst/>
                  <a:ahLst/>
                  <a:cxnLst/>
                  <a:rect l="l" t="t" r="r" b="b"/>
                  <a:pathLst>
                    <a:path w="171450" h="29048">
                      <a:moveTo>
                        <a:pt x="0" y="14524"/>
                      </a:moveTo>
                      <a:cubicBezTo>
                        <a:pt x="6589" y="5344"/>
                        <a:pt x="17278" y="0"/>
                        <a:pt x="28575" y="237"/>
                      </a:cubicBezTo>
                      <a:cubicBezTo>
                        <a:pt x="39872" y="0"/>
                        <a:pt x="50561" y="5344"/>
                        <a:pt x="57150" y="14524"/>
                      </a:cubicBezTo>
                      <a:cubicBezTo>
                        <a:pt x="63739" y="23704"/>
                        <a:pt x="74428" y="29048"/>
                        <a:pt x="85725" y="28812"/>
                      </a:cubicBezTo>
                      <a:cubicBezTo>
                        <a:pt x="97022" y="29048"/>
                        <a:pt x="107711" y="23704"/>
                        <a:pt x="114300" y="14524"/>
                      </a:cubicBezTo>
                      <a:cubicBezTo>
                        <a:pt x="120889" y="5344"/>
                        <a:pt x="131578" y="0"/>
                        <a:pt x="142875" y="237"/>
                      </a:cubicBezTo>
                      <a:cubicBezTo>
                        <a:pt x="154172" y="0"/>
                        <a:pt x="164861" y="5344"/>
                        <a:pt x="171450" y="14524"/>
                      </a:cubicBezTo>
                    </a:path>
                  </a:pathLst>
                </a:custGeom>
                <a:noFill/>
                <a:ln w="19050">
                  <a:solidFill>
                    <a:srgbClr val="2EA7FF"/>
                  </a:solidFill>
                </a:ln>
              </p:spPr>
              <p:txBody>
                <a:bodyPr/>
                <a:lstStyle/>
                <a:p>
                  <a:endParaRPr lang="en-US"/>
                </a:p>
              </p:txBody>
            </p:sp>
            <p:sp>
              <p:nvSpPr>
                <p:cNvPr id="13" name="Freeform 13"/>
                <p:cNvSpPr/>
                <p:nvPr/>
              </p:nvSpPr>
              <p:spPr>
                <a:xfrm>
                  <a:off x="804862" y="2033588"/>
                  <a:ext cx="271462" cy="9525"/>
                </a:xfrm>
                <a:custGeom>
                  <a:avLst/>
                  <a:gdLst/>
                  <a:ahLst/>
                  <a:cxnLst/>
                  <a:rect l="l" t="t" r="r" b="b"/>
                  <a:pathLst>
                    <a:path w="271462" h="9525">
                      <a:moveTo>
                        <a:pt x="0" y="0"/>
                      </a:moveTo>
                      <a:lnTo>
                        <a:pt x="271462" y="0"/>
                      </a:lnTo>
                    </a:path>
                  </a:pathLst>
                </a:custGeom>
                <a:noFill/>
                <a:ln w="19050">
                  <a:solidFill>
                    <a:srgbClr val="2EA7FF"/>
                  </a:solidFill>
                </a:ln>
              </p:spPr>
              <p:txBody>
                <a:bodyPr/>
                <a:lstStyle/>
                <a:p>
                  <a:endParaRPr lang="en-US"/>
                </a:p>
              </p:txBody>
            </p:sp>
          </p:grpSp>
          <p:sp>
            <p:nvSpPr>
              <p:cNvPr id="15" name="TextBox 15"/>
              <p:cNvSpPr txBox="1"/>
              <p:nvPr/>
            </p:nvSpPr>
            <p:spPr>
              <a:xfrm>
                <a:off x="1196340" y="1805940"/>
                <a:ext cx="3123505" cy="365760"/>
              </a:xfrm>
              <a:prstGeom prst="rect">
                <a:avLst/>
              </a:prstGeom>
              <a:noFill/>
              <a:ln>
                <a:noFill/>
              </a:ln>
            </p:spPr>
            <p:txBody>
              <a:bodyPr wrap="none" lIns="0" tIns="0" rIns="0" bIns="0" anchor="t" anchorCtr="0">
                <a:spAutoFit/>
              </a:bodyPr>
              <a:lstStyle/>
              <a:p>
                <a:pPr algn="l"/>
                <a:r>
                  <a:rPr lang="zh-CN" sz="1800" b="1" dirty="0">
                    <a:solidFill>
                      <a:srgbClr val="F4F8FF"/>
                    </a:solidFill>
                    <a:latin typeface="Arial"/>
                    <a:ea typeface="Microsoft YaHei"/>
                    <a:cs typeface="Arial"/>
                  </a:rPr>
                  <a:t>Production Intelligence</a:t>
                </a:r>
              </a:p>
            </p:txBody>
          </p:sp>
          <p:sp>
            <p:nvSpPr>
              <p:cNvPr id="16" name="TextBox 16"/>
              <p:cNvSpPr txBox="1"/>
              <p:nvPr/>
            </p:nvSpPr>
            <p:spPr>
              <a:xfrm>
                <a:off x="822008" y="2272189"/>
                <a:ext cx="3319058" cy="259080"/>
              </a:xfrm>
              <a:prstGeom prst="rect">
                <a:avLst/>
              </a:prstGeom>
              <a:noFill/>
              <a:ln>
                <a:noFill/>
              </a:ln>
            </p:spPr>
            <p:txBody>
              <a:bodyPr wrap="none" lIns="0" tIns="0" rIns="0" bIns="0" anchor="t" anchorCtr="0">
                <a:spAutoFit/>
              </a:bodyPr>
              <a:lstStyle/>
              <a:p>
                <a:pPr algn="l"/>
                <a:r>
                  <a:rPr lang="zh-CN" sz="1275" dirty="0">
                    <a:solidFill>
                      <a:srgbClr val="A8B7C8"/>
                    </a:solidFill>
                    <a:latin typeface="Arial"/>
                    <a:ea typeface="Microsoft YaHei"/>
                    <a:cs typeface="Arial"/>
                  </a:rPr>
                  <a:t>- Automated shift handover reports</a:t>
                </a:r>
              </a:p>
            </p:txBody>
          </p:sp>
          <p:sp>
            <p:nvSpPr>
              <p:cNvPr id="17" name="TextBox 17"/>
              <p:cNvSpPr txBox="1"/>
              <p:nvPr/>
            </p:nvSpPr>
            <p:spPr>
              <a:xfrm>
                <a:off x="822008" y="2548414"/>
                <a:ext cx="3216640" cy="259080"/>
              </a:xfrm>
              <a:prstGeom prst="rect">
                <a:avLst/>
              </a:prstGeom>
              <a:noFill/>
              <a:ln>
                <a:noFill/>
              </a:ln>
            </p:spPr>
            <p:txBody>
              <a:bodyPr wrap="none" lIns="0" tIns="0" rIns="0" bIns="0" anchor="t" anchorCtr="0">
                <a:spAutoFit/>
              </a:bodyPr>
              <a:lstStyle/>
              <a:p>
                <a:pPr algn="l"/>
                <a:r>
                  <a:rPr lang="zh-CN" sz="1275" dirty="0">
                    <a:solidFill>
                      <a:srgbClr val="A8B7C8"/>
                    </a:solidFill>
                    <a:latin typeface="Arial"/>
                    <a:ea typeface="Microsoft YaHei"/>
                    <a:cs typeface="Arial"/>
                  </a:rPr>
                  <a:t>- Production performance tracking</a:t>
                </a:r>
              </a:p>
            </p:txBody>
          </p:sp>
          <p:sp>
            <p:nvSpPr>
              <p:cNvPr id="18" name="TextBox 18"/>
              <p:cNvSpPr txBox="1"/>
              <p:nvPr/>
            </p:nvSpPr>
            <p:spPr>
              <a:xfrm>
                <a:off x="822008" y="2824639"/>
                <a:ext cx="1885212" cy="259080"/>
              </a:xfrm>
              <a:prstGeom prst="rect">
                <a:avLst/>
              </a:prstGeom>
              <a:noFill/>
              <a:ln>
                <a:noFill/>
              </a:ln>
            </p:spPr>
            <p:txBody>
              <a:bodyPr wrap="none" lIns="0" tIns="0" rIns="0" bIns="0" anchor="t" anchorCtr="0">
                <a:spAutoFit/>
              </a:bodyPr>
              <a:lstStyle/>
              <a:p>
                <a:pPr algn="l"/>
                <a:r>
                  <a:rPr lang="zh-CN" sz="1275" dirty="0">
                    <a:solidFill>
                      <a:srgbClr val="A8B7C8"/>
                    </a:solidFill>
                    <a:latin typeface="Arial"/>
                    <a:ea typeface="Microsoft YaHei"/>
                    <a:cs typeface="Arial"/>
                  </a:rPr>
                  <a:t>- Downtime visibility</a:t>
                </a:r>
              </a:p>
            </p:txBody>
          </p:sp>
          <p:sp>
            <p:nvSpPr>
              <p:cNvPr id="19" name="TextBox 19"/>
              <p:cNvSpPr txBox="1"/>
              <p:nvPr/>
            </p:nvSpPr>
            <p:spPr>
              <a:xfrm>
                <a:off x="822008" y="3100864"/>
                <a:ext cx="1950387" cy="259080"/>
              </a:xfrm>
              <a:prstGeom prst="rect">
                <a:avLst/>
              </a:prstGeom>
              <a:noFill/>
              <a:ln>
                <a:noFill/>
              </a:ln>
            </p:spPr>
            <p:txBody>
              <a:bodyPr wrap="none" lIns="0" tIns="0" rIns="0" bIns="0" anchor="t" anchorCtr="0">
                <a:spAutoFit/>
              </a:bodyPr>
              <a:lstStyle/>
              <a:p>
                <a:pPr algn="l"/>
                <a:r>
                  <a:rPr lang="zh-CN" sz="1275" dirty="0">
                    <a:solidFill>
                      <a:srgbClr val="A8B7C8"/>
                    </a:solidFill>
                    <a:latin typeface="Arial"/>
                    <a:ea typeface="Microsoft YaHei"/>
                    <a:cs typeface="Arial"/>
                  </a:rPr>
                  <a:t>- Root cause analysis</a:t>
                </a:r>
              </a:p>
            </p:txBody>
          </p:sp>
          <p:sp>
            <p:nvSpPr>
              <p:cNvPr id="20" name="Freeform 20"/>
              <p:cNvSpPr/>
              <p:nvPr/>
            </p:nvSpPr>
            <p:spPr>
              <a:xfrm>
                <a:off x="762000" y="4133850"/>
                <a:ext cx="2952750" cy="1123950"/>
              </a:xfrm>
              <a:custGeom>
                <a:avLst/>
                <a:gdLst/>
                <a:ahLst/>
                <a:cxnLst/>
                <a:rect l="l" t="t" r="r" b="b"/>
                <a:pathLst>
                  <a:path w="2952750" h="1123950">
                    <a:moveTo>
                      <a:pt x="76200" y="0"/>
                    </a:moveTo>
                    <a:lnTo>
                      <a:pt x="2876550" y="0"/>
                    </a:lnTo>
                    <a:cubicBezTo>
                      <a:pt x="2918634" y="0"/>
                      <a:pt x="2952750" y="34116"/>
                      <a:pt x="2952750" y="76200"/>
                    </a:cubicBezTo>
                    <a:lnTo>
                      <a:pt x="2952750" y="1047750"/>
                    </a:lnTo>
                    <a:cubicBezTo>
                      <a:pt x="2952750" y="1089834"/>
                      <a:pt x="2918634" y="1123950"/>
                      <a:pt x="2876550" y="1123950"/>
                    </a:cubicBezTo>
                    <a:lnTo>
                      <a:pt x="76200" y="1123950"/>
                    </a:lnTo>
                    <a:cubicBezTo>
                      <a:pt x="34116" y="1123950"/>
                      <a:pt x="0" y="1089834"/>
                      <a:pt x="0" y="1047750"/>
                    </a:cubicBezTo>
                    <a:lnTo>
                      <a:pt x="0" y="76200"/>
                    </a:lnTo>
                    <a:cubicBezTo>
                      <a:pt x="0" y="34116"/>
                      <a:pt x="34116" y="0"/>
                      <a:pt x="76200" y="0"/>
                    </a:cubicBezTo>
                    <a:close/>
                  </a:path>
                </a:pathLst>
              </a:custGeom>
              <a:solidFill>
                <a:srgbClr val="0E1D2E"/>
              </a:solidFill>
              <a:ln w="9525">
                <a:solidFill>
                  <a:srgbClr val="294157"/>
                </a:solidFill>
              </a:ln>
            </p:spPr>
            <p:txBody>
              <a:bodyPr/>
              <a:lstStyle/>
              <a:p>
                <a:endParaRPr lang="en-US"/>
              </a:p>
            </p:txBody>
          </p:sp>
          <p:pic>
            <p:nvPicPr>
              <p:cNvPr id="21" name="Image 21"/>
              <p:cNvPicPr>
                <a:picLocks noChangeAspect="1"/>
              </p:cNvPicPr>
              <p:nvPr/>
            </p:nvPicPr>
            <p:blipFill>
              <a:blip r:embed="rId3"/>
              <a:stretch>
                <a:fillRect/>
              </a:stretch>
            </p:blipFill>
            <p:spPr>
              <a:xfrm>
                <a:off x="1221010" y="4210050"/>
                <a:ext cx="2034826" cy="971550"/>
              </a:xfrm>
              <a:prstGeom prst="rect">
                <a:avLst/>
              </a:prstGeom>
            </p:spPr>
          </p:pic>
        </p:grpSp>
        <p:grpSp>
          <p:nvGrpSpPr>
            <p:cNvPr id="39" name="Group 39"/>
            <p:cNvGrpSpPr/>
            <p:nvPr/>
          </p:nvGrpSpPr>
          <p:grpSpPr>
            <a:xfrm>
              <a:off x="4391025" y="1504950"/>
              <a:ext cx="3993471" cy="4095750"/>
              <a:chOff x="4391025" y="1504950"/>
              <a:chExt cx="3993471" cy="4095750"/>
            </a:xfrm>
          </p:grpSpPr>
          <p:sp>
            <p:nvSpPr>
              <p:cNvPr id="23" name="Freeform 23"/>
              <p:cNvSpPr/>
              <p:nvPr/>
            </p:nvSpPr>
            <p:spPr>
              <a:xfrm>
                <a:off x="4391025" y="1504950"/>
                <a:ext cx="3409950" cy="4095750"/>
              </a:xfrm>
              <a:custGeom>
                <a:avLst/>
                <a:gdLst/>
                <a:ahLst/>
                <a:cxnLst/>
                <a:rect l="l" t="t" r="r" b="b"/>
                <a:pathLst>
                  <a:path w="3409950" h="4095750">
                    <a:moveTo>
                      <a:pt x="133350" y="0"/>
                    </a:moveTo>
                    <a:lnTo>
                      <a:pt x="3276600" y="0"/>
                    </a:lnTo>
                    <a:cubicBezTo>
                      <a:pt x="3350247" y="0"/>
                      <a:pt x="3409950" y="59703"/>
                      <a:pt x="3409950" y="133350"/>
                    </a:cubicBezTo>
                    <a:lnTo>
                      <a:pt x="3409950" y="3962400"/>
                    </a:lnTo>
                    <a:cubicBezTo>
                      <a:pt x="3409950" y="4036047"/>
                      <a:pt x="3350247" y="4095750"/>
                      <a:pt x="3276600" y="4095750"/>
                    </a:cubicBezTo>
                    <a:lnTo>
                      <a:pt x="133350" y="4095750"/>
                    </a:lnTo>
                    <a:cubicBezTo>
                      <a:pt x="59703" y="4095750"/>
                      <a:pt x="0" y="4036047"/>
                      <a:pt x="0" y="3962400"/>
                    </a:cubicBezTo>
                    <a:lnTo>
                      <a:pt x="0" y="133350"/>
                    </a:lnTo>
                    <a:cubicBezTo>
                      <a:pt x="0" y="59703"/>
                      <a:pt x="59703" y="0"/>
                      <a:pt x="133350" y="0"/>
                    </a:cubicBezTo>
                    <a:close/>
                  </a:path>
                </a:pathLst>
              </a:custGeom>
              <a:solidFill>
                <a:srgbClr val="12263A"/>
              </a:solidFill>
              <a:ln w="9525">
                <a:solidFill>
                  <a:srgbClr val="294157"/>
                </a:solidFill>
              </a:ln>
            </p:spPr>
            <p:txBody>
              <a:bodyPr/>
              <a:lstStyle/>
              <a:p>
                <a:endParaRPr lang="en-US"/>
              </a:p>
            </p:txBody>
          </p:sp>
          <p:sp>
            <p:nvSpPr>
              <p:cNvPr id="24" name="Freeform 24"/>
              <p:cNvSpPr/>
              <p:nvPr/>
            </p:nvSpPr>
            <p:spPr>
              <a:xfrm>
                <a:off x="4391025" y="1504950"/>
                <a:ext cx="57150" cy="4095750"/>
              </a:xfrm>
              <a:custGeom>
                <a:avLst/>
                <a:gdLst/>
                <a:ahLst/>
                <a:cxnLst/>
                <a:rect l="l" t="t" r="r" b="b"/>
                <a:pathLst>
                  <a:path w="57150" h="4095750">
                    <a:moveTo>
                      <a:pt x="28575" y="0"/>
                    </a:moveTo>
                    <a:lnTo>
                      <a:pt x="28575" y="0"/>
                    </a:lnTo>
                    <a:cubicBezTo>
                      <a:pt x="44357" y="0"/>
                      <a:pt x="57150" y="12793"/>
                      <a:pt x="57150" y="28575"/>
                    </a:cubicBezTo>
                    <a:lnTo>
                      <a:pt x="57150" y="4067175"/>
                    </a:lnTo>
                    <a:cubicBezTo>
                      <a:pt x="57150" y="4082957"/>
                      <a:pt x="44357" y="4095750"/>
                      <a:pt x="28575" y="4095750"/>
                    </a:cubicBezTo>
                    <a:lnTo>
                      <a:pt x="28575" y="4095750"/>
                    </a:lnTo>
                    <a:cubicBezTo>
                      <a:pt x="12793" y="4095750"/>
                      <a:pt x="0" y="4082957"/>
                      <a:pt x="0" y="4067175"/>
                    </a:cubicBezTo>
                    <a:lnTo>
                      <a:pt x="0" y="28575"/>
                    </a:lnTo>
                    <a:cubicBezTo>
                      <a:pt x="0" y="12793"/>
                      <a:pt x="12793" y="0"/>
                      <a:pt x="28575" y="0"/>
                    </a:cubicBezTo>
                    <a:close/>
                  </a:path>
                </a:pathLst>
              </a:custGeom>
              <a:solidFill>
                <a:srgbClr val="FFB020"/>
              </a:solidFill>
              <a:ln>
                <a:noFill/>
              </a:ln>
            </p:spPr>
            <p:txBody>
              <a:bodyPr/>
              <a:lstStyle/>
              <a:p>
                <a:endParaRPr lang="en-US"/>
              </a:p>
            </p:txBody>
          </p:sp>
          <p:grpSp>
            <p:nvGrpSpPr>
              <p:cNvPr id="31" name="Group 31"/>
              <p:cNvGrpSpPr/>
              <p:nvPr/>
            </p:nvGrpSpPr>
            <p:grpSpPr>
              <a:xfrm>
                <a:off x="4662488" y="1774918"/>
                <a:ext cx="258669" cy="258670"/>
                <a:chOff x="4662488" y="1774918"/>
                <a:chExt cx="258669" cy="258670"/>
              </a:xfrm>
            </p:grpSpPr>
            <p:sp>
              <p:nvSpPr>
                <p:cNvPr id="25" name="Freeform 25"/>
                <p:cNvSpPr/>
                <p:nvPr/>
              </p:nvSpPr>
              <p:spPr>
                <a:xfrm>
                  <a:off x="4662488" y="1774918"/>
                  <a:ext cx="258669" cy="258669"/>
                </a:xfrm>
                <a:custGeom>
                  <a:avLst/>
                  <a:gdLst/>
                  <a:ahLst/>
                  <a:cxnLst/>
                  <a:rect l="l" t="t" r="r" b="b"/>
                  <a:pathLst>
                    <a:path w="258669" h="258669">
                      <a:moveTo>
                        <a:pt x="0" y="258669"/>
                      </a:moveTo>
                      <a:lnTo>
                        <a:pt x="57150" y="258669"/>
                      </a:lnTo>
                      <a:lnTo>
                        <a:pt x="242888" y="72932"/>
                      </a:lnTo>
                      <a:cubicBezTo>
                        <a:pt x="258669" y="57150"/>
                        <a:pt x="258669" y="31563"/>
                        <a:pt x="242888" y="15782"/>
                      </a:cubicBezTo>
                      <a:cubicBezTo>
                        <a:pt x="227106" y="0"/>
                        <a:pt x="201519" y="0"/>
                        <a:pt x="185738" y="15782"/>
                      </a:cubicBezTo>
                      <a:lnTo>
                        <a:pt x="0" y="201519"/>
                      </a:lnTo>
                      <a:lnTo>
                        <a:pt x="0" y="258669"/>
                      </a:lnTo>
                    </a:path>
                  </a:pathLst>
                </a:custGeom>
                <a:noFill/>
                <a:ln w="19050">
                  <a:solidFill>
                    <a:srgbClr val="FFB020"/>
                  </a:solidFill>
                </a:ln>
              </p:spPr>
              <p:txBody>
                <a:bodyPr/>
                <a:lstStyle/>
                <a:p>
                  <a:endParaRPr lang="en-US"/>
                </a:p>
              </p:txBody>
            </p:sp>
            <p:sp>
              <p:nvSpPr>
                <p:cNvPr id="26" name="Freeform 26"/>
                <p:cNvSpPr/>
                <p:nvPr/>
              </p:nvSpPr>
              <p:spPr>
                <a:xfrm>
                  <a:off x="4826794" y="1812131"/>
                  <a:ext cx="57150" cy="57150"/>
                </a:xfrm>
                <a:custGeom>
                  <a:avLst/>
                  <a:gdLst/>
                  <a:ahLst/>
                  <a:cxnLst/>
                  <a:rect l="l" t="t" r="r" b="b"/>
                  <a:pathLst>
                    <a:path w="57150" h="57150">
                      <a:moveTo>
                        <a:pt x="0" y="0"/>
                      </a:moveTo>
                      <a:lnTo>
                        <a:pt x="57150" y="57150"/>
                      </a:lnTo>
                    </a:path>
                  </a:pathLst>
                </a:custGeom>
                <a:noFill/>
                <a:ln w="19050">
                  <a:solidFill>
                    <a:srgbClr val="FFB020"/>
                  </a:solidFill>
                </a:ln>
              </p:spPr>
              <p:txBody>
                <a:bodyPr/>
                <a:lstStyle/>
                <a:p>
                  <a:endParaRPr lang="en-US"/>
                </a:p>
              </p:txBody>
            </p:sp>
            <p:sp>
              <p:nvSpPr>
                <p:cNvPr id="27" name="Freeform 27"/>
                <p:cNvSpPr/>
                <p:nvPr/>
              </p:nvSpPr>
              <p:spPr>
                <a:xfrm>
                  <a:off x="4662488" y="1776412"/>
                  <a:ext cx="128588" cy="128588"/>
                </a:xfrm>
                <a:custGeom>
                  <a:avLst/>
                  <a:gdLst/>
                  <a:ahLst/>
                  <a:cxnLst/>
                  <a:rect l="l" t="t" r="r" b="b"/>
                  <a:pathLst>
                    <a:path w="128588" h="128588">
                      <a:moveTo>
                        <a:pt x="128588" y="71438"/>
                      </a:moveTo>
                      <a:lnTo>
                        <a:pt x="57150" y="0"/>
                      </a:lnTo>
                      <a:lnTo>
                        <a:pt x="0" y="57150"/>
                      </a:lnTo>
                      <a:lnTo>
                        <a:pt x="71438" y="128588"/>
                      </a:lnTo>
                    </a:path>
                  </a:pathLst>
                </a:custGeom>
                <a:noFill/>
                <a:ln w="19050">
                  <a:solidFill>
                    <a:srgbClr val="FFB020"/>
                  </a:solidFill>
                </a:ln>
              </p:spPr>
              <p:txBody>
                <a:bodyPr/>
                <a:lstStyle/>
                <a:p>
                  <a:endParaRPr lang="en-US"/>
                </a:p>
              </p:txBody>
            </p:sp>
            <p:sp>
              <p:nvSpPr>
                <p:cNvPr id="28" name="Freeform 28"/>
                <p:cNvSpPr/>
                <p:nvPr/>
              </p:nvSpPr>
              <p:spPr>
                <a:xfrm>
                  <a:off x="4698206" y="1847850"/>
                  <a:ext cx="21431" cy="21431"/>
                </a:xfrm>
                <a:custGeom>
                  <a:avLst/>
                  <a:gdLst/>
                  <a:ahLst/>
                  <a:cxnLst/>
                  <a:rect l="l" t="t" r="r" b="b"/>
                  <a:pathLst>
                    <a:path w="21431" h="21431">
                      <a:moveTo>
                        <a:pt x="21431" y="0"/>
                      </a:moveTo>
                      <a:lnTo>
                        <a:pt x="0" y="21431"/>
                      </a:lnTo>
                    </a:path>
                  </a:pathLst>
                </a:custGeom>
                <a:noFill/>
                <a:ln w="19050">
                  <a:solidFill>
                    <a:srgbClr val="FFB020"/>
                  </a:solidFill>
                </a:ln>
              </p:spPr>
              <p:txBody>
                <a:bodyPr/>
                <a:lstStyle/>
                <a:p>
                  <a:endParaRPr lang="en-US"/>
                </a:p>
              </p:txBody>
            </p:sp>
            <p:sp>
              <p:nvSpPr>
                <p:cNvPr id="29" name="Freeform 29"/>
                <p:cNvSpPr/>
                <p:nvPr/>
              </p:nvSpPr>
              <p:spPr>
                <a:xfrm>
                  <a:off x="4791075" y="1905000"/>
                  <a:ext cx="128588" cy="128588"/>
                </a:xfrm>
                <a:custGeom>
                  <a:avLst/>
                  <a:gdLst/>
                  <a:ahLst/>
                  <a:cxnLst/>
                  <a:rect l="l" t="t" r="r" b="b"/>
                  <a:pathLst>
                    <a:path w="128588" h="128588">
                      <a:moveTo>
                        <a:pt x="57150" y="0"/>
                      </a:moveTo>
                      <a:lnTo>
                        <a:pt x="128588" y="71438"/>
                      </a:lnTo>
                      <a:lnTo>
                        <a:pt x="71438" y="128588"/>
                      </a:lnTo>
                      <a:lnTo>
                        <a:pt x="0" y="57150"/>
                      </a:lnTo>
                    </a:path>
                  </a:pathLst>
                </a:custGeom>
                <a:noFill/>
                <a:ln w="19050">
                  <a:solidFill>
                    <a:srgbClr val="FFB020"/>
                  </a:solidFill>
                </a:ln>
              </p:spPr>
              <p:txBody>
                <a:bodyPr/>
                <a:lstStyle/>
                <a:p>
                  <a:endParaRPr lang="en-US"/>
                </a:p>
              </p:txBody>
            </p:sp>
            <p:sp>
              <p:nvSpPr>
                <p:cNvPr id="30" name="Freeform 30"/>
                <p:cNvSpPr/>
                <p:nvPr/>
              </p:nvSpPr>
              <p:spPr>
                <a:xfrm>
                  <a:off x="4826794" y="1976438"/>
                  <a:ext cx="21431" cy="21431"/>
                </a:xfrm>
                <a:custGeom>
                  <a:avLst/>
                  <a:gdLst/>
                  <a:ahLst/>
                  <a:cxnLst/>
                  <a:rect l="l" t="t" r="r" b="b"/>
                  <a:pathLst>
                    <a:path w="21431" h="21431">
                      <a:moveTo>
                        <a:pt x="21431" y="0"/>
                      </a:moveTo>
                      <a:lnTo>
                        <a:pt x="0" y="21431"/>
                      </a:lnTo>
                    </a:path>
                  </a:pathLst>
                </a:custGeom>
                <a:noFill/>
                <a:ln w="19050">
                  <a:solidFill>
                    <a:srgbClr val="FFB020"/>
                  </a:solidFill>
                </a:ln>
              </p:spPr>
              <p:txBody>
                <a:bodyPr/>
                <a:lstStyle/>
                <a:p>
                  <a:endParaRPr lang="en-US"/>
                </a:p>
              </p:txBody>
            </p:sp>
          </p:grpSp>
          <p:sp>
            <p:nvSpPr>
              <p:cNvPr id="32" name="TextBox 32"/>
              <p:cNvSpPr txBox="1"/>
              <p:nvPr/>
            </p:nvSpPr>
            <p:spPr>
              <a:xfrm>
                <a:off x="5053965" y="1805940"/>
                <a:ext cx="3330531" cy="365760"/>
              </a:xfrm>
              <a:prstGeom prst="rect">
                <a:avLst/>
              </a:prstGeom>
              <a:noFill/>
              <a:ln>
                <a:noFill/>
              </a:ln>
            </p:spPr>
            <p:txBody>
              <a:bodyPr wrap="none" lIns="0" tIns="0" rIns="0" bIns="0" anchor="t" anchorCtr="0">
                <a:spAutoFit/>
              </a:bodyPr>
              <a:lstStyle/>
              <a:p>
                <a:pPr algn="l"/>
                <a:r>
                  <a:rPr lang="zh-CN" sz="1800" b="1" dirty="0">
                    <a:solidFill>
                      <a:srgbClr val="F4F8FF"/>
                    </a:solidFill>
                    <a:latin typeface="Arial"/>
                    <a:ea typeface="Microsoft YaHei"/>
                    <a:cs typeface="Arial"/>
                  </a:rPr>
                  <a:t>Maintenance Intelligence</a:t>
                </a:r>
              </a:p>
            </p:txBody>
          </p:sp>
          <p:sp>
            <p:nvSpPr>
              <p:cNvPr id="33" name="TextBox 33"/>
              <p:cNvSpPr txBox="1"/>
              <p:nvPr/>
            </p:nvSpPr>
            <p:spPr>
              <a:xfrm>
                <a:off x="4679632" y="2272189"/>
                <a:ext cx="2546271" cy="259080"/>
              </a:xfrm>
              <a:prstGeom prst="rect">
                <a:avLst/>
              </a:prstGeom>
              <a:noFill/>
              <a:ln>
                <a:noFill/>
              </a:ln>
            </p:spPr>
            <p:txBody>
              <a:bodyPr wrap="none" lIns="0" tIns="0" rIns="0" bIns="0" anchor="t" anchorCtr="0">
                <a:spAutoFit/>
              </a:bodyPr>
              <a:lstStyle/>
              <a:p>
                <a:pPr algn="l"/>
                <a:r>
                  <a:rPr lang="zh-CN" sz="1275" dirty="0">
                    <a:solidFill>
                      <a:srgbClr val="A8B7C8"/>
                    </a:solidFill>
                    <a:latin typeface="Arial"/>
                    <a:ea typeface="Microsoft YaHei"/>
                    <a:cs typeface="Arial"/>
                  </a:rPr>
                  <a:t>- Machine health monitoring</a:t>
                </a:r>
              </a:p>
            </p:txBody>
          </p:sp>
          <p:sp>
            <p:nvSpPr>
              <p:cNvPr id="34" name="TextBox 34"/>
              <p:cNvSpPr txBox="1"/>
              <p:nvPr/>
            </p:nvSpPr>
            <p:spPr>
              <a:xfrm>
                <a:off x="4679632" y="2548414"/>
                <a:ext cx="1419677" cy="259080"/>
              </a:xfrm>
              <a:prstGeom prst="rect">
                <a:avLst/>
              </a:prstGeom>
              <a:noFill/>
              <a:ln>
                <a:noFill/>
              </a:ln>
            </p:spPr>
            <p:txBody>
              <a:bodyPr wrap="none" lIns="0" tIns="0" rIns="0" bIns="0" anchor="t" anchorCtr="0">
                <a:spAutoFit/>
              </a:bodyPr>
              <a:lstStyle/>
              <a:p>
                <a:pPr algn="l"/>
                <a:r>
                  <a:rPr lang="zh-CN" sz="1275" dirty="0">
                    <a:solidFill>
                      <a:srgbClr val="A8B7C8"/>
                    </a:solidFill>
                    <a:latin typeface="Arial"/>
                    <a:ea typeface="Microsoft YaHei"/>
                    <a:cs typeface="Arial"/>
                  </a:rPr>
                  <a:t>- PM due alerts</a:t>
                </a:r>
              </a:p>
            </p:txBody>
          </p:sp>
          <p:sp>
            <p:nvSpPr>
              <p:cNvPr id="35" name="TextBox 35"/>
              <p:cNvSpPr txBox="1"/>
              <p:nvPr/>
            </p:nvSpPr>
            <p:spPr>
              <a:xfrm>
                <a:off x="4679632" y="2824639"/>
                <a:ext cx="2127290" cy="259080"/>
              </a:xfrm>
              <a:prstGeom prst="rect">
                <a:avLst/>
              </a:prstGeom>
              <a:noFill/>
              <a:ln>
                <a:noFill/>
              </a:ln>
            </p:spPr>
            <p:txBody>
              <a:bodyPr wrap="none" lIns="0" tIns="0" rIns="0" bIns="0" anchor="t" anchorCtr="0">
                <a:spAutoFit/>
              </a:bodyPr>
              <a:lstStyle/>
              <a:p>
                <a:pPr algn="l"/>
                <a:r>
                  <a:rPr lang="zh-CN" sz="1275" dirty="0">
                    <a:solidFill>
                      <a:srgbClr val="A8B7C8"/>
                    </a:solidFill>
                    <a:latin typeface="Arial"/>
                    <a:ea typeface="Microsoft YaHei"/>
                    <a:cs typeface="Arial"/>
                  </a:rPr>
                  <a:t>- MTTR / MTBF tracking</a:t>
                </a:r>
              </a:p>
            </p:txBody>
          </p:sp>
          <p:sp>
            <p:nvSpPr>
              <p:cNvPr id="36" name="TextBox 36"/>
              <p:cNvSpPr txBox="1"/>
              <p:nvPr/>
            </p:nvSpPr>
            <p:spPr>
              <a:xfrm>
                <a:off x="4679632" y="3100864"/>
                <a:ext cx="2834902" cy="259080"/>
              </a:xfrm>
              <a:prstGeom prst="rect">
                <a:avLst/>
              </a:prstGeom>
              <a:noFill/>
              <a:ln>
                <a:noFill/>
              </a:ln>
            </p:spPr>
            <p:txBody>
              <a:bodyPr wrap="none" lIns="0" tIns="0" rIns="0" bIns="0" anchor="t" anchorCtr="0">
                <a:spAutoFit/>
              </a:bodyPr>
              <a:lstStyle/>
              <a:p>
                <a:pPr algn="l"/>
                <a:r>
                  <a:rPr lang="zh-CN" sz="1275" dirty="0">
                    <a:solidFill>
                      <a:srgbClr val="A8B7C8"/>
                    </a:solidFill>
                    <a:latin typeface="Arial"/>
                    <a:ea typeface="Microsoft YaHei"/>
                    <a:cs typeface="Arial"/>
                  </a:rPr>
                  <a:t>- Equipment reliability insights</a:t>
                </a:r>
              </a:p>
            </p:txBody>
          </p:sp>
          <p:sp>
            <p:nvSpPr>
              <p:cNvPr id="37" name="Freeform 37"/>
              <p:cNvSpPr/>
              <p:nvPr/>
            </p:nvSpPr>
            <p:spPr>
              <a:xfrm>
                <a:off x="4619625" y="4133850"/>
                <a:ext cx="2952750" cy="1123950"/>
              </a:xfrm>
              <a:custGeom>
                <a:avLst/>
                <a:gdLst/>
                <a:ahLst/>
                <a:cxnLst/>
                <a:rect l="l" t="t" r="r" b="b"/>
                <a:pathLst>
                  <a:path w="2952750" h="1123950">
                    <a:moveTo>
                      <a:pt x="76200" y="0"/>
                    </a:moveTo>
                    <a:lnTo>
                      <a:pt x="2876550" y="0"/>
                    </a:lnTo>
                    <a:cubicBezTo>
                      <a:pt x="2918634" y="0"/>
                      <a:pt x="2952750" y="34116"/>
                      <a:pt x="2952750" y="76200"/>
                    </a:cubicBezTo>
                    <a:lnTo>
                      <a:pt x="2952750" y="1047750"/>
                    </a:lnTo>
                    <a:cubicBezTo>
                      <a:pt x="2952750" y="1089834"/>
                      <a:pt x="2918634" y="1123950"/>
                      <a:pt x="2876550" y="1123950"/>
                    </a:cubicBezTo>
                    <a:lnTo>
                      <a:pt x="76200" y="1123950"/>
                    </a:lnTo>
                    <a:cubicBezTo>
                      <a:pt x="34116" y="1123950"/>
                      <a:pt x="0" y="1089834"/>
                      <a:pt x="0" y="1047750"/>
                    </a:cubicBezTo>
                    <a:lnTo>
                      <a:pt x="0" y="76200"/>
                    </a:lnTo>
                    <a:cubicBezTo>
                      <a:pt x="0" y="34116"/>
                      <a:pt x="34116" y="0"/>
                      <a:pt x="76200" y="0"/>
                    </a:cubicBezTo>
                    <a:close/>
                  </a:path>
                </a:pathLst>
              </a:custGeom>
              <a:solidFill>
                <a:srgbClr val="0E1D2E"/>
              </a:solidFill>
              <a:ln w="9525">
                <a:solidFill>
                  <a:srgbClr val="294157"/>
                </a:solidFill>
              </a:ln>
            </p:spPr>
            <p:txBody>
              <a:bodyPr/>
              <a:lstStyle/>
              <a:p>
                <a:endParaRPr lang="en-US"/>
              </a:p>
            </p:txBody>
          </p:sp>
          <p:pic>
            <p:nvPicPr>
              <p:cNvPr id="38" name="Image 38"/>
              <p:cNvPicPr>
                <a:picLocks noChangeAspect="1"/>
              </p:cNvPicPr>
              <p:nvPr/>
            </p:nvPicPr>
            <p:blipFill>
              <a:blip r:embed="rId4"/>
              <a:stretch>
                <a:fillRect/>
              </a:stretch>
            </p:blipFill>
            <p:spPr>
              <a:xfrm>
                <a:off x="5086540" y="4210050"/>
                <a:ext cx="2018824" cy="971550"/>
              </a:xfrm>
              <a:prstGeom prst="rect">
                <a:avLst/>
              </a:prstGeom>
            </p:spPr>
          </p:pic>
        </p:grpSp>
        <p:grpSp>
          <p:nvGrpSpPr>
            <p:cNvPr id="54" name="Group 54"/>
            <p:cNvGrpSpPr/>
            <p:nvPr/>
          </p:nvGrpSpPr>
          <p:grpSpPr>
            <a:xfrm>
              <a:off x="8248650" y="1504950"/>
              <a:ext cx="3965867" cy="4095750"/>
              <a:chOff x="8248650" y="1504950"/>
              <a:chExt cx="3965867" cy="4095750"/>
            </a:xfrm>
          </p:grpSpPr>
          <p:sp>
            <p:nvSpPr>
              <p:cNvPr id="40" name="Freeform 40"/>
              <p:cNvSpPr/>
              <p:nvPr/>
            </p:nvSpPr>
            <p:spPr>
              <a:xfrm>
                <a:off x="8248650" y="1504950"/>
                <a:ext cx="3409950" cy="4095750"/>
              </a:xfrm>
              <a:custGeom>
                <a:avLst/>
                <a:gdLst/>
                <a:ahLst/>
                <a:cxnLst/>
                <a:rect l="l" t="t" r="r" b="b"/>
                <a:pathLst>
                  <a:path w="3409950" h="4095750">
                    <a:moveTo>
                      <a:pt x="133350" y="0"/>
                    </a:moveTo>
                    <a:lnTo>
                      <a:pt x="3276600" y="0"/>
                    </a:lnTo>
                    <a:cubicBezTo>
                      <a:pt x="3350247" y="0"/>
                      <a:pt x="3409950" y="59703"/>
                      <a:pt x="3409950" y="133350"/>
                    </a:cubicBezTo>
                    <a:lnTo>
                      <a:pt x="3409950" y="3962400"/>
                    </a:lnTo>
                    <a:cubicBezTo>
                      <a:pt x="3409950" y="4036047"/>
                      <a:pt x="3350247" y="4095750"/>
                      <a:pt x="3276600" y="4095750"/>
                    </a:cubicBezTo>
                    <a:lnTo>
                      <a:pt x="133350" y="4095750"/>
                    </a:lnTo>
                    <a:cubicBezTo>
                      <a:pt x="59703" y="4095750"/>
                      <a:pt x="0" y="4036047"/>
                      <a:pt x="0" y="3962400"/>
                    </a:cubicBezTo>
                    <a:lnTo>
                      <a:pt x="0" y="133350"/>
                    </a:lnTo>
                    <a:cubicBezTo>
                      <a:pt x="0" y="59703"/>
                      <a:pt x="59703" y="0"/>
                      <a:pt x="133350" y="0"/>
                    </a:cubicBezTo>
                    <a:close/>
                  </a:path>
                </a:pathLst>
              </a:custGeom>
              <a:solidFill>
                <a:srgbClr val="12263A"/>
              </a:solidFill>
              <a:ln w="9525">
                <a:solidFill>
                  <a:srgbClr val="294157"/>
                </a:solidFill>
              </a:ln>
            </p:spPr>
            <p:txBody>
              <a:bodyPr/>
              <a:lstStyle/>
              <a:p>
                <a:endParaRPr lang="en-US"/>
              </a:p>
            </p:txBody>
          </p:sp>
          <p:sp>
            <p:nvSpPr>
              <p:cNvPr id="41" name="Freeform 41"/>
              <p:cNvSpPr/>
              <p:nvPr/>
            </p:nvSpPr>
            <p:spPr>
              <a:xfrm>
                <a:off x="8248650" y="1504950"/>
                <a:ext cx="57150" cy="4095750"/>
              </a:xfrm>
              <a:custGeom>
                <a:avLst/>
                <a:gdLst/>
                <a:ahLst/>
                <a:cxnLst/>
                <a:rect l="l" t="t" r="r" b="b"/>
                <a:pathLst>
                  <a:path w="57150" h="4095750">
                    <a:moveTo>
                      <a:pt x="28575" y="0"/>
                    </a:moveTo>
                    <a:lnTo>
                      <a:pt x="28575" y="0"/>
                    </a:lnTo>
                    <a:cubicBezTo>
                      <a:pt x="44357" y="0"/>
                      <a:pt x="57150" y="12793"/>
                      <a:pt x="57150" y="28575"/>
                    </a:cubicBezTo>
                    <a:lnTo>
                      <a:pt x="57150" y="4067175"/>
                    </a:lnTo>
                    <a:cubicBezTo>
                      <a:pt x="57150" y="4082957"/>
                      <a:pt x="44357" y="4095750"/>
                      <a:pt x="28575" y="4095750"/>
                    </a:cubicBezTo>
                    <a:lnTo>
                      <a:pt x="28575" y="4095750"/>
                    </a:lnTo>
                    <a:cubicBezTo>
                      <a:pt x="12793" y="4095750"/>
                      <a:pt x="0" y="4082957"/>
                      <a:pt x="0" y="4067175"/>
                    </a:cubicBezTo>
                    <a:lnTo>
                      <a:pt x="0" y="28575"/>
                    </a:lnTo>
                    <a:cubicBezTo>
                      <a:pt x="0" y="12793"/>
                      <a:pt x="12793" y="0"/>
                      <a:pt x="28575" y="0"/>
                    </a:cubicBezTo>
                    <a:close/>
                  </a:path>
                </a:pathLst>
              </a:custGeom>
              <a:solidFill>
                <a:srgbClr val="18E0A8"/>
              </a:solidFill>
              <a:ln>
                <a:noFill/>
              </a:ln>
            </p:spPr>
            <p:txBody>
              <a:bodyPr/>
              <a:lstStyle/>
              <a:p>
                <a:endParaRPr lang="en-US"/>
              </a:p>
            </p:txBody>
          </p:sp>
          <p:grpSp>
            <p:nvGrpSpPr>
              <p:cNvPr id="46" name="Group 46"/>
              <p:cNvGrpSpPr/>
              <p:nvPr/>
            </p:nvGrpSpPr>
            <p:grpSpPr>
              <a:xfrm>
                <a:off x="8520112" y="1790700"/>
                <a:ext cx="257175" cy="238125"/>
                <a:chOff x="8520112" y="1790700"/>
                <a:chExt cx="257175" cy="238125"/>
              </a:xfrm>
            </p:grpSpPr>
            <p:sp>
              <p:nvSpPr>
                <p:cNvPr id="42" name="Freeform 42"/>
                <p:cNvSpPr/>
                <p:nvPr/>
              </p:nvSpPr>
              <p:spPr>
                <a:xfrm>
                  <a:off x="8520112" y="1905000"/>
                  <a:ext cx="85725" cy="114300"/>
                </a:xfrm>
                <a:custGeom>
                  <a:avLst/>
                  <a:gdLst/>
                  <a:ahLst/>
                  <a:cxnLst/>
                  <a:rect l="l" t="t" r="r" b="b"/>
                  <a:pathLst>
                    <a:path w="85725" h="114300">
                      <a:moveTo>
                        <a:pt x="0" y="14288"/>
                      </a:moveTo>
                      <a:cubicBezTo>
                        <a:pt x="0" y="6397"/>
                        <a:pt x="6397" y="0"/>
                        <a:pt x="14288" y="0"/>
                      </a:cubicBezTo>
                      <a:lnTo>
                        <a:pt x="71438" y="0"/>
                      </a:lnTo>
                      <a:cubicBezTo>
                        <a:pt x="79328" y="0"/>
                        <a:pt x="85725" y="6397"/>
                        <a:pt x="85725" y="14288"/>
                      </a:cubicBezTo>
                      <a:lnTo>
                        <a:pt x="85725" y="100012"/>
                      </a:lnTo>
                      <a:cubicBezTo>
                        <a:pt x="85725" y="107903"/>
                        <a:pt x="79328" y="114300"/>
                        <a:pt x="71438" y="114300"/>
                      </a:cubicBezTo>
                      <a:lnTo>
                        <a:pt x="14288" y="114300"/>
                      </a:lnTo>
                      <a:cubicBezTo>
                        <a:pt x="6397" y="114300"/>
                        <a:pt x="0" y="107903"/>
                        <a:pt x="0" y="100012"/>
                      </a:cubicBezTo>
                      <a:lnTo>
                        <a:pt x="0" y="14288"/>
                      </a:lnTo>
                    </a:path>
                  </a:pathLst>
                </a:custGeom>
                <a:noFill/>
                <a:ln w="19050">
                  <a:solidFill>
                    <a:srgbClr val="18E0A8"/>
                  </a:solidFill>
                </a:ln>
              </p:spPr>
              <p:txBody>
                <a:bodyPr/>
                <a:lstStyle/>
                <a:p>
                  <a:endParaRPr lang="en-US"/>
                </a:p>
              </p:txBody>
            </p:sp>
            <p:sp>
              <p:nvSpPr>
                <p:cNvPr id="43" name="Freeform 43"/>
                <p:cNvSpPr/>
                <p:nvPr/>
              </p:nvSpPr>
              <p:spPr>
                <a:xfrm>
                  <a:off x="8691562" y="1847850"/>
                  <a:ext cx="85725" cy="171450"/>
                </a:xfrm>
                <a:custGeom>
                  <a:avLst/>
                  <a:gdLst/>
                  <a:ahLst/>
                  <a:cxnLst/>
                  <a:rect l="l" t="t" r="r" b="b"/>
                  <a:pathLst>
                    <a:path w="85725" h="171450">
                      <a:moveTo>
                        <a:pt x="0" y="14288"/>
                      </a:moveTo>
                      <a:cubicBezTo>
                        <a:pt x="0" y="6397"/>
                        <a:pt x="6397" y="0"/>
                        <a:pt x="14288" y="0"/>
                      </a:cubicBezTo>
                      <a:lnTo>
                        <a:pt x="71438" y="0"/>
                      </a:lnTo>
                      <a:cubicBezTo>
                        <a:pt x="79328" y="0"/>
                        <a:pt x="85725" y="6397"/>
                        <a:pt x="85725" y="14288"/>
                      </a:cubicBezTo>
                      <a:lnTo>
                        <a:pt x="85725" y="157162"/>
                      </a:lnTo>
                      <a:cubicBezTo>
                        <a:pt x="85725" y="165053"/>
                        <a:pt x="79328" y="171450"/>
                        <a:pt x="71438" y="171450"/>
                      </a:cubicBezTo>
                      <a:lnTo>
                        <a:pt x="14288" y="171450"/>
                      </a:lnTo>
                      <a:cubicBezTo>
                        <a:pt x="6397" y="171450"/>
                        <a:pt x="0" y="165053"/>
                        <a:pt x="0" y="157162"/>
                      </a:cubicBezTo>
                      <a:lnTo>
                        <a:pt x="0" y="14288"/>
                      </a:lnTo>
                    </a:path>
                  </a:pathLst>
                </a:custGeom>
                <a:noFill/>
                <a:ln w="19050">
                  <a:solidFill>
                    <a:srgbClr val="18E0A8"/>
                  </a:solidFill>
                </a:ln>
              </p:spPr>
              <p:txBody>
                <a:bodyPr/>
                <a:lstStyle/>
                <a:p>
                  <a:endParaRPr lang="en-US"/>
                </a:p>
              </p:txBody>
            </p:sp>
            <p:sp>
              <p:nvSpPr>
                <p:cNvPr id="44" name="Freeform 44"/>
                <p:cNvSpPr/>
                <p:nvPr/>
              </p:nvSpPr>
              <p:spPr>
                <a:xfrm>
                  <a:off x="8605838" y="1790700"/>
                  <a:ext cx="85725" cy="228600"/>
                </a:xfrm>
                <a:custGeom>
                  <a:avLst/>
                  <a:gdLst/>
                  <a:ahLst/>
                  <a:cxnLst/>
                  <a:rect l="l" t="t" r="r" b="b"/>
                  <a:pathLst>
                    <a:path w="85725" h="228600">
                      <a:moveTo>
                        <a:pt x="0" y="14288"/>
                      </a:moveTo>
                      <a:cubicBezTo>
                        <a:pt x="0" y="6397"/>
                        <a:pt x="6397" y="0"/>
                        <a:pt x="14288" y="0"/>
                      </a:cubicBezTo>
                      <a:lnTo>
                        <a:pt x="71438" y="0"/>
                      </a:lnTo>
                      <a:cubicBezTo>
                        <a:pt x="79328" y="0"/>
                        <a:pt x="85725" y="6397"/>
                        <a:pt x="85725" y="14288"/>
                      </a:cubicBezTo>
                      <a:lnTo>
                        <a:pt x="85725" y="214312"/>
                      </a:lnTo>
                      <a:cubicBezTo>
                        <a:pt x="85725" y="222203"/>
                        <a:pt x="79328" y="228600"/>
                        <a:pt x="71438" y="228600"/>
                      </a:cubicBezTo>
                      <a:lnTo>
                        <a:pt x="14288" y="228600"/>
                      </a:lnTo>
                      <a:cubicBezTo>
                        <a:pt x="6397" y="228600"/>
                        <a:pt x="0" y="222203"/>
                        <a:pt x="0" y="214312"/>
                      </a:cubicBezTo>
                      <a:lnTo>
                        <a:pt x="0" y="14288"/>
                      </a:lnTo>
                    </a:path>
                  </a:pathLst>
                </a:custGeom>
                <a:noFill/>
                <a:ln w="19050">
                  <a:solidFill>
                    <a:srgbClr val="18E0A8"/>
                  </a:solidFill>
                </a:ln>
              </p:spPr>
              <p:txBody>
                <a:bodyPr/>
                <a:lstStyle/>
                <a:p>
                  <a:endParaRPr lang="en-US"/>
                </a:p>
              </p:txBody>
            </p:sp>
            <p:sp>
              <p:nvSpPr>
                <p:cNvPr id="45" name="Freeform 45"/>
                <p:cNvSpPr/>
                <p:nvPr/>
              </p:nvSpPr>
              <p:spPr>
                <a:xfrm>
                  <a:off x="8534400" y="2019300"/>
                  <a:ext cx="200025" cy="9525"/>
                </a:xfrm>
                <a:custGeom>
                  <a:avLst/>
                  <a:gdLst/>
                  <a:ahLst/>
                  <a:cxnLst/>
                  <a:rect l="l" t="t" r="r" b="b"/>
                  <a:pathLst>
                    <a:path w="200025" h="9525">
                      <a:moveTo>
                        <a:pt x="0" y="0"/>
                      </a:moveTo>
                      <a:lnTo>
                        <a:pt x="200025" y="0"/>
                      </a:lnTo>
                    </a:path>
                  </a:pathLst>
                </a:custGeom>
                <a:noFill/>
                <a:ln w="19050">
                  <a:solidFill>
                    <a:srgbClr val="18E0A8"/>
                  </a:solidFill>
                </a:ln>
              </p:spPr>
              <p:txBody>
                <a:bodyPr/>
                <a:lstStyle/>
                <a:p>
                  <a:endParaRPr lang="en-US"/>
                </a:p>
              </p:txBody>
            </p:sp>
          </p:grpSp>
          <p:sp>
            <p:nvSpPr>
              <p:cNvPr id="47" name="TextBox 47"/>
              <p:cNvSpPr txBox="1"/>
              <p:nvPr/>
            </p:nvSpPr>
            <p:spPr>
              <a:xfrm>
                <a:off x="8911590" y="1805940"/>
                <a:ext cx="3302927" cy="365760"/>
              </a:xfrm>
              <a:prstGeom prst="rect">
                <a:avLst/>
              </a:prstGeom>
              <a:noFill/>
              <a:ln>
                <a:noFill/>
              </a:ln>
            </p:spPr>
            <p:txBody>
              <a:bodyPr wrap="none" lIns="0" tIns="0" rIns="0" bIns="0" anchor="t" anchorCtr="0">
                <a:spAutoFit/>
              </a:bodyPr>
              <a:lstStyle/>
              <a:p>
                <a:pPr algn="l"/>
                <a:r>
                  <a:rPr lang="zh-CN" sz="1800" b="1" dirty="0">
                    <a:solidFill>
                      <a:srgbClr val="F4F8FF"/>
                    </a:solidFill>
                    <a:latin typeface="Arial"/>
                    <a:ea typeface="Microsoft YaHei"/>
                    <a:cs typeface="Arial"/>
                  </a:rPr>
                  <a:t>Management Intelligence</a:t>
                </a:r>
              </a:p>
            </p:txBody>
          </p:sp>
          <p:sp>
            <p:nvSpPr>
              <p:cNvPr id="48" name="TextBox 48"/>
              <p:cNvSpPr txBox="1"/>
              <p:nvPr/>
            </p:nvSpPr>
            <p:spPr>
              <a:xfrm>
                <a:off x="8537258" y="2272189"/>
                <a:ext cx="2462474" cy="259080"/>
              </a:xfrm>
              <a:prstGeom prst="rect">
                <a:avLst/>
              </a:prstGeom>
              <a:noFill/>
              <a:ln>
                <a:noFill/>
              </a:ln>
            </p:spPr>
            <p:txBody>
              <a:bodyPr wrap="none" lIns="0" tIns="0" rIns="0" bIns="0" anchor="t" anchorCtr="0">
                <a:spAutoFit/>
              </a:bodyPr>
              <a:lstStyle/>
              <a:p>
                <a:pPr algn="l"/>
                <a:r>
                  <a:rPr lang="zh-CN" sz="1275" dirty="0">
                    <a:solidFill>
                      <a:srgbClr val="A8B7C8"/>
                    </a:solidFill>
                    <a:latin typeface="Arial"/>
                    <a:ea typeface="Microsoft YaHei"/>
                    <a:cs typeface="Arial"/>
                  </a:rPr>
                  <a:t>- Production KPI dashboard</a:t>
                </a:r>
              </a:p>
            </p:txBody>
          </p:sp>
          <p:sp>
            <p:nvSpPr>
              <p:cNvPr id="49" name="TextBox 49"/>
              <p:cNvSpPr txBox="1"/>
              <p:nvPr/>
            </p:nvSpPr>
            <p:spPr>
              <a:xfrm>
                <a:off x="8537258" y="2548414"/>
                <a:ext cx="1559338" cy="259080"/>
              </a:xfrm>
              <a:prstGeom prst="rect">
                <a:avLst/>
              </a:prstGeom>
              <a:noFill/>
              <a:ln>
                <a:noFill/>
              </a:ln>
            </p:spPr>
            <p:txBody>
              <a:bodyPr wrap="none" lIns="0" tIns="0" rIns="0" bIns="0" anchor="t" anchorCtr="0">
                <a:spAutoFit/>
              </a:bodyPr>
              <a:lstStyle/>
              <a:p>
                <a:pPr algn="l"/>
                <a:r>
                  <a:rPr lang="zh-CN" sz="1275" dirty="0">
                    <a:solidFill>
                      <a:srgbClr val="A8B7C8"/>
                    </a:solidFill>
                    <a:latin typeface="Arial"/>
                    <a:ea typeface="Microsoft YaHei"/>
                    <a:cs typeface="Arial"/>
                  </a:rPr>
                  <a:t>- OEE monitoring</a:t>
                </a:r>
              </a:p>
            </p:txBody>
          </p:sp>
          <p:sp>
            <p:nvSpPr>
              <p:cNvPr id="50" name="TextBox 50"/>
              <p:cNvSpPr txBox="1"/>
              <p:nvPr/>
            </p:nvSpPr>
            <p:spPr>
              <a:xfrm>
                <a:off x="8537258" y="2824639"/>
                <a:ext cx="1838658" cy="259080"/>
              </a:xfrm>
              <a:prstGeom prst="rect">
                <a:avLst/>
              </a:prstGeom>
              <a:noFill/>
              <a:ln>
                <a:noFill/>
              </a:ln>
            </p:spPr>
            <p:txBody>
              <a:bodyPr wrap="none" lIns="0" tIns="0" rIns="0" bIns="0" anchor="t" anchorCtr="0">
                <a:spAutoFit/>
              </a:bodyPr>
              <a:lstStyle/>
              <a:p>
                <a:pPr algn="l"/>
                <a:r>
                  <a:rPr lang="zh-CN" sz="1275" dirty="0">
                    <a:solidFill>
                      <a:srgbClr val="A8B7C8"/>
                    </a:solidFill>
                    <a:latin typeface="Arial"/>
                    <a:ea typeface="Microsoft YaHei"/>
                    <a:cs typeface="Arial"/>
                  </a:rPr>
                  <a:t>- Progress tracking</a:t>
                </a:r>
              </a:p>
            </p:txBody>
          </p:sp>
          <p:sp>
            <p:nvSpPr>
              <p:cNvPr id="51" name="TextBox 51"/>
              <p:cNvSpPr txBox="1"/>
              <p:nvPr/>
            </p:nvSpPr>
            <p:spPr>
              <a:xfrm>
                <a:off x="8537258" y="3100864"/>
                <a:ext cx="2369368" cy="259080"/>
              </a:xfrm>
              <a:prstGeom prst="rect">
                <a:avLst/>
              </a:prstGeom>
              <a:noFill/>
              <a:ln>
                <a:noFill/>
              </a:ln>
            </p:spPr>
            <p:txBody>
              <a:bodyPr wrap="none" lIns="0" tIns="0" rIns="0" bIns="0" anchor="t" anchorCtr="0">
                <a:spAutoFit/>
              </a:bodyPr>
              <a:lstStyle/>
              <a:p>
                <a:pPr algn="l"/>
                <a:r>
                  <a:rPr lang="zh-CN" sz="1275" dirty="0">
                    <a:solidFill>
                      <a:srgbClr val="A8B7C8"/>
                    </a:solidFill>
                    <a:latin typeface="Arial"/>
                    <a:ea typeface="Microsoft YaHei"/>
                    <a:cs typeface="Arial"/>
                  </a:rPr>
                  <a:t>- Executive-level insights</a:t>
                </a:r>
              </a:p>
            </p:txBody>
          </p:sp>
          <p:sp>
            <p:nvSpPr>
              <p:cNvPr id="52" name="Freeform 52"/>
              <p:cNvSpPr/>
              <p:nvPr/>
            </p:nvSpPr>
            <p:spPr>
              <a:xfrm>
                <a:off x="8477250" y="4133850"/>
                <a:ext cx="2952750" cy="1123950"/>
              </a:xfrm>
              <a:custGeom>
                <a:avLst/>
                <a:gdLst/>
                <a:ahLst/>
                <a:cxnLst/>
                <a:rect l="l" t="t" r="r" b="b"/>
                <a:pathLst>
                  <a:path w="2952750" h="1123950">
                    <a:moveTo>
                      <a:pt x="76200" y="0"/>
                    </a:moveTo>
                    <a:lnTo>
                      <a:pt x="2876550" y="0"/>
                    </a:lnTo>
                    <a:cubicBezTo>
                      <a:pt x="2918634" y="0"/>
                      <a:pt x="2952750" y="34116"/>
                      <a:pt x="2952750" y="76200"/>
                    </a:cubicBezTo>
                    <a:lnTo>
                      <a:pt x="2952750" y="1047750"/>
                    </a:lnTo>
                    <a:cubicBezTo>
                      <a:pt x="2952750" y="1089834"/>
                      <a:pt x="2918634" y="1123950"/>
                      <a:pt x="2876550" y="1123950"/>
                    </a:cubicBezTo>
                    <a:lnTo>
                      <a:pt x="76200" y="1123950"/>
                    </a:lnTo>
                    <a:cubicBezTo>
                      <a:pt x="34116" y="1123950"/>
                      <a:pt x="0" y="1089834"/>
                      <a:pt x="0" y="1047750"/>
                    </a:cubicBezTo>
                    <a:lnTo>
                      <a:pt x="0" y="76200"/>
                    </a:lnTo>
                    <a:cubicBezTo>
                      <a:pt x="0" y="34116"/>
                      <a:pt x="34116" y="0"/>
                      <a:pt x="76200" y="0"/>
                    </a:cubicBezTo>
                    <a:close/>
                  </a:path>
                </a:pathLst>
              </a:custGeom>
              <a:solidFill>
                <a:srgbClr val="0E1D2E"/>
              </a:solidFill>
              <a:ln w="9525">
                <a:solidFill>
                  <a:srgbClr val="294157"/>
                </a:solidFill>
              </a:ln>
            </p:spPr>
            <p:txBody>
              <a:bodyPr/>
              <a:lstStyle/>
              <a:p>
                <a:endParaRPr lang="en-US"/>
              </a:p>
            </p:txBody>
          </p:sp>
          <p:pic>
            <p:nvPicPr>
              <p:cNvPr id="53" name="Image 53"/>
              <p:cNvPicPr>
                <a:picLocks noChangeAspect="1"/>
              </p:cNvPicPr>
              <p:nvPr/>
            </p:nvPicPr>
            <p:blipFill>
              <a:blip r:embed="rId5"/>
              <a:stretch>
                <a:fillRect/>
              </a:stretch>
            </p:blipFill>
            <p:spPr>
              <a:xfrm>
                <a:off x="8942451" y="4210050"/>
                <a:ext cx="2022348" cy="971550"/>
              </a:xfrm>
              <a:prstGeom prst="rect">
                <a:avLst/>
              </a:prstGeom>
            </p:spPr>
          </p:pic>
        </p:grpSp>
      </p:grpSp>
      <p:grpSp>
        <p:nvGrpSpPr>
          <p:cNvPr id="57" name="Group 57"/>
          <p:cNvGrpSpPr/>
          <p:nvPr/>
        </p:nvGrpSpPr>
        <p:grpSpPr>
          <a:xfrm>
            <a:off x="1663489" y="5854065"/>
            <a:ext cx="8865022" cy="365760"/>
            <a:chOff x="1663489" y="5854065"/>
            <a:chExt cx="8865022" cy="365760"/>
          </a:xfrm>
        </p:grpSpPr>
        <p:sp>
          <p:nvSpPr>
            <p:cNvPr id="56" name="TextBox 56"/>
            <p:cNvSpPr txBox="1"/>
            <p:nvPr/>
          </p:nvSpPr>
          <p:spPr>
            <a:xfrm>
              <a:off x="1663489" y="5854065"/>
              <a:ext cx="8865022" cy="365760"/>
            </a:xfrm>
            <a:prstGeom prst="rect">
              <a:avLst/>
            </a:prstGeom>
            <a:noFill/>
            <a:ln>
              <a:noFill/>
            </a:ln>
          </p:spPr>
          <p:txBody>
            <a:bodyPr wrap="none" lIns="0" tIns="0" rIns="0" bIns="0" anchor="t" anchorCtr="0">
              <a:spAutoFit/>
            </a:bodyPr>
            <a:lstStyle/>
            <a:p>
              <a:pPr algn="ctr"/>
              <a:r>
                <a:rPr lang="zh-CN" sz="1800" b="1" dirty="0">
                  <a:solidFill>
                    <a:srgbClr val="F4F8FF"/>
                  </a:solidFill>
                  <a:latin typeface="Arial"/>
                  <a:ea typeface="Microsoft YaHei"/>
                  <a:cs typeface="Arial"/>
                </a:rPr>
                <a:t>Operational intelligence tailored to the decisions each role owns.</a:t>
              </a:r>
            </a:p>
          </p:txBody>
        </p:sp>
      </p:grpSp>
      <p:grpSp>
        <p:nvGrpSpPr>
          <p:cNvPr id="61" name="Group 61"/>
          <p:cNvGrpSpPr/>
          <p:nvPr/>
        </p:nvGrpSpPr>
        <p:grpSpPr>
          <a:xfrm>
            <a:off x="520065" y="6419850"/>
            <a:ext cx="11151870" cy="347662"/>
            <a:chOff x="520065" y="6419850"/>
            <a:chExt cx="11151870" cy="347662"/>
          </a:xfrm>
        </p:grpSpPr>
        <p:sp>
          <p:nvSpPr>
            <p:cNvPr id="58" name="Line 58"/>
            <p:cNvSpPr/>
            <p:nvPr/>
          </p:nvSpPr>
          <p:spPr>
            <a:xfrm>
              <a:off x="533400" y="6419850"/>
              <a:ext cx="11125200" cy="9525"/>
            </a:xfrm>
            <a:custGeom>
              <a:avLst/>
              <a:gdLst/>
              <a:ahLst/>
              <a:cxnLst/>
              <a:rect l="l" t="t" r="r" b="b"/>
              <a:pathLst>
                <a:path w="11125200" h="9525">
                  <a:moveTo>
                    <a:pt x="0" y="0"/>
                  </a:moveTo>
                  <a:lnTo>
                    <a:pt x="11125200" y="0"/>
                  </a:lnTo>
                </a:path>
              </a:pathLst>
            </a:custGeom>
            <a:noFill/>
            <a:ln w="9525">
              <a:solidFill>
                <a:srgbClr val="294157">
                  <a:alpha val="75000"/>
                </a:srgbClr>
              </a:solidFill>
            </a:ln>
          </p:spPr>
          <p:txBody>
            <a:bodyPr/>
            <a:lstStyle/>
            <a:p>
              <a:endParaRPr lang="en-US"/>
            </a:p>
          </p:txBody>
        </p:sp>
        <p:sp>
          <p:nvSpPr>
            <p:cNvPr id="59" name="TextBox 59"/>
            <p:cNvSpPr txBox="1"/>
            <p:nvPr/>
          </p:nvSpPr>
          <p:spPr>
            <a:xfrm>
              <a:off x="520065" y="6554152"/>
              <a:ext cx="3576780" cy="213360"/>
            </a:xfrm>
            <a:prstGeom prst="rect">
              <a:avLst/>
            </a:prstGeom>
            <a:noFill/>
            <a:ln>
              <a:noFill/>
            </a:ln>
          </p:spPr>
          <p:txBody>
            <a:bodyPr wrap="none" lIns="0" tIns="0" rIns="0" bIns="0" anchor="t" anchorCtr="0">
              <a:spAutoFit/>
            </a:bodyPr>
            <a:lstStyle/>
            <a:p>
              <a:pPr algn="l"/>
              <a:r>
                <a:rPr lang="zh-CN" sz="1050" dirty="0">
                  <a:solidFill>
                    <a:srgbClr val="708195"/>
                  </a:solidFill>
                  <a:latin typeface="Arial"/>
                  <a:ea typeface="Microsoft YaHei"/>
                  <a:cs typeface="Arial"/>
                </a:rPr>
                <a:t>One platform. Three operational perspectives.</a:t>
              </a:r>
            </a:p>
          </p:txBody>
        </p:sp>
        <p:sp>
          <p:nvSpPr>
            <p:cNvPr id="60" name="TextBox 60"/>
            <p:cNvSpPr txBox="1"/>
            <p:nvPr/>
          </p:nvSpPr>
          <p:spPr>
            <a:xfrm>
              <a:off x="8739235" y="6554152"/>
              <a:ext cx="2932700" cy="213360"/>
            </a:xfrm>
            <a:prstGeom prst="rect">
              <a:avLst/>
            </a:prstGeom>
            <a:noFill/>
            <a:ln>
              <a:noFill/>
            </a:ln>
          </p:spPr>
          <p:txBody>
            <a:bodyPr wrap="none" lIns="0" tIns="0" rIns="0" bIns="0" anchor="t" anchorCtr="0">
              <a:spAutoFit/>
            </a:bodyPr>
            <a:lstStyle/>
            <a:p>
              <a:pPr algn="r"/>
              <a:r>
                <a:rPr lang="zh-CN" sz="1050" dirty="0">
                  <a:solidFill>
                    <a:srgbClr val="708195"/>
                  </a:solidFill>
                  <a:latin typeface="Arial"/>
                  <a:ea typeface="Microsoft YaHei"/>
                  <a:cs typeface="Arial"/>
                </a:rPr>
                <a:t>Production | Maintenance | Management</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400"/>
                                        <p:tgtEl>
                                          <p:spTgt spid="55"/>
                                        </p:tgtEl>
                                      </p:cBhvr>
                                    </p:animEffect>
                                  </p:childTnLst>
                                </p:cTn>
                              </p:par>
                            </p:childTnLst>
                          </p:cTn>
                        </p:par>
                        <p:par>
                          <p:cTn id="8" fill="hold">
                            <p:stCondLst>
                              <p:cond delay="900"/>
                            </p:stCondLst>
                            <p:childTnLst>
                              <p:par>
                                <p:cTn id="9" presetID="9" presetClass="entr" presetSubtype="0" fill="hold" nodeType="afterEffect">
                                  <p:stCondLst>
                                    <p:cond delay="0"/>
                                  </p:stCondLst>
                                  <p:childTnLst>
                                    <p:set>
                                      <p:cBhvr>
                                        <p:cTn id="10" dur="1" fill="hold">
                                          <p:stCondLst>
                                            <p:cond delay="0"/>
                                          </p:stCondLst>
                                        </p:cTn>
                                        <p:tgtEl>
                                          <p:spTgt spid="57"/>
                                        </p:tgtEl>
                                        <p:attrNameLst>
                                          <p:attrName>style.visibility</p:attrName>
                                        </p:attrNameLst>
                                      </p:cBhvr>
                                      <p:to>
                                        <p:strVal val="visible"/>
                                      </p:to>
                                    </p:set>
                                    <p:animEffect transition="in" filter="dissolve">
                                      <p:cBhvr>
                                        <p:cTn id="11" dur="4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8775" y="30916"/>
            <a:ext cx="12192000" cy="6858000"/>
          </a:xfrm>
          <a:prstGeom prst="rect">
            <a:avLst/>
          </a:prstGeom>
          <a:solidFill>
            <a:srgbClr val="07111F"/>
          </a:solidFill>
          <a:ln>
            <a:noFill/>
          </a:ln>
        </p:spPr>
        <p:txBody>
          <a:bodyPr/>
          <a:lstStyle/>
          <a:p>
            <a:endParaRPr lang="en-US"/>
          </a:p>
        </p:txBody>
      </p:sp>
      <p:grpSp>
        <p:nvGrpSpPr>
          <p:cNvPr id="7" name="Group 7"/>
          <p:cNvGrpSpPr/>
          <p:nvPr/>
        </p:nvGrpSpPr>
        <p:grpSpPr>
          <a:xfrm>
            <a:off x="495300" y="390049"/>
            <a:ext cx="11175683" cy="848201"/>
            <a:chOff x="495300" y="390049"/>
            <a:chExt cx="11175683" cy="848201"/>
          </a:xfrm>
        </p:grpSpPr>
        <p:sp>
          <p:nvSpPr>
            <p:cNvPr id="3" name="TextBox 3"/>
            <p:cNvSpPr txBox="1"/>
            <p:nvPr/>
          </p:nvSpPr>
          <p:spPr>
            <a:xfrm>
              <a:off x="521018" y="390049"/>
              <a:ext cx="2641342" cy="198120"/>
            </a:xfrm>
            <a:prstGeom prst="rect">
              <a:avLst/>
            </a:prstGeom>
            <a:noFill/>
            <a:ln>
              <a:noFill/>
            </a:ln>
          </p:spPr>
          <p:txBody>
            <a:bodyPr wrap="none" lIns="0" tIns="0" rIns="0" bIns="0" anchor="t" anchorCtr="0">
              <a:spAutoFit/>
            </a:bodyPr>
            <a:lstStyle/>
            <a:p>
              <a:pPr algn="l"/>
              <a:r>
                <a:rPr lang="zh-CN" sz="975" b="1" dirty="0">
                  <a:solidFill>
                    <a:srgbClr val="708195"/>
                  </a:solidFill>
                  <a:latin typeface="Arial"/>
                  <a:ea typeface="Microsoft YaHei"/>
                  <a:cs typeface="Arial"/>
                </a:rPr>
                <a:t>DXFACTORY OPERATIONS INTELLIGENCE</a:t>
              </a:r>
            </a:p>
          </p:txBody>
        </p:sp>
        <p:sp>
          <p:nvSpPr>
            <p:cNvPr id="4" name="TextBox 4"/>
            <p:cNvSpPr txBox="1"/>
            <p:nvPr/>
          </p:nvSpPr>
          <p:spPr>
            <a:xfrm>
              <a:off x="11145330" y="390049"/>
              <a:ext cx="525653" cy="198120"/>
            </a:xfrm>
            <a:prstGeom prst="rect">
              <a:avLst/>
            </a:prstGeom>
            <a:noFill/>
            <a:ln>
              <a:noFill/>
            </a:ln>
          </p:spPr>
          <p:txBody>
            <a:bodyPr wrap="none" lIns="0" tIns="0" rIns="0" bIns="0" anchor="t" anchorCtr="0">
              <a:spAutoFit/>
            </a:bodyPr>
            <a:lstStyle/>
            <a:p>
              <a:pPr algn="r"/>
              <a:r>
                <a:rPr lang="zh-CN" sz="975" b="1" dirty="0">
                  <a:solidFill>
                    <a:srgbClr val="708195"/>
                  </a:solidFill>
                  <a:latin typeface="Arial"/>
                  <a:ea typeface="Microsoft YaHei"/>
                  <a:cs typeface="Arial"/>
                </a:rPr>
                <a:t>03 / 06</a:t>
              </a:r>
            </a:p>
          </p:txBody>
        </p:sp>
        <p:sp>
          <p:nvSpPr>
            <p:cNvPr id="5" name="TextBox 5"/>
            <p:cNvSpPr txBox="1"/>
            <p:nvPr/>
          </p:nvSpPr>
          <p:spPr>
            <a:xfrm>
              <a:off x="495300" y="628650"/>
              <a:ext cx="5044821" cy="609600"/>
            </a:xfrm>
            <a:prstGeom prst="rect">
              <a:avLst/>
            </a:prstGeom>
            <a:noFill/>
            <a:ln>
              <a:noFill/>
            </a:ln>
          </p:spPr>
          <p:txBody>
            <a:bodyPr wrap="none" lIns="0" tIns="0" rIns="0" bIns="0" anchor="t" anchorCtr="0">
              <a:spAutoFit/>
            </a:bodyPr>
            <a:lstStyle/>
            <a:p>
              <a:pPr algn="l"/>
              <a:r>
                <a:rPr lang="zh-CN" sz="3000" b="1" dirty="0">
                  <a:solidFill>
                    <a:srgbClr val="F4F8FF"/>
                  </a:solidFill>
                  <a:latin typeface="Arial"/>
                  <a:ea typeface="Microsoft YaHei"/>
                  <a:cs typeface="Arial"/>
                </a:rPr>
                <a:t>Ask Your Factory Data</a:t>
              </a:r>
            </a:p>
          </p:txBody>
        </p:sp>
        <p:sp>
          <p:nvSpPr>
            <p:cNvPr id="6" name="Line 6"/>
            <p:cNvSpPr/>
            <p:nvPr/>
          </p:nvSpPr>
          <p:spPr>
            <a:xfrm>
              <a:off x="533400" y="1123950"/>
              <a:ext cx="11125200" cy="9525"/>
            </a:xfrm>
            <a:custGeom>
              <a:avLst/>
              <a:gdLst/>
              <a:ahLst/>
              <a:cxnLst/>
              <a:rect l="l" t="t" r="r" b="b"/>
              <a:pathLst>
                <a:path w="11125200" h="9525">
                  <a:moveTo>
                    <a:pt x="0" y="0"/>
                  </a:moveTo>
                  <a:lnTo>
                    <a:pt x="11125200" y="0"/>
                  </a:lnTo>
                </a:path>
              </a:pathLst>
            </a:custGeom>
            <a:noFill/>
            <a:ln w="9525">
              <a:solidFill>
                <a:srgbClr val="294157"/>
              </a:solidFill>
            </a:ln>
          </p:spPr>
          <p:txBody>
            <a:bodyPr/>
            <a:lstStyle/>
            <a:p>
              <a:endParaRPr lang="en-US"/>
            </a:p>
          </p:txBody>
        </p:sp>
      </p:grpSp>
      <p:grpSp>
        <p:nvGrpSpPr>
          <p:cNvPr id="37" name="Group 37"/>
          <p:cNvGrpSpPr/>
          <p:nvPr/>
        </p:nvGrpSpPr>
        <p:grpSpPr>
          <a:xfrm>
            <a:off x="661988" y="1454944"/>
            <a:ext cx="4938712" cy="2671048"/>
            <a:chOff x="661988" y="1454944"/>
            <a:chExt cx="4938712" cy="2671048"/>
          </a:xfrm>
        </p:grpSpPr>
        <p:sp>
          <p:nvSpPr>
            <p:cNvPr id="8" name="TextBox 8"/>
            <p:cNvSpPr txBox="1"/>
            <p:nvPr/>
          </p:nvSpPr>
          <p:spPr>
            <a:xfrm>
              <a:off x="661988" y="1454944"/>
              <a:ext cx="4863852" cy="381000"/>
            </a:xfrm>
            <a:prstGeom prst="rect">
              <a:avLst/>
            </a:prstGeom>
            <a:noFill/>
            <a:ln>
              <a:noFill/>
            </a:ln>
          </p:spPr>
          <p:txBody>
            <a:bodyPr wrap="none" lIns="0" tIns="0" rIns="0" bIns="0" anchor="t" anchorCtr="0">
              <a:spAutoFit/>
            </a:bodyPr>
            <a:lstStyle/>
            <a:p>
              <a:pPr algn="l"/>
              <a:r>
                <a:rPr lang="zh-CN" sz="1875" b="1" dirty="0">
                  <a:solidFill>
                    <a:srgbClr val="F4F8FF"/>
                  </a:solidFill>
                  <a:latin typeface="Arial"/>
                  <a:ea typeface="Microsoft YaHei"/>
                  <a:cs typeface="Arial"/>
                </a:rPr>
                <a:t>No More Searching Across Systems</a:t>
              </a:r>
            </a:p>
          </p:txBody>
        </p:sp>
        <p:sp>
          <p:nvSpPr>
            <p:cNvPr id="9" name="Freeform 9"/>
            <p:cNvSpPr/>
            <p:nvPr/>
          </p:nvSpPr>
          <p:spPr>
            <a:xfrm>
              <a:off x="685800" y="1962150"/>
              <a:ext cx="1952625" cy="723900"/>
            </a:xfrm>
            <a:custGeom>
              <a:avLst/>
              <a:gdLst/>
              <a:ahLst/>
              <a:cxnLst/>
              <a:rect l="l" t="t" r="r" b="b"/>
              <a:pathLst>
                <a:path w="1952625" h="723900">
                  <a:moveTo>
                    <a:pt x="133350" y="0"/>
                  </a:moveTo>
                  <a:lnTo>
                    <a:pt x="1819275" y="0"/>
                  </a:lnTo>
                  <a:cubicBezTo>
                    <a:pt x="1892922" y="0"/>
                    <a:pt x="1952625" y="59703"/>
                    <a:pt x="1952625" y="133350"/>
                  </a:cubicBezTo>
                  <a:lnTo>
                    <a:pt x="1952625" y="590550"/>
                  </a:lnTo>
                  <a:cubicBezTo>
                    <a:pt x="1952625" y="664197"/>
                    <a:pt x="1892922" y="723900"/>
                    <a:pt x="1819275" y="723900"/>
                  </a:cubicBezTo>
                  <a:lnTo>
                    <a:pt x="133350" y="723900"/>
                  </a:lnTo>
                  <a:cubicBezTo>
                    <a:pt x="59703" y="723900"/>
                    <a:pt x="0" y="664197"/>
                    <a:pt x="0" y="590550"/>
                  </a:cubicBezTo>
                  <a:lnTo>
                    <a:pt x="0" y="133350"/>
                  </a:lnTo>
                  <a:cubicBezTo>
                    <a:pt x="0" y="59703"/>
                    <a:pt x="59703" y="0"/>
                    <a:pt x="133350" y="0"/>
                  </a:cubicBezTo>
                  <a:close/>
                </a:path>
              </a:pathLst>
            </a:custGeom>
            <a:solidFill>
              <a:srgbClr val="0E1D2E"/>
            </a:solidFill>
            <a:ln w="9525">
              <a:solidFill>
                <a:srgbClr val="294157"/>
              </a:solidFill>
            </a:ln>
          </p:spPr>
          <p:txBody>
            <a:bodyPr/>
            <a:lstStyle/>
            <a:p>
              <a:endParaRPr lang="en-US"/>
            </a:p>
          </p:txBody>
        </p:sp>
        <p:grpSp>
          <p:nvGrpSpPr>
            <p:cNvPr id="13" name="Group 13"/>
            <p:cNvGrpSpPr/>
            <p:nvPr/>
          </p:nvGrpSpPr>
          <p:grpSpPr>
            <a:xfrm>
              <a:off x="946150" y="2200275"/>
              <a:ext cx="203200" cy="228600"/>
              <a:chOff x="946150" y="2200275"/>
              <a:chExt cx="203200" cy="228600"/>
            </a:xfrm>
          </p:grpSpPr>
          <p:sp>
            <p:nvSpPr>
              <p:cNvPr id="10" name="Freeform 10"/>
              <p:cNvSpPr/>
              <p:nvPr/>
            </p:nvSpPr>
            <p:spPr>
              <a:xfrm>
                <a:off x="946150" y="2200275"/>
                <a:ext cx="203200" cy="76200"/>
              </a:xfrm>
              <a:custGeom>
                <a:avLst/>
                <a:gdLst/>
                <a:ahLst/>
                <a:cxnLst/>
                <a:rect l="l" t="t" r="r" b="b"/>
                <a:pathLst>
                  <a:path w="203200" h="76200">
                    <a:moveTo>
                      <a:pt x="0" y="38100"/>
                    </a:moveTo>
                    <a:cubicBezTo>
                      <a:pt x="0" y="59142"/>
                      <a:pt x="45488" y="76200"/>
                      <a:pt x="101600" y="76200"/>
                    </a:cubicBezTo>
                    <a:cubicBezTo>
                      <a:pt x="157712" y="76200"/>
                      <a:pt x="203200" y="59142"/>
                      <a:pt x="203200" y="38100"/>
                    </a:cubicBezTo>
                    <a:cubicBezTo>
                      <a:pt x="203200" y="17058"/>
                      <a:pt x="157712" y="0"/>
                      <a:pt x="101600" y="0"/>
                    </a:cubicBezTo>
                    <a:cubicBezTo>
                      <a:pt x="45488" y="0"/>
                      <a:pt x="0" y="17058"/>
                      <a:pt x="0" y="38100"/>
                    </a:cubicBezTo>
                  </a:path>
                </a:pathLst>
              </a:custGeom>
              <a:noFill/>
              <a:ln w="19050">
                <a:solidFill>
                  <a:srgbClr val="2EA7FF"/>
                </a:solidFill>
              </a:ln>
            </p:spPr>
            <p:txBody>
              <a:bodyPr/>
              <a:lstStyle/>
              <a:p>
                <a:endParaRPr lang="en-US"/>
              </a:p>
            </p:txBody>
          </p:sp>
          <p:sp>
            <p:nvSpPr>
              <p:cNvPr id="11" name="Freeform 11"/>
              <p:cNvSpPr/>
              <p:nvPr/>
            </p:nvSpPr>
            <p:spPr>
              <a:xfrm>
                <a:off x="946150" y="2238375"/>
                <a:ext cx="203200" cy="114300"/>
              </a:xfrm>
              <a:custGeom>
                <a:avLst/>
                <a:gdLst/>
                <a:ahLst/>
                <a:cxnLst/>
                <a:rect l="l" t="t" r="r" b="b"/>
                <a:pathLst>
                  <a:path w="203200" h="114300">
                    <a:moveTo>
                      <a:pt x="0" y="0"/>
                    </a:moveTo>
                    <a:lnTo>
                      <a:pt x="0" y="76200"/>
                    </a:lnTo>
                    <a:cubicBezTo>
                      <a:pt x="0" y="97242"/>
                      <a:pt x="45488" y="114300"/>
                      <a:pt x="101600" y="114300"/>
                    </a:cubicBezTo>
                    <a:cubicBezTo>
                      <a:pt x="157712" y="114300"/>
                      <a:pt x="203200" y="97242"/>
                      <a:pt x="203200" y="76200"/>
                    </a:cubicBezTo>
                    <a:lnTo>
                      <a:pt x="203200" y="0"/>
                    </a:lnTo>
                  </a:path>
                </a:pathLst>
              </a:custGeom>
              <a:noFill/>
              <a:ln w="19050">
                <a:solidFill>
                  <a:srgbClr val="2EA7FF"/>
                </a:solidFill>
              </a:ln>
            </p:spPr>
            <p:txBody>
              <a:bodyPr/>
              <a:lstStyle/>
              <a:p>
                <a:endParaRPr lang="en-US"/>
              </a:p>
            </p:txBody>
          </p:sp>
          <p:sp>
            <p:nvSpPr>
              <p:cNvPr id="12" name="Freeform 12"/>
              <p:cNvSpPr/>
              <p:nvPr/>
            </p:nvSpPr>
            <p:spPr>
              <a:xfrm>
                <a:off x="946150" y="2314575"/>
                <a:ext cx="203200" cy="114300"/>
              </a:xfrm>
              <a:custGeom>
                <a:avLst/>
                <a:gdLst/>
                <a:ahLst/>
                <a:cxnLst/>
                <a:rect l="l" t="t" r="r" b="b"/>
                <a:pathLst>
                  <a:path w="203200" h="114300">
                    <a:moveTo>
                      <a:pt x="0" y="0"/>
                    </a:moveTo>
                    <a:lnTo>
                      <a:pt x="0" y="76200"/>
                    </a:lnTo>
                    <a:cubicBezTo>
                      <a:pt x="0" y="97242"/>
                      <a:pt x="45488" y="114300"/>
                      <a:pt x="101600" y="114300"/>
                    </a:cubicBezTo>
                    <a:cubicBezTo>
                      <a:pt x="157712" y="114300"/>
                      <a:pt x="203200" y="97242"/>
                      <a:pt x="203200" y="76200"/>
                    </a:cubicBezTo>
                    <a:lnTo>
                      <a:pt x="203200" y="0"/>
                    </a:lnTo>
                  </a:path>
                </a:pathLst>
              </a:custGeom>
              <a:noFill/>
              <a:ln w="19050">
                <a:solidFill>
                  <a:srgbClr val="2EA7FF"/>
                </a:solidFill>
              </a:ln>
            </p:spPr>
            <p:txBody>
              <a:bodyPr/>
              <a:lstStyle/>
              <a:p>
                <a:endParaRPr lang="en-US"/>
              </a:p>
            </p:txBody>
          </p:sp>
        </p:grpSp>
        <p:sp>
          <p:nvSpPr>
            <p:cNvPr id="14" name="TextBox 14"/>
            <p:cNvSpPr txBox="1"/>
            <p:nvPr/>
          </p:nvSpPr>
          <p:spPr>
            <a:xfrm>
              <a:off x="1353502" y="2275046"/>
              <a:ext cx="440471" cy="289560"/>
            </a:xfrm>
            <a:prstGeom prst="rect">
              <a:avLst/>
            </a:prstGeom>
            <a:noFill/>
            <a:ln>
              <a:noFill/>
            </a:ln>
          </p:spPr>
          <p:txBody>
            <a:bodyPr wrap="none" lIns="0" tIns="0" rIns="0" bIns="0" anchor="t" anchorCtr="0">
              <a:spAutoFit/>
            </a:bodyPr>
            <a:lstStyle/>
            <a:p>
              <a:pPr algn="l"/>
              <a:r>
                <a:rPr lang="zh-CN" sz="1425" b="1" dirty="0">
                  <a:solidFill>
                    <a:srgbClr val="F4F8FF"/>
                  </a:solidFill>
                  <a:latin typeface="Arial"/>
                  <a:ea typeface="Microsoft YaHei"/>
                  <a:cs typeface="Arial"/>
                </a:rPr>
                <a:t>MES</a:t>
              </a:r>
            </a:p>
          </p:txBody>
        </p:sp>
        <p:sp>
          <p:nvSpPr>
            <p:cNvPr id="15" name="Freeform 15"/>
            <p:cNvSpPr/>
            <p:nvPr/>
          </p:nvSpPr>
          <p:spPr>
            <a:xfrm>
              <a:off x="2857500" y="1962150"/>
              <a:ext cx="1952625" cy="723900"/>
            </a:xfrm>
            <a:custGeom>
              <a:avLst/>
              <a:gdLst/>
              <a:ahLst/>
              <a:cxnLst/>
              <a:rect l="l" t="t" r="r" b="b"/>
              <a:pathLst>
                <a:path w="1952625" h="723900">
                  <a:moveTo>
                    <a:pt x="133350" y="0"/>
                  </a:moveTo>
                  <a:lnTo>
                    <a:pt x="1819275" y="0"/>
                  </a:lnTo>
                  <a:cubicBezTo>
                    <a:pt x="1892922" y="0"/>
                    <a:pt x="1952625" y="59703"/>
                    <a:pt x="1952625" y="133350"/>
                  </a:cubicBezTo>
                  <a:lnTo>
                    <a:pt x="1952625" y="590550"/>
                  </a:lnTo>
                  <a:cubicBezTo>
                    <a:pt x="1952625" y="664197"/>
                    <a:pt x="1892922" y="723900"/>
                    <a:pt x="1819275" y="723900"/>
                  </a:cubicBezTo>
                  <a:lnTo>
                    <a:pt x="133350" y="723900"/>
                  </a:lnTo>
                  <a:cubicBezTo>
                    <a:pt x="59703" y="723900"/>
                    <a:pt x="0" y="664197"/>
                    <a:pt x="0" y="590550"/>
                  </a:cubicBezTo>
                  <a:lnTo>
                    <a:pt x="0" y="133350"/>
                  </a:lnTo>
                  <a:cubicBezTo>
                    <a:pt x="0" y="59703"/>
                    <a:pt x="59703" y="0"/>
                    <a:pt x="133350" y="0"/>
                  </a:cubicBezTo>
                  <a:close/>
                </a:path>
              </a:pathLst>
            </a:custGeom>
            <a:solidFill>
              <a:srgbClr val="0E1D2E"/>
            </a:solidFill>
            <a:ln w="9525">
              <a:solidFill>
                <a:srgbClr val="294157"/>
              </a:solidFill>
            </a:ln>
          </p:spPr>
          <p:txBody>
            <a:bodyPr/>
            <a:lstStyle/>
            <a:p>
              <a:endParaRPr lang="en-US"/>
            </a:p>
          </p:txBody>
        </p:sp>
        <p:grpSp>
          <p:nvGrpSpPr>
            <p:cNvPr id="19" name="Group 19"/>
            <p:cNvGrpSpPr/>
            <p:nvPr/>
          </p:nvGrpSpPr>
          <p:grpSpPr>
            <a:xfrm>
              <a:off x="3117850" y="2200275"/>
              <a:ext cx="203200" cy="228600"/>
              <a:chOff x="3117850" y="2200275"/>
              <a:chExt cx="203200" cy="228600"/>
            </a:xfrm>
          </p:grpSpPr>
          <p:sp>
            <p:nvSpPr>
              <p:cNvPr id="16" name="Freeform 16"/>
              <p:cNvSpPr/>
              <p:nvPr/>
            </p:nvSpPr>
            <p:spPr>
              <a:xfrm>
                <a:off x="3117850" y="2200275"/>
                <a:ext cx="203200" cy="76200"/>
              </a:xfrm>
              <a:custGeom>
                <a:avLst/>
                <a:gdLst/>
                <a:ahLst/>
                <a:cxnLst/>
                <a:rect l="l" t="t" r="r" b="b"/>
                <a:pathLst>
                  <a:path w="203200" h="76200">
                    <a:moveTo>
                      <a:pt x="0" y="38100"/>
                    </a:moveTo>
                    <a:cubicBezTo>
                      <a:pt x="0" y="59142"/>
                      <a:pt x="45488" y="76200"/>
                      <a:pt x="101600" y="76200"/>
                    </a:cubicBezTo>
                    <a:cubicBezTo>
                      <a:pt x="157712" y="76200"/>
                      <a:pt x="203200" y="59142"/>
                      <a:pt x="203200" y="38100"/>
                    </a:cubicBezTo>
                    <a:cubicBezTo>
                      <a:pt x="203200" y="17058"/>
                      <a:pt x="157712" y="0"/>
                      <a:pt x="101600" y="0"/>
                    </a:cubicBezTo>
                    <a:cubicBezTo>
                      <a:pt x="45488" y="0"/>
                      <a:pt x="0" y="17058"/>
                      <a:pt x="0" y="38100"/>
                    </a:cubicBezTo>
                  </a:path>
                </a:pathLst>
              </a:custGeom>
              <a:noFill/>
              <a:ln w="19050">
                <a:solidFill>
                  <a:srgbClr val="2EA7FF"/>
                </a:solidFill>
              </a:ln>
            </p:spPr>
            <p:txBody>
              <a:bodyPr/>
              <a:lstStyle/>
              <a:p>
                <a:endParaRPr lang="en-US"/>
              </a:p>
            </p:txBody>
          </p:sp>
          <p:sp>
            <p:nvSpPr>
              <p:cNvPr id="17" name="Freeform 17"/>
              <p:cNvSpPr/>
              <p:nvPr/>
            </p:nvSpPr>
            <p:spPr>
              <a:xfrm>
                <a:off x="3117850" y="2238375"/>
                <a:ext cx="203200" cy="114300"/>
              </a:xfrm>
              <a:custGeom>
                <a:avLst/>
                <a:gdLst/>
                <a:ahLst/>
                <a:cxnLst/>
                <a:rect l="l" t="t" r="r" b="b"/>
                <a:pathLst>
                  <a:path w="203200" h="114300">
                    <a:moveTo>
                      <a:pt x="0" y="0"/>
                    </a:moveTo>
                    <a:lnTo>
                      <a:pt x="0" y="76200"/>
                    </a:lnTo>
                    <a:cubicBezTo>
                      <a:pt x="0" y="97242"/>
                      <a:pt x="45488" y="114300"/>
                      <a:pt x="101600" y="114300"/>
                    </a:cubicBezTo>
                    <a:cubicBezTo>
                      <a:pt x="157712" y="114300"/>
                      <a:pt x="203200" y="97242"/>
                      <a:pt x="203200" y="76200"/>
                    </a:cubicBezTo>
                    <a:lnTo>
                      <a:pt x="203200" y="0"/>
                    </a:lnTo>
                  </a:path>
                </a:pathLst>
              </a:custGeom>
              <a:noFill/>
              <a:ln w="19050">
                <a:solidFill>
                  <a:srgbClr val="2EA7FF"/>
                </a:solidFill>
              </a:ln>
            </p:spPr>
            <p:txBody>
              <a:bodyPr/>
              <a:lstStyle/>
              <a:p>
                <a:endParaRPr lang="en-US"/>
              </a:p>
            </p:txBody>
          </p:sp>
          <p:sp>
            <p:nvSpPr>
              <p:cNvPr id="18" name="Freeform 18"/>
              <p:cNvSpPr/>
              <p:nvPr/>
            </p:nvSpPr>
            <p:spPr>
              <a:xfrm>
                <a:off x="3117850" y="2314575"/>
                <a:ext cx="203200" cy="114300"/>
              </a:xfrm>
              <a:custGeom>
                <a:avLst/>
                <a:gdLst/>
                <a:ahLst/>
                <a:cxnLst/>
                <a:rect l="l" t="t" r="r" b="b"/>
                <a:pathLst>
                  <a:path w="203200" h="114300">
                    <a:moveTo>
                      <a:pt x="0" y="0"/>
                    </a:moveTo>
                    <a:lnTo>
                      <a:pt x="0" y="76200"/>
                    </a:lnTo>
                    <a:cubicBezTo>
                      <a:pt x="0" y="97242"/>
                      <a:pt x="45488" y="114300"/>
                      <a:pt x="101600" y="114300"/>
                    </a:cubicBezTo>
                    <a:cubicBezTo>
                      <a:pt x="157712" y="114300"/>
                      <a:pt x="203200" y="97242"/>
                      <a:pt x="203200" y="76200"/>
                    </a:cubicBezTo>
                    <a:lnTo>
                      <a:pt x="203200" y="0"/>
                    </a:lnTo>
                  </a:path>
                </a:pathLst>
              </a:custGeom>
              <a:noFill/>
              <a:ln w="19050">
                <a:solidFill>
                  <a:srgbClr val="2EA7FF"/>
                </a:solidFill>
              </a:ln>
            </p:spPr>
            <p:txBody>
              <a:bodyPr/>
              <a:lstStyle/>
              <a:p>
                <a:endParaRPr lang="en-US"/>
              </a:p>
            </p:txBody>
          </p:sp>
        </p:grpSp>
        <p:sp>
          <p:nvSpPr>
            <p:cNvPr id="20" name="TextBox 20"/>
            <p:cNvSpPr txBox="1"/>
            <p:nvPr/>
          </p:nvSpPr>
          <p:spPr>
            <a:xfrm>
              <a:off x="3525202" y="2275046"/>
              <a:ext cx="604366" cy="289560"/>
            </a:xfrm>
            <a:prstGeom prst="rect">
              <a:avLst/>
            </a:prstGeom>
            <a:noFill/>
            <a:ln>
              <a:noFill/>
            </a:ln>
          </p:spPr>
          <p:txBody>
            <a:bodyPr wrap="none" lIns="0" tIns="0" rIns="0" bIns="0" anchor="t" anchorCtr="0">
              <a:spAutoFit/>
            </a:bodyPr>
            <a:lstStyle/>
            <a:p>
              <a:pPr algn="l"/>
              <a:r>
                <a:rPr lang="zh-CN" sz="1425" b="1" dirty="0">
                  <a:solidFill>
                    <a:srgbClr val="F4F8FF"/>
                  </a:solidFill>
                  <a:latin typeface="Arial"/>
                  <a:ea typeface="Microsoft YaHei"/>
                  <a:cs typeface="Arial"/>
                </a:rPr>
                <a:t>CMMS</a:t>
              </a:r>
            </a:p>
          </p:txBody>
        </p:sp>
        <p:sp>
          <p:nvSpPr>
            <p:cNvPr id="21" name="Freeform 21"/>
            <p:cNvSpPr/>
            <p:nvPr/>
          </p:nvSpPr>
          <p:spPr>
            <a:xfrm>
              <a:off x="685800" y="1962150"/>
              <a:ext cx="1952625" cy="723900"/>
            </a:xfrm>
            <a:custGeom>
              <a:avLst/>
              <a:gdLst/>
              <a:ahLst/>
              <a:cxnLst/>
              <a:rect l="l" t="t" r="r" b="b"/>
              <a:pathLst>
                <a:path w="1952625" h="723900">
                  <a:moveTo>
                    <a:pt x="133350" y="0"/>
                  </a:moveTo>
                  <a:lnTo>
                    <a:pt x="1819275" y="0"/>
                  </a:lnTo>
                  <a:cubicBezTo>
                    <a:pt x="1892922" y="0"/>
                    <a:pt x="1952625" y="59703"/>
                    <a:pt x="1952625" y="133350"/>
                  </a:cubicBezTo>
                  <a:lnTo>
                    <a:pt x="1952625" y="590550"/>
                  </a:lnTo>
                  <a:cubicBezTo>
                    <a:pt x="1952625" y="664197"/>
                    <a:pt x="1892922" y="723900"/>
                    <a:pt x="1819275" y="723900"/>
                  </a:cubicBezTo>
                  <a:lnTo>
                    <a:pt x="133350" y="723900"/>
                  </a:lnTo>
                  <a:cubicBezTo>
                    <a:pt x="59703" y="723900"/>
                    <a:pt x="0" y="664197"/>
                    <a:pt x="0" y="590550"/>
                  </a:cubicBezTo>
                  <a:lnTo>
                    <a:pt x="0" y="133350"/>
                  </a:lnTo>
                  <a:cubicBezTo>
                    <a:pt x="0" y="59703"/>
                    <a:pt x="59703" y="0"/>
                    <a:pt x="133350" y="0"/>
                  </a:cubicBezTo>
                  <a:close/>
                </a:path>
              </a:pathLst>
            </a:custGeom>
            <a:solidFill>
              <a:srgbClr val="0E1D2E"/>
            </a:solidFill>
            <a:ln w="9525">
              <a:solidFill>
                <a:srgbClr val="294157"/>
              </a:solidFill>
            </a:ln>
          </p:spPr>
          <p:txBody>
            <a:bodyPr/>
            <a:lstStyle/>
            <a:p>
              <a:endParaRPr lang="en-US"/>
            </a:p>
          </p:txBody>
        </p:sp>
        <p:grpSp>
          <p:nvGrpSpPr>
            <p:cNvPr id="25" name="Group 25"/>
            <p:cNvGrpSpPr/>
            <p:nvPr/>
          </p:nvGrpSpPr>
          <p:grpSpPr>
            <a:xfrm>
              <a:off x="946150" y="2266950"/>
              <a:ext cx="203200" cy="237649"/>
              <a:chOff x="946150" y="2266950"/>
              <a:chExt cx="203200" cy="237649"/>
            </a:xfrm>
          </p:grpSpPr>
          <p:sp>
            <p:nvSpPr>
              <p:cNvPr id="22" name="Freeform 22"/>
              <p:cNvSpPr/>
              <p:nvPr/>
            </p:nvSpPr>
            <p:spPr>
              <a:xfrm>
                <a:off x="946150" y="2266950"/>
                <a:ext cx="203200" cy="76200"/>
              </a:xfrm>
              <a:custGeom>
                <a:avLst/>
                <a:gdLst/>
                <a:ahLst/>
                <a:cxnLst/>
                <a:rect l="l" t="t" r="r" b="b"/>
                <a:pathLst>
                  <a:path w="203200" h="76200">
                    <a:moveTo>
                      <a:pt x="0" y="38100"/>
                    </a:moveTo>
                    <a:cubicBezTo>
                      <a:pt x="0" y="59142"/>
                      <a:pt x="45488" y="76200"/>
                      <a:pt x="101600" y="76200"/>
                    </a:cubicBezTo>
                    <a:cubicBezTo>
                      <a:pt x="157712" y="76200"/>
                      <a:pt x="203200" y="59142"/>
                      <a:pt x="203200" y="38100"/>
                    </a:cubicBezTo>
                    <a:cubicBezTo>
                      <a:pt x="203200" y="17058"/>
                      <a:pt x="157712" y="0"/>
                      <a:pt x="101600" y="0"/>
                    </a:cubicBezTo>
                    <a:cubicBezTo>
                      <a:pt x="45488" y="0"/>
                      <a:pt x="0" y="17058"/>
                      <a:pt x="0" y="38100"/>
                    </a:cubicBezTo>
                  </a:path>
                </a:pathLst>
              </a:custGeom>
              <a:noFill/>
              <a:ln w="19050">
                <a:solidFill>
                  <a:srgbClr val="2EA7FF"/>
                </a:solidFill>
              </a:ln>
            </p:spPr>
            <p:txBody>
              <a:bodyPr/>
              <a:lstStyle/>
              <a:p>
                <a:endParaRPr lang="en-US"/>
              </a:p>
            </p:txBody>
          </p:sp>
          <p:sp>
            <p:nvSpPr>
              <p:cNvPr id="23" name="Freeform 23"/>
              <p:cNvSpPr/>
              <p:nvPr/>
            </p:nvSpPr>
            <p:spPr>
              <a:xfrm>
                <a:off x="946150" y="2314575"/>
                <a:ext cx="203200" cy="114300"/>
              </a:xfrm>
              <a:custGeom>
                <a:avLst/>
                <a:gdLst/>
                <a:ahLst/>
                <a:cxnLst/>
                <a:rect l="l" t="t" r="r" b="b"/>
                <a:pathLst>
                  <a:path w="203200" h="114300">
                    <a:moveTo>
                      <a:pt x="0" y="0"/>
                    </a:moveTo>
                    <a:lnTo>
                      <a:pt x="0" y="76200"/>
                    </a:lnTo>
                    <a:cubicBezTo>
                      <a:pt x="0" y="97242"/>
                      <a:pt x="45488" y="114300"/>
                      <a:pt x="101600" y="114300"/>
                    </a:cubicBezTo>
                    <a:cubicBezTo>
                      <a:pt x="157712" y="114300"/>
                      <a:pt x="203200" y="97242"/>
                      <a:pt x="203200" y="76200"/>
                    </a:cubicBezTo>
                    <a:lnTo>
                      <a:pt x="203200" y="0"/>
                    </a:lnTo>
                  </a:path>
                </a:pathLst>
              </a:custGeom>
              <a:noFill/>
              <a:ln w="19050">
                <a:solidFill>
                  <a:srgbClr val="2EA7FF"/>
                </a:solidFill>
              </a:ln>
            </p:spPr>
            <p:txBody>
              <a:bodyPr/>
              <a:lstStyle/>
              <a:p>
                <a:endParaRPr lang="en-US"/>
              </a:p>
            </p:txBody>
          </p:sp>
          <p:sp>
            <p:nvSpPr>
              <p:cNvPr id="24" name="Freeform 24"/>
              <p:cNvSpPr/>
              <p:nvPr/>
            </p:nvSpPr>
            <p:spPr>
              <a:xfrm>
                <a:off x="946150" y="2390299"/>
                <a:ext cx="203200" cy="114300"/>
              </a:xfrm>
              <a:custGeom>
                <a:avLst/>
                <a:gdLst/>
                <a:ahLst/>
                <a:cxnLst/>
                <a:rect l="l" t="t" r="r" b="b"/>
                <a:pathLst>
                  <a:path w="203200" h="114300">
                    <a:moveTo>
                      <a:pt x="0" y="0"/>
                    </a:moveTo>
                    <a:lnTo>
                      <a:pt x="0" y="76200"/>
                    </a:lnTo>
                    <a:cubicBezTo>
                      <a:pt x="0" y="97242"/>
                      <a:pt x="45488" y="114300"/>
                      <a:pt x="101600" y="114300"/>
                    </a:cubicBezTo>
                    <a:cubicBezTo>
                      <a:pt x="157712" y="114300"/>
                      <a:pt x="203200" y="97242"/>
                      <a:pt x="203200" y="76200"/>
                    </a:cubicBezTo>
                    <a:lnTo>
                      <a:pt x="203200" y="0"/>
                    </a:lnTo>
                  </a:path>
                </a:pathLst>
              </a:custGeom>
              <a:noFill/>
              <a:ln w="19050">
                <a:solidFill>
                  <a:srgbClr val="2EA7FF"/>
                </a:solidFill>
              </a:ln>
            </p:spPr>
            <p:txBody>
              <a:bodyPr/>
              <a:lstStyle/>
              <a:p>
                <a:endParaRPr lang="en-US"/>
              </a:p>
            </p:txBody>
          </p:sp>
        </p:grpSp>
        <p:sp>
          <p:nvSpPr>
            <p:cNvPr id="26" name="TextBox 26"/>
            <p:cNvSpPr txBox="1"/>
            <p:nvPr/>
          </p:nvSpPr>
          <p:spPr>
            <a:xfrm>
              <a:off x="1502716" y="2269067"/>
              <a:ext cx="582513" cy="289560"/>
            </a:xfrm>
            <a:prstGeom prst="rect">
              <a:avLst/>
            </a:prstGeom>
            <a:noFill/>
            <a:ln>
              <a:noFill/>
            </a:ln>
          </p:spPr>
          <p:txBody>
            <a:bodyPr wrap="none" lIns="0" tIns="0" rIns="0" bIns="0" anchor="t" anchorCtr="0">
              <a:spAutoFit/>
            </a:bodyPr>
            <a:lstStyle/>
            <a:p>
              <a:pPr algn="l"/>
              <a:r>
                <a:rPr lang="zh-CN" sz="1425" b="1" dirty="0">
                  <a:solidFill>
                    <a:srgbClr val="F4F8FF"/>
                  </a:solidFill>
                  <a:latin typeface="Arial"/>
                  <a:ea typeface="Microsoft YaHei"/>
                  <a:cs typeface="Arial"/>
                </a:rPr>
                <a:t>Excel</a:t>
              </a:r>
            </a:p>
          </p:txBody>
        </p:sp>
        <p:sp>
          <p:nvSpPr>
            <p:cNvPr id="27" name="Freeform 27"/>
            <p:cNvSpPr/>
            <p:nvPr/>
          </p:nvSpPr>
          <p:spPr>
            <a:xfrm>
              <a:off x="685800" y="2971800"/>
              <a:ext cx="1952625" cy="723900"/>
            </a:xfrm>
            <a:custGeom>
              <a:avLst/>
              <a:gdLst/>
              <a:ahLst/>
              <a:cxnLst/>
              <a:rect l="l" t="t" r="r" b="b"/>
              <a:pathLst>
                <a:path w="1952625" h="723900">
                  <a:moveTo>
                    <a:pt x="133350" y="0"/>
                  </a:moveTo>
                  <a:lnTo>
                    <a:pt x="1819275" y="0"/>
                  </a:lnTo>
                  <a:cubicBezTo>
                    <a:pt x="1892922" y="0"/>
                    <a:pt x="1952625" y="59703"/>
                    <a:pt x="1952625" y="133350"/>
                  </a:cubicBezTo>
                  <a:lnTo>
                    <a:pt x="1952625" y="590550"/>
                  </a:lnTo>
                  <a:cubicBezTo>
                    <a:pt x="1952625" y="664197"/>
                    <a:pt x="1892922" y="723900"/>
                    <a:pt x="1819275" y="723900"/>
                  </a:cubicBezTo>
                  <a:lnTo>
                    <a:pt x="133350" y="723900"/>
                  </a:lnTo>
                  <a:cubicBezTo>
                    <a:pt x="59703" y="723900"/>
                    <a:pt x="0" y="664197"/>
                    <a:pt x="0" y="590550"/>
                  </a:cubicBezTo>
                  <a:lnTo>
                    <a:pt x="0" y="133350"/>
                  </a:lnTo>
                  <a:cubicBezTo>
                    <a:pt x="0" y="59703"/>
                    <a:pt x="59703" y="0"/>
                    <a:pt x="133350" y="0"/>
                  </a:cubicBezTo>
                  <a:close/>
                </a:path>
              </a:pathLst>
            </a:custGeom>
            <a:solidFill>
              <a:srgbClr val="0E1D2E"/>
            </a:solidFill>
            <a:ln w="9525">
              <a:solidFill>
                <a:srgbClr val="294157"/>
              </a:solidFill>
            </a:ln>
          </p:spPr>
          <p:txBody>
            <a:bodyPr/>
            <a:lstStyle/>
            <a:p>
              <a:endParaRPr lang="en-US"/>
            </a:p>
          </p:txBody>
        </p:sp>
        <p:grpSp>
          <p:nvGrpSpPr>
            <p:cNvPr id="31" name="Group 31"/>
            <p:cNvGrpSpPr/>
            <p:nvPr/>
          </p:nvGrpSpPr>
          <p:grpSpPr>
            <a:xfrm>
              <a:off x="946150" y="3209925"/>
              <a:ext cx="203200" cy="228600"/>
              <a:chOff x="946150" y="3209925"/>
              <a:chExt cx="203200" cy="228600"/>
            </a:xfrm>
          </p:grpSpPr>
          <p:sp>
            <p:nvSpPr>
              <p:cNvPr id="28" name="Freeform 28"/>
              <p:cNvSpPr/>
              <p:nvPr/>
            </p:nvSpPr>
            <p:spPr>
              <a:xfrm>
                <a:off x="946150" y="3209925"/>
                <a:ext cx="203200" cy="76200"/>
              </a:xfrm>
              <a:custGeom>
                <a:avLst/>
                <a:gdLst/>
                <a:ahLst/>
                <a:cxnLst/>
                <a:rect l="l" t="t" r="r" b="b"/>
                <a:pathLst>
                  <a:path w="203200" h="76200">
                    <a:moveTo>
                      <a:pt x="0" y="38100"/>
                    </a:moveTo>
                    <a:cubicBezTo>
                      <a:pt x="0" y="59142"/>
                      <a:pt x="45488" y="76200"/>
                      <a:pt x="101600" y="76200"/>
                    </a:cubicBezTo>
                    <a:cubicBezTo>
                      <a:pt x="157712" y="76200"/>
                      <a:pt x="203200" y="59142"/>
                      <a:pt x="203200" y="38100"/>
                    </a:cubicBezTo>
                    <a:cubicBezTo>
                      <a:pt x="203200" y="17058"/>
                      <a:pt x="157712" y="0"/>
                      <a:pt x="101600" y="0"/>
                    </a:cubicBezTo>
                    <a:cubicBezTo>
                      <a:pt x="45488" y="0"/>
                      <a:pt x="0" y="17058"/>
                      <a:pt x="0" y="38100"/>
                    </a:cubicBezTo>
                  </a:path>
                </a:pathLst>
              </a:custGeom>
              <a:noFill/>
              <a:ln w="19050">
                <a:solidFill>
                  <a:srgbClr val="2EA7FF"/>
                </a:solidFill>
              </a:ln>
            </p:spPr>
            <p:txBody>
              <a:bodyPr/>
              <a:lstStyle/>
              <a:p>
                <a:endParaRPr lang="en-US"/>
              </a:p>
            </p:txBody>
          </p:sp>
          <p:sp>
            <p:nvSpPr>
              <p:cNvPr id="29" name="Freeform 29"/>
              <p:cNvSpPr/>
              <p:nvPr/>
            </p:nvSpPr>
            <p:spPr>
              <a:xfrm>
                <a:off x="946150" y="3248025"/>
                <a:ext cx="203200" cy="114300"/>
              </a:xfrm>
              <a:custGeom>
                <a:avLst/>
                <a:gdLst/>
                <a:ahLst/>
                <a:cxnLst/>
                <a:rect l="l" t="t" r="r" b="b"/>
                <a:pathLst>
                  <a:path w="203200" h="114300">
                    <a:moveTo>
                      <a:pt x="0" y="0"/>
                    </a:moveTo>
                    <a:lnTo>
                      <a:pt x="0" y="76200"/>
                    </a:lnTo>
                    <a:cubicBezTo>
                      <a:pt x="0" y="97242"/>
                      <a:pt x="45488" y="114300"/>
                      <a:pt x="101600" y="114300"/>
                    </a:cubicBezTo>
                    <a:cubicBezTo>
                      <a:pt x="157712" y="114300"/>
                      <a:pt x="203200" y="97242"/>
                      <a:pt x="203200" y="76200"/>
                    </a:cubicBezTo>
                    <a:lnTo>
                      <a:pt x="203200" y="0"/>
                    </a:lnTo>
                  </a:path>
                </a:pathLst>
              </a:custGeom>
              <a:noFill/>
              <a:ln w="19050">
                <a:solidFill>
                  <a:srgbClr val="2EA7FF"/>
                </a:solidFill>
              </a:ln>
            </p:spPr>
            <p:txBody>
              <a:bodyPr/>
              <a:lstStyle/>
              <a:p>
                <a:endParaRPr lang="en-US"/>
              </a:p>
            </p:txBody>
          </p:sp>
          <p:sp>
            <p:nvSpPr>
              <p:cNvPr id="30" name="Freeform 30"/>
              <p:cNvSpPr/>
              <p:nvPr/>
            </p:nvSpPr>
            <p:spPr>
              <a:xfrm>
                <a:off x="946150" y="3324225"/>
                <a:ext cx="203200" cy="114300"/>
              </a:xfrm>
              <a:custGeom>
                <a:avLst/>
                <a:gdLst/>
                <a:ahLst/>
                <a:cxnLst/>
                <a:rect l="l" t="t" r="r" b="b"/>
                <a:pathLst>
                  <a:path w="203200" h="114300">
                    <a:moveTo>
                      <a:pt x="0" y="0"/>
                    </a:moveTo>
                    <a:lnTo>
                      <a:pt x="0" y="76200"/>
                    </a:lnTo>
                    <a:cubicBezTo>
                      <a:pt x="0" y="97242"/>
                      <a:pt x="45488" y="114300"/>
                      <a:pt x="101600" y="114300"/>
                    </a:cubicBezTo>
                    <a:cubicBezTo>
                      <a:pt x="157712" y="114300"/>
                      <a:pt x="203200" y="97242"/>
                      <a:pt x="203200" y="76200"/>
                    </a:cubicBezTo>
                    <a:lnTo>
                      <a:pt x="203200" y="0"/>
                    </a:lnTo>
                  </a:path>
                </a:pathLst>
              </a:custGeom>
              <a:noFill/>
              <a:ln w="19050">
                <a:solidFill>
                  <a:srgbClr val="2EA7FF"/>
                </a:solidFill>
              </a:ln>
            </p:spPr>
            <p:txBody>
              <a:bodyPr/>
              <a:lstStyle/>
              <a:p>
                <a:endParaRPr lang="en-US"/>
              </a:p>
            </p:txBody>
          </p:sp>
        </p:grpSp>
        <p:sp>
          <p:nvSpPr>
            <p:cNvPr id="32" name="TextBox 32"/>
            <p:cNvSpPr txBox="1"/>
            <p:nvPr/>
          </p:nvSpPr>
          <p:spPr>
            <a:xfrm>
              <a:off x="1353502" y="3085525"/>
              <a:ext cx="966611" cy="438582"/>
            </a:xfrm>
            <a:prstGeom prst="rect">
              <a:avLst/>
            </a:prstGeom>
            <a:noFill/>
            <a:ln>
              <a:noFill/>
            </a:ln>
          </p:spPr>
          <p:txBody>
            <a:bodyPr wrap="none" lIns="0" tIns="0" rIns="0" bIns="0" anchor="t" anchorCtr="0">
              <a:spAutoFit/>
            </a:bodyPr>
            <a:lstStyle/>
            <a:p>
              <a:pPr algn="l"/>
              <a:r>
                <a:rPr lang="zh-CN" sz="1425" b="1" dirty="0">
                  <a:solidFill>
                    <a:srgbClr val="F4F8FF"/>
                  </a:solidFill>
                  <a:latin typeface="Arial"/>
                  <a:ea typeface="Microsoft YaHei"/>
                  <a:cs typeface="Arial"/>
                </a:rPr>
                <a:t>Production</a:t>
              </a:r>
              <a:endParaRPr lang="en-US" altLang="zh-CN" sz="1425" b="1" dirty="0">
                <a:solidFill>
                  <a:srgbClr val="F4F8FF"/>
                </a:solidFill>
                <a:latin typeface="Arial"/>
                <a:ea typeface="Microsoft YaHei"/>
                <a:cs typeface="Arial"/>
              </a:endParaRPr>
            </a:p>
            <a:p>
              <a:pPr algn="l"/>
              <a:r>
                <a:rPr lang="zh-CN" sz="1425" b="1" dirty="0">
                  <a:solidFill>
                    <a:srgbClr val="F4F8FF"/>
                  </a:solidFill>
                  <a:latin typeface="Arial"/>
                  <a:ea typeface="Microsoft YaHei"/>
                  <a:cs typeface="Arial"/>
                </a:rPr>
                <a:t>Reports</a:t>
              </a:r>
            </a:p>
          </p:txBody>
        </p:sp>
        <p:sp>
          <p:nvSpPr>
            <p:cNvPr id="33" name="Line 33"/>
            <p:cNvSpPr/>
            <p:nvPr/>
          </p:nvSpPr>
          <p:spPr>
            <a:xfrm>
              <a:off x="4629081" y="3311605"/>
              <a:ext cx="647700" cy="9525"/>
            </a:xfrm>
            <a:custGeom>
              <a:avLst/>
              <a:gdLst/>
              <a:ahLst/>
              <a:cxnLst/>
              <a:rect l="l" t="t" r="r" b="b"/>
              <a:pathLst>
                <a:path w="647700" h="9525">
                  <a:moveTo>
                    <a:pt x="0" y="0"/>
                  </a:moveTo>
                  <a:lnTo>
                    <a:pt x="647700" y="0"/>
                  </a:lnTo>
                </a:path>
              </a:pathLst>
            </a:custGeom>
            <a:noFill/>
            <a:ln w="38100">
              <a:solidFill>
                <a:srgbClr val="2EA7FF"/>
              </a:solidFill>
            </a:ln>
          </p:spPr>
          <p:txBody>
            <a:bodyPr/>
            <a:lstStyle/>
            <a:p>
              <a:endParaRPr lang="en-US"/>
            </a:p>
          </p:txBody>
        </p:sp>
        <p:sp>
          <p:nvSpPr>
            <p:cNvPr id="34" name="Polygon 34"/>
            <p:cNvSpPr/>
            <p:nvPr/>
          </p:nvSpPr>
          <p:spPr>
            <a:xfrm>
              <a:off x="5241131" y="3216355"/>
              <a:ext cx="171450" cy="190500"/>
            </a:xfrm>
            <a:custGeom>
              <a:avLst/>
              <a:gdLst/>
              <a:ahLst/>
              <a:cxnLst/>
              <a:rect l="l" t="t" r="r" b="b"/>
              <a:pathLst>
                <a:path w="171450" h="190500">
                  <a:moveTo>
                    <a:pt x="171450" y="95250"/>
                  </a:moveTo>
                  <a:lnTo>
                    <a:pt x="0" y="0"/>
                  </a:lnTo>
                  <a:lnTo>
                    <a:pt x="0" y="190500"/>
                  </a:lnTo>
                  <a:close/>
                </a:path>
              </a:pathLst>
            </a:custGeom>
            <a:solidFill>
              <a:srgbClr val="2EA7FF"/>
            </a:solidFill>
            <a:ln>
              <a:noFill/>
            </a:ln>
          </p:spPr>
          <p:txBody>
            <a:bodyPr/>
            <a:lstStyle/>
            <a:p>
              <a:endParaRPr lang="en-US"/>
            </a:p>
          </p:txBody>
        </p:sp>
        <p:sp>
          <p:nvSpPr>
            <p:cNvPr id="35" name="Freeform 35"/>
            <p:cNvSpPr/>
            <p:nvPr/>
          </p:nvSpPr>
          <p:spPr>
            <a:xfrm>
              <a:off x="4114800" y="3478292"/>
              <a:ext cx="1485900" cy="647700"/>
            </a:xfrm>
            <a:custGeom>
              <a:avLst/>
              <a:gdLst/>
              <a:ahLst/>
              <a:cxnLst/>
              <a:rect l="l" t="t" r="r" b="b"/>
              <a:pathLst>
                <a:path w="1485900" h="647700">
                  <a:moveTo>
                    <a:pt x="133350" y="0"/>
                  </a:moveTo>
                  <a:lnTo>
                    <a:pt x="1352550" y="0"/>
                  </a:lnTo>
                  <a:cubicBezTo>
                    <a:pt x="1426197" y="0"/>
                    <a:pt x="1485900" y="59703"/>
                    <a:pt x="1485900" y="133350"/>
                  </a:cubicBezTo>
                  <a:lnTo>
                    <a:pt x="1485900" y="514350"/>
                  </a:lnTo>
                  <a:cubicBezTo>
                    <a:pt x="1485900" y="587997"/>
                    <a:pt x="1426197" y="647700"/>
                    <a:pt x="1352550" y="647700"/>
                  </a:cubicBezTo>
                  <a:lnTo>
                    <a:pt x="133350" y="647700"/>
                  </a:lnTo>
                  <a:cubicBezTo>
                    <a:pt x="59703" y="647700"/>
                    <a:pt x="0" y="587997"/>
                    <a:pt x="0" y="514350"/>
                  </a:cubicBezTo>
                  <a:lnTo>
                    <a:pt x="0" y="133350"/>
                  </a:lnTo>
                  <a:cubicBezTo>
                    <a:pt x="0" y="59703"/>
                    <a:pt x="59703" y="0"/>
                    <a:pt x="133350" y="0"/>
                  </a:cubicBezTo>
                  <a:close/>
                </a:path>
              </a:pathLst>
            </a:custGeom>
            <a:solidFill>
              <a:srgbClr val="12263A"/>
            </a:solidFill>
            <a:ln w="9525">
              <a:solidFill>
                <a:srgbClr val="2EA7FF"/>
              </a:solidFill>
            </a:ln>
          </p:spPr>
          <p:txBody>
            <a:bodyPr/>
            <a:lstStyle/>
            <a:p>
              <a:endParaRPr lang="en-US"/>
            </a:p>
          </p:txBody>
        </p:sp>
        <p:sp>
          <p:nvSpPr>
            <p:cNvPr id="36" name="TextBox 36"/>
            <p:cNvSpPr txBox="1"/>
            <p:nvPr/>
          </p:nvSpPr>
          <p:spPr>
            <a:xfrm>
              <a:off x="4210542" y="3646847"/>
              <a:ext cx="1294417" cy="335280"/>
            </a:xfrm>
            <a:prstGeom prst="rect">
              <a:avLst/>
            </a:prstGeom>
            <a:noFill/>
            <a:ln>
              <a:noFill/>
            </a:ln>
          </p:spPr>
          <p:txBody>
            <a:bodyPr wrap="none" lIns="0" tIns="0" rIns="0" bIns="0" anchor="t" anchorCtr="0">
              <a:spAutoFit/>
            </a:bodyPr>
            <a:lstStyle/>
            <a:p>
              <a:pPr algn="ctr"/>
              <a:r>
                <a:rPr lang="zh-CN" sz="1650" b="1" dirty="0">
                  <a:solidFill>
                    <a:srgbClr val="00D1FF"/>
                  </a:solidFill>
                  <a:latin typeface="Arial"/>
                  <a:ea typeface="Microsoft YaHei"/>
                  <a:cs typeface="Arial"/>
                </a:rPr>
                <a:t>Simply Ask</a:t>
              </a:r>
            </a:p>
          </p:txBody>
        </p:sp>
      </p:grpSp>
      <p:sp>
        <p:nvSpPr>
          <p:cNvPr id="38" name="Freeform 38"/>
          <p:cNvSpPr/>
          <p:nvPr/>
        </p:nvSpPr>
        <p:spPr>
          <a:xfrm>
            <a:off x="5657850" y="1485900"/>
            <a:ext cx="5772150" cy="3657600"/>
          </a:xfrm>
          <a:custGeom>
            <a:avLst/>
            <a:gdLst/>
            <a:ahLst/>
            <a:cxnLst/>
            <a:rect l="l" t="t" r="r" b="b"/>
            <a:pathLst>
              <a:path w="5772150" h="3657600">
                <a:moveTo>
                  <a:pt x="171450" y="0"/>
                </a:moveTo>
                <a:lnTo>
                  <a:pt x="5600700" y="0"/>
                </a:lnTo>
                <a:cubicBezTo>
                  <a:pt x="5695389" y="0"/>
                  <a:pt x="5772150" y="76761"/>
                  <a:pt x="5772150" y="171450"/>
                </a:cubicBezTo>
                <a:lnTo>
                  <a:pt x="5772150" y="3486150"/>
                </a:lnTo>
                <a:cubicBezTo>
                  <a:pt x="5772150" y="3580839"/>
                  <a:pt x="5695389" y="3657600"/>
                  <a:pt x="5600700" y="3657600"/>
                </a:cubicBezTo>
                <a:lnTo>
                  <a:pt x="171450" y="3657600"/>
                </a:lnTo>
                <a:cubicBezTo>
                  <a:pt x="76761" y="3657600"/>
                  <a:pt x="0" y="3580839"/>
                  <a:pt x="0" y="3486150"/>
                </a:cubicBezTo>
                <a:lnTo>
                  <a:pt x="0" y="171450"/>
                </a:lnTo>
                <a:cubicBezTo>
                  <a:pt x="0" y="76761"/>
                  <a:pt x="76761" y="0"/>
                  <a:pt x="171450" y="0"/>
                </a:cubicBezTo>
                <a:close/>
              </a:path>
            </a:pathLst>
          </a:custGeom>
          <a:solidFill>
            <a:srgbClr val="0E1D2E"/>
          </a:solidFill>
          <a:ln w="9525">
            <a:solidFill>
              <a:srgbClr val="294157"/>
            </a:solidFill>
          </a:ln>
        </p:spPr>
        <p:txBody>
          <a:bodyPr/>
          <a:lstStyle/>
          <a:p>
            <a:endParaRPr lang="en-US"/>
          </a:p>
        </p:txBody>
      </p:sp>
      <p:sp>
        <p:nvSpPr>
          <p:cNvPr id="39" name="TextBox 39"/>
          <p:cNvSpPr txBox="1"/>
          <p:nvPr/>
        </p:nvSpPr>
        <p:spPr>
          <a:xfrm>
            <a:off x="5921692" y="1526308"/>
            <a:ext cx="5837089" cy="350520"/>
          </a:xfrm>
          <a:prstGeom prst="rect">
            <a:avLst/>
          </a:prstGeom>
          <a:noFill/>
          <a:ln>
            <a:noFill/>
          </a:ln>
        </p:spPr>
        <p:txBody>
          <a:bodyPr wrap="none" lIns="0" tIns="0" rIns="0" bIns="0" anchor="t" anchorCtr="0">
            <a:spAutoFit/>
          </a:bodyPr>
          <a:lstStyle/>
          <a:p>
            <a:pPr algn="l"/>
            <a:r>
              <a:rPr lang="zh-CN" sz="1725" b="1" dirty="0">
                <a:solidFill>
                  <a:srgbClr val="F4F8FF"/>
                </a:solidFill>
                <a:latin typeface="Arial"/>
                <a:ea typeface="Microsoft YaHei"/>
                <a:cs typeface="Arial"/>
              </a:rPr>
              <a:t>Factory questions answered in plain language</a:t>
            </a:r>
          </a:p>
        </p:txBody>
      </p:sp>
      <p:sp>
        <p:nvSpPr>
          <p:cNvPr id="40" name="Freeform 40"/>
          <p:cNvSpPr/>
          <p:nvPr/>
        </p:nvSpPr>
        <p:spPr>
          <a:xfrm>
            <a:off x="5905500" y="1847850"/>
            <a:ext cx="5219700" cy="400050"/>
          </a:xfrm>
          <a:custGeom>
            <a:avLst/>
            <a:gdLst/>
            <a:ahLst/>
            <a:cxnLst/>
            <a:rect l="l" t="t" r="r" b="b"/>
            <a:pathLst>
              <a:path w="5219700" h="400050">
                <a:moveTo>
                  <a:pt x="114300" y="0"/>
                </a:moveTo>
                <a:lnTo>
                  <a:pt x="5105400" y="0"/>
                </a:lnTo>
                <a:cubicBezTo>
                  <a:pt x="5168526" y="0"/>
                  <a:pt x="5219700" y="51174"/>
                  <a:pt x="5219700" y="114300"/>
                </a:cubicBezTo>
                <a:lnTo>
                  <a:pt x="5219700" y="285750"/>
                </a:lnTo>
                <a:cubicBezTo>
                  <a:pt x="5219700" y="348876"/>
                  <a:pt x="5168526" y="400050"/>
                  <a:pt x="5105400" y="400050"/>
                </a:cubicBezTo>
                <a:lnTo>
                  <a:pt x="114300" y="400050"/>
                </a:lnTo>
                <a:cubicBezTo>
                  <a:pt x="51174" y="400050"/>
                  <a:pt x="0" y="348876"/>
                  <a:pt x="0" y="285750"/>
                </a:cubicBezTo>
                <a:lnTo>
                  <a:pt x="0" y="114300"/>
                </a:lnTo>
                <a:cubicBezTo>
                  <a:pt x="0" y="51174"/>
                  <a:pt x="51174" y="0"/>
                  <a:pt x="114300" y="0"/>
                </a:cubicBezTo>
                <a:close/>
              </a:path>
            </a:pathLst>
          </a:custGeom>
          <a:solidFill>
            <a:srgbClr val="12263A"/>
          </a:solidFill>
          <a:ln w="9525">
            <a:solidFill>
              <a:srgbClr val="294157"/>
            </a:solidFill>
          </a:ln>
        </p:spPr>
        <p:txBody>
          <a:bodyPr/>
          <a:lstStyle/>
          <a:p>
            <a:endParaRPr lang="en-US"/>
          </a:p>
        </p:txBody>
      </p:sp>
      <p:grpSp>
        <p:nvGrpSpPr>
          <p:cNvPr id="46" name="Group 46"/>
          <p:cNvGrpSpPr/>
          <p:nvPr/>
        </p:nvGrpSpPr>
        <p:grpSpPr>
          <a:xfrm>
            <a:off x="6086475" y="1962150"/>
            <a:ext cx="172949" cy="180975"/>
            <a:chOff x="6086475" y="1962150"/>
            <a:chExt cx="172949" cy="180975"/>
          </a:xfrm>
        </p:grpSpPr>
        <p:sp>
          <p:nvSpPr>
            <p:cNvPr id="41" name="Freeform 41"/>
            <p:cNvSpPr/>
            <p:nvPr/>
          </p:nvSpPr>
          <p:spPr>
            <a:xfrm>
              <a:off x="6134100" y="2009775"/>
              <a:ext cx="76200" cy="9525"/>
            </a:xfrm>
            <a:custGeom>
              <a:avLst/>
              <a:gdLst/>
              <a:ahLst/>
              <a:cxnLst/>
              <a:rect l="l" t="t" r="r" b="b"/>
              <a:pathLst>
                <a:path w="76200" h="9525">
                  <a:moveTo>
                    <a:pt x="0" y="0"/>
                  </a:moveTo>
                  <a:lnTo>
                    <a:pt x="76200" y="0"/>
                  </a:lnTo>
                </a:path>
              </a:pathLst>
            </a:custGeom>
            <a:noFill/>
            <a:ln w="19050">
              <a:solidFill>
                <a:srgbClr val="00D1FF"/>
              </a:solidFill>
            </a:ln>
          </p:spPr>
          <p:txBody>
            <a:bodyPr/>
            <a:lstStyle/>
            <a:p>
              <a:endParaRPr lang="en-US"/>
            </a:p>
          </p:txBody>
        </p:sp>
        <p:sp>
          <p:nvSpPr>
            <p:cNvPr id="42" name="Freeform 42"/>
            <p:cNvSpPr/>
            <p:nvPr/>
          </p:nvSpPr>
          <p:spPr>
            <a:xfrm>
              <a:off x="6134100" y="2047875"/>
              <a:ext cx="57150" cy="9525"/>
            </a:xfrm>
            <a:custGeom>
              <a:avLst/>
              <a:gdLst/>
              <a:ahLst/>
              <a:cxnLst/>
              <a:rect l="l" t="t" r="r" b="b"/>
              <a:pathLst>
                <a:path w="57150" h="9525">
                  <a:moveTo>
                    <a:pt x="0" y="0"/>
                  </a:moveTo>
                  <a:lnTo>
                    <a:pt x="57150" y="0"/>
                  </a:lnTo>
                </a:path>
              </a:pathLst>
            </a:custGeom>
            <a:noFill/>
            <a:ln w="19050">
              <a:solidFill>
                <a:srgbClr val="00D1FF"/>
              </a:solidFill>
            </a:ln>
          </p:spPr>
          <p:txBody>
            <a:bodyPr/>
            <a:lstStyle/>
            <a:p>
              <a:endParaRPr lang="en-US"/>
            </a:p>
          </p:txBody>
        </p:sp>
        <p:sp>
          <p:nvSpPr>
            <p:cNvPr id="43" name="Freeform 43"/>
            <p:cNvSpPr/>
            <p:nvPr/>
          </p:nvSpPr>
          <p:spPr>
            <a:xfrm>
              <a:off x="6086475" y="1962150"/>
              <a:ext cx="171450" cy="161925"/>
            </a:xfrm>
            <a:custGeom>
              <a:avLst/>
              <a:gdLst/>
              <a:ahLst/>
              <a:cxnLst/>
              <a:rect l="l" t="t" r="r" b="b"/>
              <a:pathLst>
                <a:path w="171450" h="161925">
                  <a:moveTo>
                    <a:pt x="104775" y="133350"/>
                  </a:moveTo>
                  <a:lnTo>
                    <a:pt x="95250" y="133350"/>
                  </a:lnTo>
                  <a:lnTo>
                    <a:pt x="47625" y="161925"/>
                  </a:lnTo>
                  <a:lnTo>
                    <a:pt x="47625" y="133350"/>
                  </a:lnTo>
                  <a:lnTo>
                    <a:pt x="28575" y="133350"/>
                  </a:lnTo>
                  <a:cubicBezTo>
                    <a:pt x="12793" y="133350"/>
                    <a:pt x="0" y="120557"/>
                    <a:pt x="0" y="104775"/>
                  </a:cubicBezTo>
                  <a:lnTo>
                    <a:pt x="0" y="28575"/>
                  </a:lnTo>
                  <a:cubicBezTo>
                    <a:pt x="0" y="12793"/>
                    <a:pt x="12793" y="0"/>
                    <a:pt x="28575" y="0"/>
                  </a:cubicBezTo>
                  <a:lnTo>
                    <a:pt x="142875" y="0"/>
                  </a:lnTo>
                  <a:cubicBezTo>
                    <a:pt x="158657" y="0"/>
                    <a:pt x="171450" y="12793"/>
                    <a:pt x="171450" y="28575"/>
                  </a:cubicBezTo>
                  <a:lnTo>
                    <a:pt x="171450" y="71438"/>
                  </a:lnTo>
                </a:path>
              </a:pathLst>
            </a:custGeom>
            <a:noFill/>
            <a:ln w="19050">
              <a:solidFill>
                <a:srgbClr val="00D1FF"/>
              </a:solidFill>
            </a:ln>
          </p:spPr>
          <p:txBody>
            <a:bodyPr/>
            <a:lstStyle/>
            <a:p>
              <a:endParaRPr lang="en-US"/>
            </a:p>
          </p:txBody>
        </p:sp>
        <p:sp>
          <p:nvSpPr>
            <p:cNvPr id="44" name="Freeform 44"/>
            <p:cNvSpPr/>
            <p:nvPr/>
          </p:nvSpPr>
          <p:spPr>
            <a:xfrm>
              <a:off x="6238875" y="2133600"/>
              <a:ext cx="9525" cy="9525"/>
            </a:xfrm>
            <a:custGeom>
              <a:avLst/>
              <a:gdLst/>
              <a:ahLst/>
              <a:cxnLst/>
              <a:rect l="l" t="t" r="r" b="b"/>
              <a:pathLst>
                <a:path w="9525" h="9525">
                  <a:moveTo>
                    <a:pt x="0" y="0"/>
                  </a:moveTo>
                  <a:lnTo>
                    <a:pt x="0" y="95"/>
                  </a:lnTo>
                </a:path>
              </a:pathLst>
            </a:custGeom>
            <a:noFill/>
            <a:ln w="19050">
              <a:solidFill>
                <a:srgbClr val="00D1FF"/>
              </a:solidFill>
            </a:ln>
          </p:spPr>
          <p:txBody>
            <a:bodyPr/>
            <a:lstStyle/>
            <a:p>
              <a:endParaRPr lang="en-US"/>
            </a:p>
          </p:txBody>
        </p:sp>
        <p:sp>
          <p:nvSpPr>
            <p:cNvPr id="45" name="Freeform 45"/>
            <p:cNvSpPr/>
            <p:nvPr/>
          </p:nvSpPr>
          <p:spPr>
            <a:xfrm>
              <a:off x="6224588" y="2065005"/>
              <a:ext cx="34836" cy="40020"/>
            </a:xfrm>
            <a:custGeom>
              <a:avLst/>
              <a:gdLst/>
              <a:ahLst/>
              <a:cxnLst/>
              <a:rect l="l" t="t" r="r" b="b"/>
              <a:pathLst>
                <a:path w="34836" h="40020">
                  <a:moveTo>
                    <a:pt x="14288" y="40020"/>
                  </a:moveTo>
                  <a:cubicBezTo>
                    <a:pt x="23075" y="39992"/>
                    <a:pt x="30707" y="33965"/>
                    <a:pt x="32771" y="25424"/>
                  </a:cubicBezTo>
                  <a:cubicBezTo>
                    <a:pt x="34836" y="16882"/>
                    <a:pt x="30798" y="8035"/>
                    <a:pt x="22993" y="3997"/>
                  </a:cubicBezTo>
                  <a:cubicBezTo>
                    <a:pt x="15191" y="0"/>
                    <a:pt x="5664" y="1906"/>
                    <a:pt x="0" y="8597"/>
                  </a:cubicBezTo>
                </a:path>
              </a:pathLst>
            </a:custGeom>
            <a:noFill/>
            <a:ln w="19050">
              <a:solidFill>
                <a:srgbClr val="00D1FF"/>
              </a:solidFill>
            </a:ln>
          </p:spPr>
          <p:txBody>
            <a:bodyPr/>
            <a:lstStyle/>
            <a:p>
              <a:endParaRPr lang="en-US"/>
            </a:p>
          </p:txBody>
        </p:sp>
      </p:grpSp>
      <p:sp>
        <p:nvSpPr>
          <p:cNvPr id="47" name="TextBox 47"/>
          <p:cNvSpPr txBox="1"/>
          <p:nvPr/>
        </p:nvSpPr>
        <p:spPr>
          <a:xfrm>
            <a:off x="6401752" y="1941671"/>
            <a:ext cx="3043547" cy="289560"/>
          </a:xfrm>
          <a:prstGeom prst="rect">
            <a:avLst/>
          </a:prstGeom>
          <a:noFill/>
          <a:ln>
            <a:noFill/>
          </a:ln>
        </p:spPr>
        <p:txBody>
          <a:bodyPr wrap="none" lIns="0" tIns="0" rIns="0" bIns="0" anchor="t" anchorCtr="0">
            <a:spAutoFit/>
          </a:bodyPr>
          <a:lstStyle/>
          <a:p>
            <a:pPr algn="l"/>
            <a:r>
              <a:rPr lang="zh-CN" sz="1425" dirty="0">
                <a:solidFill>
                  <a:srgbClr val="F4F8FF"/>
                </a:solidFill>
                <a:latin typeface="Arial"/>
                <a:ea typeface="Microsoft YaHei"/>
                <a:cs typeface="Arial"/>
              </a:rPr>
              <a:t>Why is Line A behind schedule?</a:t>
            </a:r>
          </a:p>
        </p:txBody>
      </p:sp>
      <p:sp>
        <p:nvSpPr>
          <p:cNvPr id="48" name="Freeform 48"/>
          <p:cNvSpPr/>
          <p:nvPr/>
        </p:nvSpPr>
        <p:spPr>
          <a:xfrm>
            <a:off x="5905500" y="2519363"/>
            <a:ext cx="5219700" cy="400050"/>
          </a:xfrm>
          <a:custGeom>
            <a:avLst/>
            <a:gdLst/>
            <a:ahLst/>
            <a:cxnLst/>
            <a:rect l="l" t="t" r="r" b="b"/>
            <a:pathLst>
              <a:path w="5219700" h="400050">
                <a:moveTo>
                  <a:pt x="114300" y="0"/>
                </a:moveTo>
                <a:lnTo>
                  <a:pt x="5105400" y="0"/>
                </a:lnTo>
                <a:cubicBezTo>
                  <a:pt x="5168526" y="0"/>
                  <a:pt x="5219700" y="51174"/>
                  <a:pt x="5219700" y="114300"/>
                </a:cubicBezTo>
                <a:lnTo>
                  <a:pt x="5219700" y="285750"/>
                </a:lnTo>
                <a:cubicBezTo>
                  <a:pt x="5219700" y="348876"/>
                  <a:pt x="5168526" y="400050"/>
                  <a:pt x="5105400" y="400050"/>
                </a:cubicBezTo>
                <a:lnTo>
                  <a:pt x="114300" y="400050"/>
                </a:lnTo>
                <a:cubicBezTo>
                  <a:pt x="51174" y="400050"/>
                  <a:pt x="0" y="348876"/>
                  <a:pt x="0" y="285750"/>
                </a:cubicBezTo>
                <a:lnTo>
                  <a:pt x="0" y="114300"/>
                </a:lnTo>
                <a:cubicBezTo>
                  <a:pt x="0" y="51174"/>
                  <a:pt x="51174" y="0"/>
                  <a:pt x="114300" y="0"/>
                </a:cubicBezTo>
                <a:close/>
              </a:path>
            </a:pathLst>
          </a:custGeom>
          <a:solidFill>
            <a:srgbClr val="0E1D2E"/>
          </a:solidFill>
          <a:ln w="9525">
            <a:solidFill>
              <a:srgbClr val="294157"/>
            </a:solidFill>
          </a:ln>
        </p:spPr>
        <p:txBody>
          <a:bodyPr/>
          <a:lstStyle/>
          <a:p>
            <a:endParaRPr lang="en-US"/>
          </a:p>
        </p:txBody>
      </p:sp>
      <p:grpSp>
        <p:nvGrpSpPr>
          <p:cNvPr id="54" name="Group 54"/>
          <p:cNvGrpSpPr/>
          <p:nvPr/>
        </p:nvGrpSpPr>
        <p:grpSpPr>
          <a:xfrm>
            <a:off x="6086475" y="2629622"/>
            <a:ext cx="172949" cy="180975"/>
            <a:chOff x="6086475" y="2495550"/>
            <a:chExt cx="172949" cy="180975"/>
          </a:xfrm>
        </p:grpSpPr>
        <p:sp>
          <p:nvSpPr>
            <p:cNvPr id="49" name="Freeform 49"/>
            <p:cNvSpPr/>
            <p:nvPr/>
          </p:nvSpPr>
          <p:spPr>
            <a:xfrm>
              <a:off x="6134100" y="2543175"/>
              <a:ext cx="76200" cy="9525"/>
            </a:xfrm>
            <a:custGeom>
              <a:avLst/>
              <a:gdLst/>
              <a:ahLst/>
              <a:cxnLst/>
              <a:rect l="l" t="t" r="r" b="b"/>
              <a:pathLst>
                <a:path w="76200" h="9525">
                  <a:moveTo>
                    <a:pt x="0" y="0"/>
                  </a:moveTo>
                  <a:lnTo>
                    <a:pt x="76200" y="0"/>
                  </a:lnTo>
                </a:path>
              </a:pathLst>
            </a:custGeom>
            <a:noFill/>
            <a:ln w="19050">
              <a:solidFill>
                <a:srgbClr val="00D1FF"/>
              </a:solidFill>
            </a:ln>
          </p:spPr>
          <p:txBody>
            <a:bodyPr/>
            <a:lstStyle/>
            <a:p>
              <a:endParaRPr lang="en-US"/>
            </a:p>
          </p:txBody>
        </p:sp>
        <p:sp>
          <p:nvSpPr>
            <p:cNvPr id="50" name="Freeform 50"/>
            <p:cNvSpPr/>
            <p:nvPr/>
          </p:nvSpPr>
          <p:spPr>
            <a:xfrm>
              <a:off x="6134100" y="2581275"/>
              <a:ext cx="57150" cy="9525"/>
            </a:xfrm>
            <a:custGeom>
              <a:avLst/>
              <a:gdLst/>
              <a:ahLst/>
              <a:cxnLst/>
              <a:rect l="l" t="t" r="r" b="b"/>
              <a:pathLst>
                <a:path w="57150" h="9525">
                  <a:moveTo>
                    <a:pt x="0" y="0"/>
                  </a:moveTo>
                  <a:lnTo>
                    <a:pt x="57150" y="0"/>
                  </a:lnTo>
                </a:path>
              </a:pathLst>
            </a:custGeom>
            <a:noFill/>
            <a:ln w="19050">
              <a:solidFill>
                <a:srgbClr val="00D1FF"/>
              </a:solidFill>
            </a:ln>
          </p:spPr>
          <p:txBody>
            <a:bodyPr/>
            <a:lstStyle/>
            <a:p>
              <a:endParaRPr lang="en-US"/>
            </a:p>
          </p:txBody>
        </p:sp>
        <p:sp>
          <p:nvSpPr>
            <p:cNvPr id="51" name="Freeform 51"/>
            <p:cNvSpPr/>
            <p:nvPr/>
          </p:nvSpPr>
          <p:spPr>
            <a:xfrm>
              <a:off x="6086475" y="2495550"/>
              <a:ext cx="171450" cy="161925"/>
            </a:xfrm>
            <a:custGeom>
              <a:avLst/>
              <a:gdLst/>
              <a:ahLst/>
              <a:cxnLst/>
              <a:rect l="l" t="t" r="r" b="b"/>
              <a:pathLst>
                <a:path w="171450" h="161925">
                  <a:moveTo>
                    <a:pt x="104775" y="133350"/>
                  </a:moveTo>
                  <a:lnTo>
                    <a:pt x="95250" y="133350"/>
                  </a:lnTo>
                  <a:lnTo>
                    <a:pt x="47625" y="161925"/>
                  </a:lnTo>
                  <a:lnTo>
                    <a:pt x="47625" y="133350"/>
                  </a:lnTo>
                  <a:lnTo>
                    <a:pt x="28575" y="133350"/>
                  </a:lnTo>
                  <a:cubicBezTo>
                    <a:pt x="12793" y="133350"/>
                    <a:pt x="0" y="120557"/>
                    <a:pt x="0" y="104775"/>
                  </a:cubicBezTo>
                  <a:lnTo>
                    <a:pt x="0" y="28575"/>
                  </a:lnTo>
                  <a:cubicBezTo>
                    <a:pt x="0" y="12793"/>
                    <a:pt x="12793" y="0"/>
                    <a:pt x="28575" y="0"/>
                  </a:cubicBezTo>
                  <a:lnTo>
                    <a:pt x="142875" y="0"/>
                  </a:lnTo>
                  <a:cubicBezTo>
                    <a:pt x="158657" y="0"/>
                    <a:pt x="171450" y="12793"/>
                    <a:pt x="171450" y="28575"/>
                  </a:cubicBezTo>
                  <a:lnTo>
                    <a:pt x="171450" y="71438"/>
                  </a:lnTo>
                </a:path>
              </a:pathLst>
            </a:custGeom>
            <a:noFill/>
            <a:ln w="19050">
              <a:solidFill>
                <a:srgbClr val="00D1FF"/>
              </a:solidFill>
            </a:ln>
          </p:spPr>
          <p:txBody>
            <a:bodyPr/>
            <a:lstStyle/>
            <a:p>
              <a:endParaRPr lang="en-US"/>
            </a:p>
          </p:txBody>
        </p:sp>
        <p:sp>
          <p:nvSpPr>
            <p:cNvPr id="52" name="Freeform 52"/>
            <p:cNvSpPr/>
            <p:nvPr/>
          </p:nvSpPr>
          <p:spPr>
            <a:xfrm>
              <a:off x="6238875" y="2667000"/>
              <a:ext cx="9525" cy="9525"/>
            </a:xfrm>
            <a:custGeom>
              <a:avLst/>
              <a:gdLst/>
              <a:ahLst/>
              <a:cxnLst/>
              <a:rect l="l" t="t" r="r" b="b"/>
              <a:pathLst>
                <a:path w="9525" h="9525">
                  <a:moveTo>
                    <a:pt x="0" y="0"/>
                  </a:moveTo>
                  <a:lnTo>
                    <a:pt x="0" y="95"/>
                  </a:lnTo>
                </a:path>
              </a:pathLst>
            </a:custGeom>
            <a:noFill/>
            <a:ln w="19050">
              <a:solidFill>
                <a:srgbClr val="00D1FF"/>
              </a:solidFill>
            </a:ln>
          </p:spPr>
          <p:txBody>
            <a:bodyPr/>
            <a:lstStyle/>
            <a:p>
              <a:endParaRPr lang="en-US"/>
            </a:p>
          </p:txBody>
        </p:sp>
        <p:sp>
          <p:nvSpPr>
            <p:cNvPr id="53" name="Freeform 53"/>
            <p:cNvSpPr/>
            <p:nvPr/>
          </p:nvSpPr>
          <p:spPr>
            <a:xfrm>
              <a:off x="6224588" y="2598405"/>
              <a:ext cx="34836" cy="40020"/>
            </a:xfrm>
            <a:custGeom>
              <a:avLst/>
              <a:gdLst/>
              <a:ahLst/>
              <a:cxnLst/>
              <a:rect l="l" t="t" r="r" b="b"/>
              <a:pathLst>
                <a:path w="34836" h="40020">
                  <a:moveTo>
                    <a:pt x="14288" y="40020"/>
                  </a:moveTo>
                  <a:cubicBezTo>
                    <a:pt x="23075" y="39992"/>
                    <a:pt x="30707" y="33965"/>
                    <a:pt x="32771" y="25424"/>
                  </a:cubicBezTo>
                  <a:cubicBezTo>
                    <a:pt x="34836" y="16882"/>
                    <a:pt x="30798" y="8035"/>
                    <a:pt x="22993" y="3997"/>
                  </a:cubicBezTo>
                  <a:cubicBezTo>
                    <a:pt x="15191" y="0"/>
                    <a:pt x="5664" y="1906"/>
                    <a:pt x="0" y="8597"/>
                  </a:cubicBezTo>
                </a:path>
              </a:pathLst>
            </a:custGeom>
            <a:noFill/>
            <a:ln w="19050">
              <a:solidFill>
                <a:srgbClr val="00D1FF"/>
              </a:solidFill>
            </a:ln>
          </p:spPr>
          <p:txBody>
            <a:bodyPr/>
            <a:lstStyle/>
            <a:p>
              <a:endParaRPr lang="en-US"/>
            </a:p>
          </p:txBody>
        </p:sp>
      </p:grpSp>
      <p:sp>
        <p:nvSpPr>
          <p:cNvPr id="55" name="TextBox 55"/>
          <p:cNvSpPr txBox="1"/>
          <p:nvPr/>
        </p:nvSpPr>
        <p:spPr>
          <a:xfrm>
            <a:off x="6389935" y="2609850"/>
            <a:ext cx="4833390" cy="289560"/>
          </a:xfrm>
          <a:prstGeom prst="rect">
            <a:avLst/>
          </a:prstGeom>
          <a:noFill/>
          <a:ln>
            <a:noFill/>
          </a:ln>
        </p:spPr>
        <p:txBody>
          <a:bodyPr wrap="none" lIns="0" tIns="0" rIns="0" bIns="0" anchor="t" anchorCtr="0">
            <a:spAutoFit/>
          </a:bodyPr>
          <a:lstStyle/>
          <a:p>
            <a:pPr algn="l"/>
            <a:r>
              <a:rPr lang="zh-CN" sz="1425" dirty="0">
                <a:solidFill>
                  <a:srgbClr val="F4F8FF"/>
                </a:solidFill>
                <a:latin typeface="Arial"/>
                <a:ea typeface="Microsoft YaHei"/>
                <a:cs typeface="Arial"/>
              </a:rPr>
              <a:t>Which machine has the highest downtime today?</a:t>
            </a:r>
          </a:p>
        </p:txBody>
      </p:sp>
      <p:sp>
        <p:nvSpPr>
          <p:cNvPr id="56" name="Freeform 56"/>
          <p:cNvSpPr/>
          <p:nvPr/>
        </p:nvSpPr>
        <p:spPr>
          <a:xfrm>
            <a:off x="5905500" y="3190876"/>
            <a:ext cx="5219700" cy="400050"/>
          </a:xfrm>
          <a:custGeom>
            <a:avLst/>
            <a:gdLst/>
            <a:ahLst/>
            <a:cxnLst/>
            <a:rect l="l" t="t" r="r" b="b"/>
            <a:pathLst>
              <a:path w="5219700" h="400050">
                <a:moveTo>
                  <a:pt x="114300" y="0"/>
                </a:moveTo>
                <a:lnTo>
                  <a:pt x="5105400" y="0"/>
                </a:lnTo>
                <a:cubicBezTo>
                  <a:pt x="5168526" y="0"/>
                  <a:pt x="5219700" y="51174"/>
                  <a:pt x="5219700" y="114300"/>
                </a:cubicBezTo>
                <a:lnTo>
                  <a:pt x="5219700" y="285750"/>
                </a:lnTo>
                <a:cubicBezTo>
                  <a:pt x="5219700" y="348876"/>
                  <a:pt x="5168526" y="400050"/>
                  <a:pt x="5105400" y="400050"/>
                </a:cubicBezTo>
                <a:lnTo>
                  <a:pt x="114300" y="400050"/>
                </a:lnTo>
                <a:cubicBezTo>
                  <a:pt x="51174" y="400050"/>
                  <a:pt x="0" y="348876"/>
                  <a:pt x="0" y="285750"/>
                </a:cubicBezTo>
                <a:lnTo>
                  <a:pt x="0" y="114300"/>
                </a:lnTo>
                <a:cubicBezTo>
                  <a:pt x="0" y="51174"/>
                  <a:pt x="51174" y="0"/>
                  <a:pt x="114300" y="0"/>
                </a:cubicBezTo>
                <a:close/>
              </a:path>
            </a:pathLst>
          </a:custGeom>
          <a:solidFill>
            <a:srgbClr val="12263A"/>
          </a:solidFill>
          <a:ln w="9525">
            <a:solidFill>
              <a:srgbClr val="294157"/>
            </a:solidFill>
          </a:ln>
        </p:spPr>
        <p:txBody>
          <a:bodyPr/>
          <a:lstStyle/>
          <a:p>
            <a:endParaRPr lang="en-US"/>
          </a:p>
        </p:txBody>
      </p:sp>
      <p:grpSp>
        <p:nvGrpSpPr>
          <p:cNvPr id="62" name="Group 62"/>
          <p:cNvGrpSpPr/>
          <p:nvPr/>
        </p:nvGrpSpPr>
        <p:grpSpPr>
          <a:xfrm>
            <a:off x="6095623" y="3337051"/>
            <a:ext cx="172949" cy="180975"/>
            <a:chOff x="6086475" y="3028950"/>
            <a:chExt cx="172949" cy="180975"/>
          </a:xfrm>
        </p:grpSpPr>
        <p:sp>
          <p:nvSpPr>
            <p:cNvPr id="57" name="Freeform 57"/>
            <p:cNvSpPr/>
            <p:nvPr/>
          </p:nvSpPr>
          <p:spPr>
            <a:xfrm>
              <a:off x="6134100" y="3076575"/>
              <a:ext cx="76200" cy="9525"/>
            </a:xfrm>
            <a:custGeom>
              <a:avLst/>
              <a:gdLst/>
              <a:ahLst/>
              <a:cxnLst/>
              <a:rect l="l" t="t" r="r" b="b"/>
              <a:pathLst>
                <a:path w="76200" h="9525">
                  <a:moveTo>
                    <a:pt x="0" y="0"/>
                  </a:moveTo>
                  <a:lnTo>
                    <a:pt x="76200" y="0"/>
                  </a:lnTo>
                </a:path>
              </a:pathLst>
            </a:custGeom>
            <a:noFill/>
            <a:ln w="19050">
              <a:solidFill>
                <a:srgbClr val="00D1FF"/>
              </a:solidFill>
            </a:ln>
          </p:spPr>
          <p:txBody>
            <a:bodyPr/>
            <a:lstStyle/>
            <a:p>
              <a:endParaRPr lang="en-US"/>
            </a:p>
          </p:txBody>
        </p:sp>
        <p:sp>
          <p:nvSpPr>
            <p:cNvPr id="58" name="Freeform 58"/>
            <p:cNvSpPr/>
            <p:nvPr/>
          </p:nvSpPr>
          <p:spPr>
            <a:xfrm>
              <a:off x="6134100" y="3114675"/>
              <a:ext cx="57150" cy="9525"/>
            </a:xfrm>
            <a:custGeom>
              <a:avLst/>
              <a:gdLst/>
              <a:ahLst/>
              <a:cxnLst/>
              <a:rect l="l" t="t" r="r" b="b"/>
              <a:pathLst>
                <a:path w="57150" h="9525">
                  <a:moveTo>
                    <a:pt x="0" y="0"/>
                  </a:moveTo>
                  <a:lnTo>
                    <a:pt x="57150" y="0"/>
                  </a:lnTo>
                </a:path>
              </a:pathLst>
            </a:custGeom>
            <a:noFill/>
            <a:ln w="19050">
              <a:solidFill>
                <a:srgbClr val="00D1FF"/>
              </a:solidFill>
            </a:ln>
          </p:spPr>
          <p:txBody>
            <a:bodyPr/>
            <a:lstStyle/>
            <a:p>
              <a:endParaRPr lang="en-US"/>
            </a:p>
          </p:txBody>
        </p:sp>
        <p:sp>
          <p:nvSpPr>
            <p:cNvPr id="59" name="Freeform 59"/>
            <p:cNvSpPr/>
            <p:nvPr/>
          </p:nvSpPr>
          <p:spPr>
            <a:xfrm>
              <a:off x="6086475" y="3028950"/>
              <a:ext cx="171450" cy="161925"/>
            </a:xfrm>
            <a:custGeom>
              <a:avLst/>
              <a:gdLst/>
              <a:ahLst/>
              <a:cxnLst/>
              <a:rect l="l" t="t" r="r" b="b"/>
              <a:pathLst>
                <a:path w="171450" h="161925">
                  <a:moveTo>
                    <a:pt x="104775" y="133350"/>
                  </a:moveTo>
                  <a:lnTo>
                    <a:pt x="95250" y="133350"/>
                  </a:lnTo>
                  <a:lnTo>
                    <a:pt x="47625" y="161925"/>
                  </a:lnTo>
                  <a:lnTo>
                    <a:pt x="47625" y="133350"/>
                  </a:lnTo>
                  <a:lnTo>
                    <a:pt x="28575" y="133350"/>
                  </a:lnTo>
                  <a:cubicBezTo>
                    <a:pt x="12793" y="133350"/>
                    <a:pt x="0" y="120557"/>
                    <a:pt x="0" y="104775"/>
                  </a:cubicBezTo>
                  <a:lnTo>
                    <a:pt x="0" y="28575"/>
                  </a:lnTo>
                  <a:cubicBezTo>
                    <a:pt x="0" y="12793"/>
                    <a:pt x="12793" y="0"/>
                    <a:pt x="28575" y="0"/>
                  </a:cubicBezTo>
                  <a:lnTo>
                    <a:pt x="142875" y="0"/>
                  </a:lnTo>
                  <a:cubicBezTo>
                    <a:pt x="158657" y="0"/>
                    <a:pt x="171450" y="12793"/>
                    <a:pt x="171450" y="28575"/>
                  </a:cubicBezTo>
                  <a:lnTo>
                    <a:pt x="171450" y="71438"/>
                  </a:lnTo>
                </a:path>
              </a:pathLst>
            </a:custGeom>
            <a:noFill/>
            <a:ln w="19050">
              <a:solidFill>
                <a:srgbClr val="00D1FF"/>
              </a:solidFill>
            </a:ln>
          </p:spPr>
          <p:txBody>
            <a:bodyPr/>
            <a:lstStyle/>
            <a:p>
              <a:endParaRPr lang="en-US"/>
            </a:p>
          </p:txBody>
        </p:sp>
        <p:sp>
          <p:nvSpPr>
            <p:cNvPr id="60" name="Freeform 60"/>
            <p:cNvSpPr/>
            <p:nvPr/>
          </p:nvSpPr>
          <p:spPr>
            <a:xfrm>
              <a:off x="6238875" y="3200400"/>
              <a:ext cx="9525" cy="9525"/>
            </a:xfrm>
            <a:custGeom>
              <a:avLst/>
              <a:gdLst/>
              <a:ahLst/>
              <a:cxnLst/>
              <a:rect l="l" t="t" r="r" b="b"/>
              <a:pathLst>
                <a:path w="9525" h="9525">
                  <a:moveTo>
                    <a:pt x="0" y="0"/>
                  </a:moveTo>
                  <a:lnTo>
                    <a:pt x="0" y="95"/>
                  </a:lnTo>
                </a:path>
              </a:pathLst>
            </a:custGeom>
            <a:noFill/>
            <a:ln w="19050">
              <a:solidFill>
                <a:srgbClr val="00D1FF"/>
              </a:solidFill>
            </a:ln>
          </p:spPr>
          <p:txBody>
            <a:bodyPr/>
            <a:lstStyle/>
            <a:p>
              <a:endParaRPr lang="en-US"/>
            </a:p>
          </p:txBody>
        </p:sp>
        <p:sp>
          <p:nvSpPr>
            <p:cNvPr id="61" name="Freeform 61"/>
            <p:cNvSpPr/>
            <p:nvPr/>
          </p:nvSpPr>
          <p:spPr>
            <a:xfrm>
              <a:off x="6224588" y="3131805"/>
              <a:ext cx="34836" cy="40020"/>
            </a:xfrm>
            <a:custGeom>
              <a:avLst/>
              <a:gdLst/>
              <a:ahLst/>
              <a:cxnLst/>
              <a:rect l="l" t="t" r="r" b="b"/>
              <a:pathLst>
                <a:path w="34836" h="40020">
                  <a:moveTo>
                    <a:pt x="14288" y="40020"/>
                  </a:moveTo>
                  <a:cubicBezTo>
                    <a:pt x="23075" y="39992"/>
                    <a:pt x="30707" y="33965"/>
                    <a:pt x="32771" y="25424"/>
                  </a:cubicBezTo>
                  <a:cubicBezTo>
                    <a:pt x="34836" y="16882"/>
                    <a:pt x="30798" y="8035"/>
                    <a:pt x="22993" y="3997"/>
                  </a:cubicBezTo>
                  <a:cubicBezTo>
                    <a:pt x="15191" y="0"/>
                    <a:pt x="5664" y="1906"/>
                    <a:pt x="0" y="8597"/>
                  </a:cubicBezTo>
                </a:path>
              </a:pathLst>
            </a:custGeom>
            <a:noFill/>
            <a:ln w="19050">
              <a:solidFill>
                <a:srgbClr val="00D1FF"/>
              </a:solidFill>
            </a:ln>
          </p:spPr>
          <p:txBody>
            <a:bodyPr/>
            <a:lstStyle/>
            <a:p>
              <a:endParaRPr lang="en-US"/>
            </a:p>
          </p:txBody>
        </p:sp>
      </p:grpSp>
      <p:sp>
        <p:nvSpPr>
          <p:cNvPr id="63" name="TextBox 63"/>
          <p:cNvSpPr txBox="1"/>
          <p:nvPr/>
        </p:nvSpPr>
        <p:spPr>
          <a:xfrm>
            <a:off x="6389558" y="3307558"/>
            <a:ext cx="4281868" cy="289560"/>
          </a:xfrm>
          <a:prstGeom prst="rect">
            <a:avLst/>
          </a:prstGeom>
          <a:noFill/>
          <a:ln>
            <a:noFill/>
          </a:ln>
        </p:spPr>
        <p:txBody>
          <a:bodyPr wrap="none" lIns="0" tIns="0" rIns="0" bIns="0" anchor="t" anchorCtr="0">
            <a:spAutoFit/>
          </a:bodyPr>
          <a:lstStyle/>
          <a:p>
            <a:pPr algn="l"/>
            <a:r>
              <a:rPr lang="zh-CN" sz="1425" dirty="0">
                <a:solidFill>
                  <a:srgbClr val="F4F8FF"/>
                </a:solidFill>
                <a:latin typeface="Arial"/>
                <a:ea typeface="Microsoft YaHei"/>
                <a:cs typeface="Arial"/>
              </a:rPr>
              <a:t>What maintenance activities are overdue?</a:t>
            </a:r>
          </a:p>
        </p:txBody>
      </p:sp>
      <p:sp>
        <p:nvSpPr>
          <p:cNvPr id="64" name="Freeform 64"/>
          <p:cNvSpPr/>
          <p:nvPr/>
        </p:nvSpPr>
        <p:spPr>
          <a:xfrm>
            <a:off x="5905500" y="3862389"/>
            <a:ext cx="5219700" cy="400050"/>
          </a:xfrm>
          <a:custGeom>
            <a:avLst/>
            <a:gdLst/>
            <a:ahLst/>
            <a:cxnLst/>
            <a:rect l="l" t="t" r="r" b="b"/>
            <a:pathLst>
              <a:path w="5219700" h="400050">
                <a:moveTo>
                  <a:pt x="114300" y="0"/>
                </a:moveTo>
                <a:lnTo>
                  <a:pt x="5105400" y="0"/>
                </a:lnTo>
                <a:cubicBezTo>
                  <a:pt x="5168526" y="0"/>
                  <a:pt x="5219700" y="51174"/>
                  <a:pt x="5219700" y="114300"/>
                </a:cubicBezTo>
                <a:lnTo>
                  <a:pt x="5219700" y="285750"/>
                </a:lnTo>
                <a:cubicBezTo>
                  <a:pt x="5219700" y="348876"/>
                  <a:pt x="5168526" y="400050"/>
                  <a:pt x="5105400" y="400050"/>
                </a:cubicBezTo>
                <a:lnTo>
                  <a:pt x="114300" y="400050"/>
                </a:lnTo>
                <a:cubicBezTo>
                  <a:pt x="51174" y="400050"/>
                  <a:pt x="0" y="348876"/>
                  <a:pt x="0" y="285750"/>
                </a:cubicBezTo>
                <a:lnTo>
                  <a:pt x="0" y="114300"/>
                </a:lnTo>
                <a:cubicBezTo>
                  <a:pt x="0" y="51174"/>
                  <a:pt x="51174" y="0"/>
                  <a:pt x="114300" y="0"/>
                </a:cubicBezTo>
                <a:close/>
              </a:path>
            </a:pathLst>
          </a:custGeom>
          <a:solidFill>
            <a:srgbClr val="12263A"/>
          </a:solidFill>
          <a:ln w="9525">
            <a:solidFill>
              <a:srgbClr val="294157"/>
            </a:solidFill>
          </a:ln>
        </p:spPr>
        <p:txBody>
          <a:bodyPr/>
          <a:lstStyle/>
          <a:p>
            <a:endParaRPr lang="en-US"/>
          </a:p>
        </p:txBody>
      </p:sp>
      <p:grpSp>
        <p:nvGrpSpPr>
          <p:cNvPr id="70" name="Group 70"/>
          <p:cNvGrpSpPr/>
          <p:nvPr/>
        </p:nvGrpSpPr>
        <p:grpSpPr>
          <a:xfrm>
            <a:off x="6086475" y="3967824"/>
            <a:ext cx="172949" cy="180975"/>
            <a:chOff x="6086475" y="3562350"/>
            <a:chExt cx="172949" cy="180975"/>
          </a:xfrm>
        </p:grpSpPr>
        <p:sp>
          <p:nvSpPr>
            <p:cNvPr id="65" name="Freeform 65"/>
            <p:cNvSpPr/>
            <p:nvPr/>
          </p:nvSpPr>
          <p:spPr>
            <a:xfrm>
              <a:off x="6134100" y="3609975"/>
              <a:ext cx="76200" cy="9525"/>
            </a:xfrm>
            <a:custGeom>
              <a:avLst/>
              <a:gdLst/>
              <a:ahLst/>
              <a:cxnLst/>
              <a:rect l="l" t="t" r="r" b="b"/>
              <a:pathLst>
                <a:path w="76200" h="9525">
                  <a:moveTo>
                    <a:pt x="0" y="0"/>
                  </a:moveTo>
                  <a:lnTo>
                    <a:pt x="76200" y="0"/>
                  </a:lnTo>
                </a:path>
              </a:pathLst>
            </a:custGeom>
            <a:noFill/>
            <a:ln w="19050">
              <a:solidFill>
                <a:srgbClr val="00D1FF"/>
              </a:solidFill>
            </a:ln>
          </p:spPr>
          <p:txBody>
            <a:bodyPr/>
            <a:lstStyle/>
            <a:p>
              <a:endParaRPr lang="en-US"/>
            </a:p>
          </p:txBody>
        </p:sp>
        <p:sp>
          <p:nvSpPr>
            <p:cNvPr id="66" name="Freeform 66"/>
            <p:cNvSpPr/>
            <p:nvPr/>
          </p:nvSpPr>
          <p:spPr>
            <a:xfrm>
              <a:off x="6134100" y="3648075"/>
              <a:ext cx="57150" cy="9525"/>
            </a:xfrm>
            <a:custGeom>
              <a:avLst/>
              <a:gdLst/>
              <a:ahLst/>
              <a:cxnLst/>
              <a:rect l="l" t="t" r="r" b="b"/>
              <a:pathLst>
                <a:path w="57150" h="9525">
                  <a:moveTo>
                    <a:pt x="0" y="0"/>
                  </a:moveTo>
                  <a:lnTo>
                    <a:pt x="57150" y="0"/>
                  </a:lnTo>
                </a:path>
              </a:pathLst>
            </a:custGeom>
            <a:noFill/>
            <a:ln w="19050">
              <a:solidFill>
                <a:srgbClr val="00D1FF"/>
              </a:solidFill>
            </a:ln>
          </p:spPr>
          <p:txBody>
            <a:bodyPr/>
            <a:lstStyle/>
            <a:p>
              <a:endParaRPr lang="en-US"/>
            </a:p>
          </p:txBody>
        </p:sp>
        <p:sp>
          <p:nvSpPr>
            <p:cNvPr id="67" name="Freeform 67"/>
            <p:cNvSpPr/>
            <p:nvPr/>
          </p:nvSpPr>
          <p:spPr>
            <a:xfrm>
              <a:off x="6086475" y="3562350"/>
              <a:ext cx="171450" cy="161925"/>
            </a:xfrm>
            <a:custGeom>
              <a:avLst/>
              <a:gdLst/>
              <a:ahLst/>
              <a:cxnLst/>
              <a:rect l="l" t="t" r="r" b="b"/>
              <a:pathLst>
                <a:path w="171450" h="161925">
                  <a:moveTo>
                    <a:pt x="104775" y="133350"/>
                  </a:moveTo>
                  <a:lnTo>
                    <a:pt x="95250" y="133350"/>
                  </a:lnTo>
                  <a:lnTo>
                    <a:pt x="47625" y="161925"/>
                  </a:lnTo>
                  <a:lnTo>
                    <a:pt x="47625" y="133350"/>
                  </a:lnTo>
                  <a:lnTo>
                    <a:pt x="28575" y="133350"/>
                  </a:lnTo>
                  <a:cubicBezTo>
                    <a:pt x="12793" y="133350"/>
                    <a:pt x="0" y="120557"/>
                    <a:pt x="0" y="104775"/>
                  </a:cubicBezTo>
                  <a:lnTo>
                    <a:pt x="0" y="28575"/>
                  </a:lnTo>
                  <a:cubicBezTo>
                    <a:pt x="0" y="12793"/>
                    <a:pt x="12793" y="0"/>
                    <a:pt x="28575" y="0"/>
                  </a:cubicBezTo>
                  <a:lnTo>
                    <a:pt x="142875" y="0"/>
                  </a:lnTo>
                  <a:cubicBezTo>
                    <a:pt x="158657" y="0"/>
                    <a:pt x="171450" y="12793"/>
                    <a:pt x="171450" y="28575"/>
                  </a:cubicBezTo>
                  <a:lnTo>
                    <a:pt x="171450" y="71438"/>
                  </a:lnTo>
                </a:path>
              </a:pathLst>
            </a:custGeom>
            <a:noFill/>
            <a:ln w="19050">
              <a:solidFill>
                <a:srgbClr val="00D1FF"/>
              </a:solidFill>
            </a:ln>
          </p:spPr>
          <p:txBody>
            <a:bodyPr/>
            <a:lstStyle/>
            <a:p>
              <a:endParaRPr lang="en-US"/>
            </a:p>
          </p:txBody>
        </p:sp>
        <p:sp>
          <p:nvSpPr>
            <p:cNvPr id="68" name="Freeform 68"/>
            <p:cNvSpPr/>
            <p:nvPr/>
          </p:nvSpPr>
          <p:spPr>
            <a:xfrm>
              <a:off x="6238875" y="3733800"/>
              <a:ext cx="9525" cy="9525"/>
            </a:xfrm>
            <a:custGeom>
              <a:avLst/>
              <a:gdLst/>
              <a:ahLst/>
              <a:cxnLst/>
              <a:rect l="l" t="t" r="r" b="b"/>
              <a:pathLst>
                <a:path w="9525" h="9525">
                  <a:moveTo>
                    <a:pt x="0" y="0"/>
                  </a:moveTo>
                  <a:lnTo>
                    <a:pt x="0" y="95"/>
                  </a:lnTo>
                </a:path>
              </a:pathLst>
            </a:custGeom>
            <a:noFill/>
            <a:ln w="19050">
              <a:solidFill>
                <a:srgbClr val="00D1FF"/>
              </a:solidFill>
            </a:ln>
          </p:spPr>
          <p:txBody>
            <a:bodyPr/>
            <a:lstStyle/>
            <a:p>
              <a:endParaRPr lang="en-US"/>
            </a:p>
          </p:txBody>
        </p:sp>
        <p:sp>
          <p:nvSpPr>
            <p:cNvPr id="69" name="Freeform 69"/>
            <p:cNvSpPr/>
            <p:nvPr/>
          </p:nvSpPr>
          <p:spPr>
            <a:xfrm>
              <a:off x="6224588" y="3665205"/>
              <a:ext cx="34836" cy="40020"/>
            </a:xfrm>
            <a:custGeom>
              <a:avLst/>
              <a:gdLst/>
              <a:ahLst/>
              <a:cxnLst/>
              <a:rect l="l" t="t" r="r" b="b"/>
              <a:pathLst>
                <a:path w="34836" h="40020">
                  <a:moveTo>
                    <a:pt x="14288" y="40020"/>
                  </a:moveTo>
                  <a:cubicBezTo>
                    <a:pt x="23075" y="39992"/>
                    <a:pt x="30707" y="33965"/>
                    <a:pt x="32771" y="25424"/>
                  </a:cubicBezTo>
                  <a:cubicBezTo>
                    <a:pt x="34836" y="16882"/>
                    <a:pt x="30798" y="8035"/>
                    <a:pt x="22993" y="3997"/>
                  </a:cubicBezTo>
                  <a:cubicBezTo>
                    <a:pt x="15191" y="0"/>
                    <a:pt x="5664" y="1906"/>
                    <a:pt x="0" y="8597"/>
                  </a:cubicBezTo>
                </a:path>
              </a:pathLst>
            </a:custGeom>
            <a:noFill/>
            <a:ln w="19050">
              <a:solidFill>
                <a:srgbClr val="00D1FF"/>
              </a:solidFill>
            </a:ln>
          </p:spPr>
          <p:txBody>
            <a:bodyPr/>
            <a:lstStyle/>
            <a:p>
              <a:endParaRPr lang="en-US"/>
            </a:p>
          </p:txBody>
        </p:sp>
      </p:grpSp>
      <p:sp>
        <p:nvSpPr>
          <p:cNvPr id="71" name="TextBox 71"/>
          <p:cNvSpPr txBox="1"/>
          <p:nvPr/>
        </p:nvSpPr>
        <p:spPr>
          <a:xfrm>
            <a:off x="6389935" y="3960495"/>
            <a:ext cx="4635675" cy="289560"/>
          </a:xfrm>
          <a:prstGeom prst="rect">
            <a:avLst/>
          </a:prstGeom>
          <a:noFill/>
          <a:ln>
            <a:noFill/>
          </a:ln>
        </p:spPr>
        <p:txBody>
          <a:bodyPr wrap="none" lIns="0" tIns="0" rIns="0" bIns="0" anchor="t" anchorCtr="0">
            <a:spAutoFit/>
          </a:bodyPr>
          <a:lstStyle/>
          <a:p>
            <a:pPr algn="l"/>
            <a:r>
              <a:rPr lang="zh-CN" sz="1425" dirty="0">
                <a:solidFill>
                  <a:srgbClr val="F4F8FF"/>
                </a:solidFill>
                <a:latin typeface="Arial"/>
                <a:ea typeface="Microsoft YaHei"/>
                <a:cs typeface="Arial"/>
              </a:rPr>
              <a:t>What are the main causes of production loss?</a:t>
            </a:r>
          </a:p>
        </p:txBody>
      </p:sp>
      <p:sp>
        <p:nvSpPr>
          <p:cNvPr id="72" name="Freeform 72"/>
          <p:cNvSpPr/>
          <p:nvPr/>
        </p:nvSpPr>
        <p:spPr>
          <a:xfrm>
            <a:off x="5921692" y="4533900"/>
            <a:ext cx="5219700" cy="400050"/>
          </a:xfrm>
          <a:custGeom>
            <a:avLst/>
            <a:gdLst/>
            <a:ahLst/>
            <a:cxnLst/>
            <a:rect l="l" t="t" r="r" b="b"/>
            <a:pathLst>
              <a:path w="5219700" h="400050">
                <a:moveTo>
                  <a:pt x="114300" y="0"/>
                </a:moveTo>
                <a:lnTo>
                  <a:pt x="5105400" y="0"/>
                </a:lnTo>
                <a:cubicBezTo>
                  <a:pt x="5168526" y="0"/>
                  <a:pt x="5219700" y="51174"/>
                  <a:pt x="5219700" y="114300"/>
                </a:cubicBezTo>
                <a:lnTo>
                  <a:pt x="5219700" y="285750"/>
                </a:lnTo>
                <a:cubicBezTo>
                  <a:pt x="5219700" y="348876"/>
                  <a:pt x="5168526" y="400050"/>
                  <a:pt x="5105400" y="400050"/>
                </a:cubicBezTo>
                <a:lnTo>
                  <a:pt x="114300" y="400050"/>
                </a:lnTo>
                <a:cubicBezTo>
                  <a:pt x="51174" y="400050"/>
                  <a:pt x="0" y="348876"/>
                  <a:pt x="0" y="285750"/>
                </a:cubicBezTo>
                <a:lnTo>
                  <a:pt x="0" y="114300"/>
                </a:lnTo>
                <a:cubicBezTo>
                  <a:pt x="0" y="51174"/>
                  <a:pt x="51174" y="0"/>
                  <a:pt x="114300" y="0"/>
                </a:cubicBezTo>
                <a:close/>
              </a:path>
            </a:pathLst>
          </a:custGeom>
          <a:solidFill>
            <a:srgbClr val="12263A"/>
          </a:solidFill>
          <a:ln w="9525">
            <a:solidFill>
              <a:srgbClr val="294157"/>
            </a:solidFill>
          </a:ln>
        </p:spPr>
        <p:txBody>
          <a:bodyPr/>
          <a:lstStyle/>
          <a:p>
            <a:endParaRPr lang="en-US"/>
          </a:p>
        </p:txBody>
      </p:sp>
      <p:grpSp>
        <p:nvGrpSpPr>
          <p:cNvPr id="78" name="Group 78"/>
          <p:cNvGrpSpPr/>
          <p:nvPr/>
        </p:nvGrpSpPr>
        <p:grpSpPr>
          <a:xfrm>
            <a:off x="6104775" y="4641457"/>
            <a:ext cx="172949" cy="180975"/>
            <a:chOff x="6086475" y="4095750"/>
            <a:chExt cx="172949" cy="180975"/>
          </a:xfrm>
        </p:grpSpPr>
        <p:sp>
          <p:nvSpPr>
            <p:cNvPr id="73" name="Freeform 73"/>
            <p:cNvSpPr/>
            <p:nvPr/>
          </p:nvSpPr>
          <p:spPr>
            <a:xfrm>
              <a:off x="6134100" y="4143375"/>
              <a:ext cx="76200" cy="9525"/>
            </a:xfrm>
            <a:custGeom>
              <a:avLst/>
              <a:gdLst/>
              <a:ahLst/>
              <a:cxnLst/>
              <a:rect l="l" t="t" r="r" b="b"/>
              <a:pathLst>
                <a:path w="76200" h="9525">
                  <a:moveTo>
                    <a:pt x="0" y="0"/>
                  </a:moveTo>
                  <a:lnTo>
                    <a:pt x="76200" y="0"/>
                  </a:lnTo>
                </a:path>
              </a:pathLst>
            </a:custGeom>
            <a:noFill/>
            <a:ln w="19050">
              <a:solidFill>
                <a:srgbClr val="00D1FF"/>
              </a:solidFill>
            </a:ln>
          </p:spPr>
          <p:txBody>
            <a:bodyPr/>
            <a:lstStyle/>
            <a:p>
              <a:endParaRPr lang="en-US"/>
            </a:p>
          </p:txBody>
        </p:sp>
        <p:sp>
          <p:nvSpPr>
            <p:cNvPr id="74" name="Freeform 74"/>
            <p:cNvSpPr/>
            <p:nvPr/>
          </p:nvSpPr>
          <p:spPr>
            <a:xfrm>
              <a:off x="6134100" y="4181475"/>
              <a:ext cx="57150" cy="9525"/>
            </a:xfrm>
            <a:custGeom>
              <a:avLst/>
              <a:gdLst/>
              <a:ahLst/>
              <a:cxnLst/>
              <a:rect l="l" t="t" r="r" b="b"/>
              <a:pathLst>
                <a:path w="57150" h="9525">
                  <a:moveTo>
                    <a:pt x="0" y="0"/>
                  </a:moveTo>
                  <a:lnTo>
                    <a:pt x="57150" y="0"/>
                  </a:lnTo>
                </a:path>
              </a:pathLst>
            </a:custGeom>
            <a:noFill/>
            <a:ln w="19050">
              <a:solidFill>
                <a:srgbClr val="00D1FF"/>
              </a:solidFill>
            </a:ln>
          </p:spPr>
          <p:txBody>
            <a:bodyPr/>
            <a:lstStyle/>
            <a:p>
              <a:endParaRPr lang="en-US"/>
            </a:p>
          </p:txBody>
        </p:sp>
        <p:sp>
          <p:nvSpPr>
            <p:cNvPr id="75" name="Freeform 75"/>
            <p:cNvSpPr/>
            <p:nvPr/>
          </p:nvSpPr>
          <p:spPr>
            <a:xfrm>
              <a:off x="6086475" y="4095750"/>
              <a:ext cx="171450" cy="161925"/>
            </a:xfrm>
            <a:custGeom>
              <a:avLst/>
              <a:gdLst/>
              <a:ahLst/>
              <a:cxnLst/>
              <a:rect l="l" t="t" r="r" b="b"/>
              <a:pathLst>
                <a:path w="171450" h="161925">
                  <a:moveTo>
                    <a:pt x="104775" y="133350"/>
                  </a:moveTo>
                  <a:lnTo>
                    <a:pt x="95250" y="133350"/>
                  </a:lnTo>
                  <a:lnTo>
                    <a:pt x="47625" y="161925"/>
                  </a:lnTo>
                  <a:lnTo>
                    <a:pt x="47625" y="133350"/>
                  </a:lnTo>
                  <a:lnTo>
                    <a:pt x="28575" y="133350"/>
                  </a:lnTo>
                  <a:cubicBezTo>
                    <a:pt x="12793" y="133350"/>
                    <a:pt x="0" y="120557"/>
                    <a:pt x="0" y="104775"/>
                  </a:cubicBezTo>
                  <a:lnTo>
                    <a:pt x="0" y="28575"/>
                  </a:lnTo>
                  <a:cubicBezTo>
                    <a:pt x="0" y="12793"/>
                    <a:pt x="12793" y="0"/>
                    <a:pt x="28575" y="0"/>
                  </a:cubicBezTo>
                  <a:lnTo>
                    <a:pt x="142875" y="0"/>
                  </a:lnTo>
                  <a:cubicBezTo>
                    <a:pt x="158657" y="0"/>
                    <a:pt x="171450" y="12793"/>
                    <a:pt x="171450" y="28575"/>
                  </a:cubicBezTo>
                  <a:lnTo>
                    <a:pt x="171450" y="71438"/>
                  </a:lnTo>
                </a:path>
              </a:pathLst>
            </a:custGeom>
            <a:noFill/>
            <a:ln w="19050">
              <a:solidFill>
                <a:srgbClr val="00D1FF"/>
              </a:solidFill>
            </a:ln>
          </p:spPr>
          <p:txBody>
            <a:bodyPr/>
            <a:lstStyle/>
            <a:p>
              <a:endParaRPr lang="en-US"/>
            </a:p>
          </p:txBody>
        </p:sp>
        <p:sp>
          <p:nvSpPr>
            <p:cNvPr id="76" name="Freeform 76"/>
            <p:cNvSpPr/>
            <p:nvPr/>
          </p:nvSpPr>
          <p:spPr>
            <a:xfrm>
              <a:off x="6238875" y="4267200"/>
              <a:ext cx="9525" cy="9525"/>
            </a:xfrm>
            <a:custGeom>
              <a:avLst/>
              <a:gdLst/>
              <a:ahLst/>
              <a:cxnLst/>
              <a:rect l="l" t="t" r="r" b="b"/>
              <a:pathLst>
                <a:path w="9525" h="9525">
                  <a:moveTo>
                    <a:pt x="0" y="0"/>
                  </a:moveTo>
                  <a:lnTo>
                    <a:pt x="0" y="95"/>
                  </a:lnTo>
                </a:path>
              </a:pathLst>
            </a:custGeom>
            <a:noFill/>
            <a:ln w="19050">
              <a:solidFill>
                <a:srgbClr val="00D1FF"/>
              </a:solidFill>
            </a:ln>
          </p:spPr>
          <p:txBody>
            <a:bodyPr/>
            <a:lstStyle/>
            <a:p>
              <a:endParaRPr lang="en-US"/>
            </a:p>
          </p:txBody>
        </p:sp>
        <p:sp>
          <p:nvSpPr>
            <p:cNvPr id="77" name="Freeform 77"/>
            <p:cNvSpPr/>
            <p:nvPr/>
          </p:nvSpPr>
          <p:spPr>
            <a:xfrm>
              <a:off x="6224588" y="4198605"/>
              <a:ext cx="34836" cy="40020"/>
            </a:xfrm>
            <a:custGeom>
              <a:avLst/>
              <a:gdLst/>
              <a:ahLst/>
              <a:cxnLst/>
              <a:rect l="l" t="t" r="r" b="b"/>
              <a:pathLst>
                <a:path w="34836" h="40020">
                  <a:moveTo>
                    <a:pt x="14288" y="40020"/>
                  </a:moveTo>
                  <a:cubicBezTo>
                    <a:pt x="23075" y="39992"/>
                    <a:pt x="30707" y="33965"/>
                    <a:pt x="32771" y="25424"/>
                  </a:cubicBezTo>
                  <a:cubicBezTo>
                    <a:pt x="34836" y="16882"/>
                    <a:pt x="30798" y="8035"/>
                    <a:pt x="22993" y="3997"/>
                  </a:cubicBezTo>
                  <a:cubicBezTo>
                    <a:pt x="15191" y="0"/>
                    <a:pt x="5664" y="1906"/>
                    <a:pt x="0" y="8597"/>
                  </a:cubicBezTo>
                </a:path>
              </a:pathLst>
            </a:custGeom>
            <a:noFill/>
            <a:ln w="19050">
              <a:solidFill>
                <a:srgbClr val="00D1FF"/>
              </a:solidFill>
            </a:ln>
          </p:spPr>
          <p:txBody>
            <a:bodyPr/>
            <a:lstStyle/>
            <a:p>
              <a:endParaRPr lang="en-US"/>
            </a:p>
          </p:txBody>
        </p:sp>
      </p:grpSp>
      <p:sp>
        <p:nvSpPr>
          <p:cNvPr id="79" name="TextBox 79"/>
          <p:cNvSpPr txBox="1"/>
          <p:nvPr/>
        </p:nvSpPr>
        <p:spPr>
          <a:xfrm>
            <a:off x="6401752" y="4600978"/>
            <a:ext cx="4469178" cy="289560"/>
          </a:xfrm>
          <a:prstGeom prst="rect">
            <a:avLst/>
          </a:prstGeom>
          <a:noFill/>
          <a:ln>
            <a:noFill/>
          </a:ln>
        </p:spPr>
        <p:txBody>
          <a:bodyPr wrap="none" lIns="0" tIns="0" rIns="0" bIns="0" anchor="t" anchorCtr="0">
            <a:spAutoFit/>
          </a:bodyPr>
          <a:lstStyle/>
          <a:p>
            <a:pPr algn="l"/>
            <a:r>
              <a:rPr lang="zh-CN" sz="1425" dirty="0">
                <a:solidFill>
                  <a:srgbClr val="F4F8FF"/>
                </a:solidFill>
                <a:latin typeface="Arial"/>
                <a:ea typeface="Microsoft YaHei"/>
                <a:cs typeface="Arial"/>
              </a:rPr>
              <a:t>Which production order requires attention?</a:t>
            </a:r>
          </a:p>
        </p:txBody>
      </p:sp>
      <p:grpSp>
        <p:nvGrpSpPr>
          <p:cNvPr id="85" name="Group 85"/>
          <p:cNvGrpSpPr/>
          <p:nvPr/>
        </p:nvGrpSpPr>
        <p:grpSpPr>
          <a:xfrm>
            <a:off x="685799" y="5105397"/>
            <a:ext cx="4972051" cy="1200149"/>
            <a:chOff x="685800" y="5105400"/>
            <a:chExt cx="4772739" cy="826875"/>
          </a:xfrm>
        </p:grpSpPr>
        <p:sp>
          <p:nvSpPr>
            <p:cNvPr id="81" name="Freeform 81"/>
            <p:cNvSpPr/>
            <p:nvPr/>
          </p:nvSpPr>
          <p:spPr>
            <a:xfrm>
              <a:off x="685800" y="5105400"/>
              <a:ext cx="4762500" cy="819150"/>
            </a:xfrm>
            <a:custGeom>
              <a:avLst/>
              <a:gdLst/>
              <a:ahLst/>
              <a:cxnLst/>
              <a:rect l="l" t="t" r="r" b="b"/>
              <a:pathLst>
                <a:path w="4762500" h="819150">
                  <a:moveTo>
                    <a:pt x="133350" y="0"/>
                  </a:moveTo>
                  <a:lnTo>
                    <a:pt x="4629150" y="0"/>
                  </a:lnTo>
                  <a:cubicBezTo>
                    <a:pt x="4702797" y="0"/>
                    <a:pt x="4762500" y="59703"/>
                    <a:pt x="4762500" y="133350"/>
                  </a:cubicBezTo>
                  <a:lnTo>
                    <a:pt x="4762500" y="685800"/>
                  </a:lnTo>
                  <a:cubicBezTo>
                    <a:pt x="4762500" y="759447"/>
                    <a:pt x="4702797" y="819150"/>
                    <a:pt x="4629150" y="819150"/>
                  </a:cubicBezTo>
                  <a:lnTo>
                    <a:pt x="133350" y="819150"/>
                  </a:lnTo>
                  <a:cubicBezTo>
                    <a:pt x="59703" y="819150"/>
                    <a:pt x="0" y="759447"/>
                    <a:pt x="0" y="685800"/>
                  </a:cubicBezTo>
                  <a:lnTo>
                    <a:pt x="0" y="133350"/>
                  </a:lnTo>
                  <a:cubicBezTo>
                    <a:pt x="0" y="59703"/>
                    <a:pt x="59703" y="0"/>
                    <a:pt x="133350" y="0"/>
                  </a:cubicBezTo>
                  <a:close/>
                </a:path>
              </a:pathLst>
            </a:custGeom>
            <a:solidFill>
              <a:srgbClr val="12263A"/>
            </a:solidFill>
            <a:ln w="9525">
              <a:solidFill>
                <a:srgbClr val="294157"/>
              </a:solidFill>
            </a:ln>
          </p:spPr>
          <p:txBody>
            <a:bodyPr/>
            <a:lstStyle/>
            <a:p>
              <a:endParaRPr lang="en-US"/>
            </a:p>
          </p:txBody>
        </p:sp>
        <p:pic>
          <p:nvPicPr>
            <p:cNvPr id="82" name="Image 82"/>
            <p:cNvPicPr>
              <a:picLocks noChangeAspect="1"/>
            </p:cNvPicPr>
            <p:nvPr/>
          </p:nvPicPr>
          <p:blipFill>
            <a:blip r:embed="rId3"/>
            <a:stretch>
              <a:fillRect/>
            </a:stretch>
          </p:blipFill>
          <p:spPr>
            <a:xfrm>
              <a:off x="941127" y="5138288"/>
              <a:ext cx="1583834" cy="762168"/>
            </a:xfrm>
            <a:prstGeom prst="rect">
              <a:avLst/>
            </a:prstGeom>
          </p:spPr>
        </p:pic>
        <p:sp>
          <p:nvSpPr>
            <p:cNvPr id="83" name="TextBox 83"/>
            <p:cNvSpPr txBox="1"/>
            <p:nvPr/>
          </p:nvSpPr>
          <p:spPr>
            <a:xfrm>
              <a:off x="3067050" y="5323964"/>
              <a:ext cx="2090261" cy="335280"/>
            </a:xfrm>
            <a:prstGeom prst="rect">
              <a:avLst/>
            </a:prstGeom>
            <a:noFill/>
            <a:ln>
              <a:noFill/>
            </a:ln>
          </p:spPr>
          <p:txBody>
            <a:bodyPr wrap="none" lIns="0" tIns="0" rIns="0" bIns="0" anchor="t" anchorCtr="0">
              <a:spAutoFit/>
            </a:bodyPr>
            <a:lstStyle/>
            <a:p>
              <a:pPr algn="l"/>
              <a:r>
                <a:rPr lang="zh-CN" sz="1650" dirty="0">
                  <a:solidFill>
                    <a:srgbClr val="18E0A8"/>
                  </a:solidFill>
                  <a:latin typeface="Arial"/>
                  <a:ea typeface="Microsoft YaHei"/>
                  <a:cs typeface="Arial"/>
                </a:rPr>
                <a:t>Instant Answers.</a:t>
              </a:r>
            </a:p>
          </p:txBody>
        </p:sp>
        <p:sp>
          <p:nvSpPr>
            <p:cNvPr id="84" name="TextBox 84"/>
            <p:cNvSpPr txBox="1"/>
            <p:nvPr/>
          </p:nvSpPr>
          <p:spPr>
            <a:xfrm>
              <a:off x="3067050" y="5596995"/>
              <a:ext cx="2391489" cy="335280"/>
            </a:xfrm>
            <a:prstGeom prst="rect">
              <a:avLst/>
            </a:prstGeom>
            <a:noFill/>
            <a:ln>
              <a:noFill/>
            </a:ln>
          </p:spPr>
          <p:txBody>
            <a:bodyPr wrap="none" lIns="0" tIns="0" rIns="0" bIns="0" anchor="t" anchorCtr="0">
              <a:spAutoFit/>
            </a:bodyPr>
            <a:lstStyle/>
            <a:p>
              <a:pPr algn="l"/>
              <a:r>
                <a:rPr lang="zh-CN" sz="1650" dirty="0">
                  <a:solidFill>
                    <a:srgbClr val="F4F8FF"/>
                  </a:solidFill>
                  <a:latin typeface="Arial"/>
                  <a:ea typeface="Microsoft YaHei"/>
                  <a:cs typeface="Arial"/>
                </a:rPr>
                <a:t>Actionable Insights.</a:t>
              </a:r>
            </a:p>
          </p:txBody>
        </p:sp>
      </p:grpSp>
      <p:grpSp>
        <p:nvGrpSpPr>
          <p:cNvPr id="89" name="Group 89"/>
          <p:cNvGrpSpPr/>
          <p:nvPr/>
        </p:nvGrpSpPr>
        <p:grpSpPr>
          <a:xfrm>
            <a:off x="520065" y="6419850"/>
            <a:ext cx="11151870" cy="347662"/>
            <a:chOff x="520065" y="6419850"/>
            <a:chExt cx="11151870" cy="347662"/>
          </a:xfrm>
        </p:grpSpPr>
        <p:sp>
          <p:nvSpPr>
            <p:cNvPr id="86" name="Line 86"/>
            <p:cNvSpPr/>
            <p:nvPr/>
          </p:nvSpPr>
          <p:spPr>
            <a:xfrm>
              <a:off x="533400" y="6419850"/>
              <a:ext cx="11125200" cy="9525"/>
            </a:xfrm>
            <a:custGeom>
              <a:avLst/>
              <a:gdLst/>
              <a:ahLst/>
              <a:cxnLst/>
              <a:rect l="l" t="t" r="r" b="b"/>
              <a:pathLst>
                <a:path w="11125200" h="9525">
                  <a:moveTo>
                    <a:pt x="0" y="0"/>
                  </a:moveTo>
                  <a:lnTo>
                    <a:pt x="11125200" y="0"/>
                  </a:lnTo>
                </a:path>
              </a:pathLst>
            </a:custGeom>
            <a:noFill/>
            <a:ln w="9525">
              <a:solidFill>
                <a:srgbClr val="294157">
                  <a:alpha val="75000"/>
                </a:srgbClr>
              </a:solidFill>
            </a:ln>
          </p:spPr>
          <p:txBody>
            <a:bodyPr/>
            <a:lstStyle/>
            <a:p>
              <a:endParaRPr lang="en-US"/>
            </a:p>
          </p:txBody>
        </p:sp>
        <p:sp>
          <p:nvSpPr>
            <p:cNvPr id="87" name="TextBox 87"/>
            <p:cNvSpPr txBox="1"/>
            <p:nvPr/>
          </p:nvSpPr>
          <p:spPr>
            <a:xfrm>
              <a:off x="520065" y="6554152"/>
              <a:ext cx="3576780" cy="213360"/>
            </a:xfrm>
            <a:prstGeom prst="rect">
              <a:avLst/>
            </a:prstGeom>
            <a:noFill/>
            <a:ln>
              <a:noFill/>
            </a:ln>
          </p:spPr>
          <p:txBody>
            <a:bodyPr wrap="none" lIns="0" tIns="0" rIns="0" bIns="0" anchor="t" anchorCtr="0">
              <a:spAutoFit/>
            </a:bodyPr>
            <a:lstStyle/>
            <a:p>
              <a:pPr algn="l"/>
              <a:r>
                <a:rPr lang="zh-CN" sz="1050" dirty="0">
                  <a:solidFill>
                    <a:srgbClr val="708195"/>
                  </a:solidFill>
                  <a:latin typeface="Arial"/>
                  <a:ea typeface="Microsoft YaHei"/>
                  <a:cs typeface="Arial"/>
                </a:rPr>
                <a:t>One platform. Three operational perspectives.</a:t>
              </a:r>
            </a:p>
          </p:txBody>
        </p:sp>
        <p:sp>
          <p:nvSpPr>
            <p:cNvPr id="88" name="TextBox 88"/>
            <p:cNvSpPr txBox="1"/>
            <p:nvPr/>
          </p:nvSpPr>
          <p:spPr>
            <a:xfrm>
              <a:off x="8739235" y="6554152"/>
              <a:ext cx="2932700" cy="213360"/>
            </a:xfrm>
            <a:prstGeom prst="rect">
              <a:avLst/>
            </a:prstGeom>
            <a:noFill/>
            <a:ln>
              <a:noFill/>
            </a:ln>
          </p:spPr>
          <p:txBody>
            <a:bodyPr wrap="none" lIns="0" tIns="0" rIns="0" bIns="0" anchor="t" anchorCtr="0">
              <a:spAutoFit/>
            </a:bodyPr>
            <a:lstStyle/>
            <a:p>
              <a:pPr algn="r"/>
              <a:r>
                <a:rPr lang="zh-CN" sz="1050" dirty="0">
                  <a:solidFill>
                    <a:srgbClr val="708195"/>
                  </a:solidFill>
                  <a:latin typeface="Arial"/>
                  <a:ea typeface="Microsoft YaHei"/>
                  <a:cs typeface="Arial"/>
                </a:rPr>
                <a:t>Production | Maintenance | Management</a:t>
              </a:r>
            </a:p>
          </p:txBody>
        </p:sp>
      </p:grpSp>
      <p:sp>
        <p:nvSpPr>
          <p:cNvPr id="94" name="Line 33">
            <a:extLst>
              <a:ext uri="{FF2B5EF4-FFF2-40B4-BE49-F238E27FC236}">
                <a16:creationId xmlns:a16="http://schemas.microsoft.com/office/drawing/2014/main" id="{7F3CF392-B7BE-5214-F50C-BAE5BE7E6242}"/>
              </a:ext>
            </a:extLst>
          </p:cNvPr>
          <p:cNvSpPr/>
          <p:nvPr/>
        </p:nvSpPr>
        <p:spPr>
          <a:xfrm rot="5400000">
            <a:off x="6359615" y="5445444"/>
            <a:ext cx="531496" cy="45719"/>
          </a:xfrm>
          <a:custGeom>
            <a:avLst/>
            <a:gdLst/>
            <a:ahLst/>
            <a:cxnLst/>
            <a:rect l="l" t="t" r="r" b="b"/>
            <a:pathLst>
              <a:path w="647700" h="9525">
                <a:moveTo>
                  <a:pt x="0" y="0"/>
                </a:moveTo>
                <a:lnTo>
                  <a:pt x="647700" y="0"/>
                </a:lnTo>
              </a:path>
            </a:pathLst>
          </a:custGeom>
          <a:noFill/>
          <a:ln w="38100">
            <a:solidFill>
              <a:srgbClr val="2EA7FF"/>
            </a:solidFill>
          </a:ln>
        </p:spPr>
        <p:txBody>
          <a:bodyPr/>
          <a:lstStyle/>
          <a:p>
            <a:endParaRPr lang="en-US"/>
          </a:p>
        </p:txBody>
      </p:sp>
      <p:sp>
        <p:nvSpPr>
          <p:cNvPr id="95" name="Line 33">
            <a:extLst>
              <a:ext uri="{FF2B5EF4-FFF2-40B4-BE49-F238E27FC236}">
                <a16:creationId xmlns:a16="http://schemas.microsoft.com/office/drawing/2014/main" id="{1F41E3ED-BBAA-35EC-2142-5C25AC8D02A7}"/>
              </a:ext>
            </a:extLst>
          </p:cNvPr>
          <p:cNvSpPr/>
          <p:nvPr/>
        </p:nvSpPr>
        <p:spPr>
          <a:xfrm>
            <a:off x="5987059" y="5708332"/>
            <a:ext cx="647700" cy="9525"/>
          </a:xfrm>
          <a:custGeom>
            <a:avLst/>
            <a:gdLst/>
            <a:ahLst/>
            <a:cxnLst/>
            <a:rect l="l" t="t" r="r" b="b"/>
            <a:pathLst>
              <a:path w="647700" h="9525">
                <a:moveTo>
                  <a:pt x="0" y="0"/>
                </a:moveTo>
                <a:lnTo>
                  <a:pt x="647700" y="0"/>
                </a:lnTo>
              </a:path>
            </a:pathLst>
          </a:custGeom>
          <a:noFill/>
          <a:ln w="38100">
            <a:solidFill>
              <a:srgbClr val="2EA7FF"/>
            </a:solidFill>
          </a:ln>
        </p:spPr>
        <p:txBody>
          <a:bodyPr/>
          <a:lstStyle/>
          <a:p>
            <a:endParaRPr lang="en-US"/>
          </a:p>
        </p:txBody>
      </p:sp>
      <p:sp>
        <p:nvSpPr>
          <p:cNvPr id="96" name="Polygon 34">
            <a:extLst>
              <a:ext uri="{FF2B5EF4-FFF2-40B4-BE49-F238E27FC236}">
                <a16:creationId xmlns:a16="http://schemas.microsoft.com/office/drawing/2014/main" id="{5F50ED4B-A6A6-F63F-0042-2688224BDC41}"/>
              </a:ext>
            </a:extLst>
          </p:cNvPr>
          <p:cNvSpPr/>
          <p:nvPr/>
        </p:nvSpPr>
        <p:spPr>
          <a:xfrm rot="10800000">
            <a:off x="5813839" y="5613082"/>
            <a:ext cx="171450" cy="190500"/>
          </a:xfrm>
          <a:custGeom>
            <a:avLst/>
            <a:gdLst/>
            <a:ahLst/>
            <a:cxnLst/>
            <a:rect l="l" t="t" r="r" b="b"/>
            <a:pathLst>
              <a:path w="171450" h="190500">
                <a:moveTo>
                  <a:pt x="171450" y="95250"/>
                </a:moveTo>
                <a:lnTo>
                  <a:pt x="0" y="0"/>
                </a:lnTo>
                <a:lnTo>
                  <a:pt x="0" y="190500"/>
                </a:lnTo>
                <a:close/>
              </a:path>
            </a:pathLst>
          </a:custGeom>
          <a:solidFill>
            <a:srgbClr val="2EA7FF"/>
          </a:solidFill>
          <a:ln>
            <a:noFill/>
          </a:ln>
        </p:spPr>
        <p:txBody>
          <a:bodyPr/>
          <a:lstStyle/>
          <a:p>
            <a:endParaRPr lang="en-US"/>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childTnLst>
                          </p:cTn>
                        </p:par>
                        <p:par>
                          <p:cTn id="8" fill="hold">
                            <p:stCondLst>
                              <p:cond delay="400"/>
                            </p:stCondLst>
                            <p:childTnLst>
                              <p:par>
                                <p:cTn id="9" presetID="42" presetClass="entr" presetSubtype="8" fill="hold" nodeType="afterEffect">
                                  <p:stCondLst>
                                    <p:cond delay="0"/>
                                  </p:stCondLst>
                                  <p:childTnLst>
                                    <p:set>
                                      <p:cBhvr>
                                        <p:cTn id="10" dur="1" fill="hold">
                                          <p:stCondLst>
                                            <p:cond delay="0"/>
                                          </p:stCondLst>
                                        </p:cTn>
                                        <p:tgtEl>
                                          <p:spTgt spid="85"/>
                                        </p:tgtEl>
                                        <p:attrNameLst>
                                          <p:attrName>style.visibility</p:attrName>
                                        </p:attrNameLst>
                                      </p:cBhvr>
                                      <p:to>
                                        <p:strVal val="visible"/>
                                      </p:to>
                                    </p:set>
                                    <p:animEffect transition="in" filter="slide(fromLeft)">
                                      <p:cBhvr>
                                        <p:cTn id="11" dur="4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8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7111F"/>
          </a:solidFill>
          <a:ln>
            <a:noFill/>
          </a:ln>
        </p:spPr>
        <p:txBody>
          <a:bodyPr/>
          <a:lstStyle/>
          <a:p>
            <a:endParaRPr lang="en-US"/>
          </a:p>
        </p:txBody>
      </p:sp>
      <p:grpSp>
        <p:nvGrpSpPr>
          <p:cNvPr id="7" name="Group 7"/>
          <p:cNvGrpSpPr/>
          <p:nvPr/>
        </p:nvGrpSpPr>
        <p:grpSpPr>
          <a:xfrm>
            <a:off x="495300" y="390049"/>
            <a:ext cx="11175683" cy="848201"/>
            <a:chOff x="495300" y="390049"/>
            <a:chExt cx="11175683" cy="848201"/>
          </a:xfrm>
        </p:grpSpPr>
        <p:sp>
          <p:nvSpPr>
            <p:cNvPr id="3" name="TextBox 3"/>
            <p:cNvSpPr txBox="1"/>
            <p:nvPr/>
          </p:nvSpPr>
          <p:spPr>
            <a:xfrm>
              <a:off x="521018" y="390049"/>
              <a:ext cx="2641342" cy="198120"/>
            </a:xfrm>
            <a:prstGeom prst="rect">
              <a:avLst/>
            </a:prstGeom>
            <a:noFill/>
            <a:ln>
              <a:noFill/>
            </a:ln>
          </p:spPr>
          <p:txBody>
            <a:bodyPr wrap="none" lIns="0" tIns="0" rIns="0" bIns="0" anchor="t" anchorCtr="0">
              <a:spAutoFit/>
            </a:bodyPr>
            <a:lstStyle/>
            <a:p>
              <a:pPr algn="l"/>
              <a:r>
                <a:rPr lang="zh-CN" sz="975" b="1" dirty="0">
                  <a:solidFill>
                    <a:srgbClr val="708195"/>
                  </a:solidFill>
                  <a:latin typeface="Arial"/>
                  <a:ea typeface="Microsoft YaHei"/>
                  <a:cs typeface="Arial"/>
                </a:rPr>
                <a:t>DXFACTORY OPERATIONS INTELLIGENCE</a:t>
              </a:r>
            </a:p>
          </p:txBody>
        </p:sp>
        <p:sp>
          <p:nvSpPr>
            <p:cNvPr id="4" name="TextBox 4"/>
            <p:cNvSpPr txBox="1"/>
            <p:nvPr/>
          </p:nvSpPr>
          <p:spPr>
            <a:xfrm>
              <a:off x="11145330" y="390049"/>
              <a:ext cx="525653" cy="198120"/>
            </a:xfrm>
            <a:prstGeom prst="rect">
              <a:avLst/>
            </a:prstGeom>
            <a:noFill/>
            <a:ln>
              <a:noFill/>
            </a:ln>
          </p:spPr>
          <p:txBody>
            <a:bodyPr wrap="none" lIns="0" tIns="0" rIns="0" bIns="0" anchor="t" anchorCtr="0">
              <a:spAutoFit/>
            </a:bodyPr>
            <a:lstStyle/>
            <a:p>
              <a:pPr algn="r"/>
              <a:r>
                <a:rPr lang="zh-CN" sz="975" b="1" dirty="0">
                  <a:solidFill>
                    <a:srgbClr val="708195"/>
                  </a:solidFill>
                  <a:latin typeface="Arial"/>
                  <a:ea typeface="Microsoft YaHei"/>
                  <a:cs typeface="Arial"/>
                </a:rPr>
                <a:t>04 / 06</a:t>
              </a:r>
            </a:p>
          </p:txBody>
        </p:sp>
        <p:sp>
          <p:nvSpPr>
            <p:cNvPr id="5" name="TextBox 5"/>
            <p:cNvSpPr txBox="1"/>
            <p:nvPr/>
          </p:nvSpPr>
          <p:spPr>
            <a:xfrm>
              <a:off x="495300" y="628650"/>
              <a:ext cx="3618643" cy="609600"/>
            </a:xfrm>
            <a:prstGeom prst="rect">
              <a:avLst/>
            </a:prstGeom>
            <a:noFill/>
            <a:ln>
              <a:noFill/>
            </a:ln>
          </p:spPr>
          <p:txBody>
            <a:bodyPr wrap="none" lIns="0" tIns="0" rIns="0" bIns="0" anchor="t" anchorCtr="0">
              <a:spAutoFit/>
            </a:bodyPr>
            <a:lstStyle/>
            <a:p>
              <a:pPr algn="l"/>
              <a:r>
                <a:rPr lang="zh-CN" sz="3000" b="1" dirty="0">
                  <a:solidFill>
                    <a:srgbClr val="F4F8FF"/>
                  </a:solidFill>
                  <a:latin typeface="Arial"/>
                  <a:ea typeface="Microsoft YaHei"/>
                  <a:cs typeface="Arial"/>
                </a:rPr>
                <a:t>Business Impact</a:t>
              </a:r>
            </a:p>
          </p:txBody>
        </p:sp>
        <p:sp>
          <p:nvSpPr>
            <p:cNvPr id="6" name="Line 6"/>
            <p:cNvSpPr/>
            <p:nvPr/>
          </p:nvSpPr>
          <p:spPr>
            <a:xfrm>
              <a:off x="533400" y="1123950"/>
              <a:ext cx="11125200" cy="9525"/>
            </a:xfrm>
            <a:custGeom>
              <a:avLst/>
              <a:gdLst/>
              <a:ahLst/>
              <a:cxnLst/>
              <a:rect l="l" t="t" r="r" b="b"/>
              <a:pathLst>
                <a:path w="11125200" h="9525">
                  <a:moveTo>
                    <a:pt x="0" y="0"/>
                  </a:moveTo>
                  <a:lnTo>
                    <a:pt x="11125200" y="0"/>
                  </a:lnTo>
                </a:path>
              </a:pathLst>
            </a:custGeom>
            <a:noFill/>
            <a:ln w="9525">
              <a:solidFill>
                <a:srgbClr val="294157"/>
              </a:solidFill>
            </a:ln>
          </p:spPr>
          <p:txBody>
            <a:bodyPr/>
            <a:lstStyle/>
            <a:p>
              <a:endParaRPr lang="en-US"/>
            </a:p>
          </p:txBody>
        </p:sp>
      </p:grpSp>
      <p:grpSp>
        <p:nvGrpSpPr>
          <p:cNvPr id="52" name="Group 52"/>
          <p:cNvGrpSpPr/>
          <p:nvPr/>
        </p:nvGrpSpPr>
        <p:grpSpPr>
          <a:xfrm>
            <a:off x="533400" y="1447800"/>
            <a:ext cx="11125200" cy="3914775"/>
            <a:chOff x="533400" y="1447800"/>
            <a:chExt cx="11125200" cy="3914775"/>
          </a:xfrm>
        </p:grpSpPr>
        <p:grpSp>
          <p:nvGrpSpPr>
            <p:cNvPr id="14" name="Group 14"/>
            <p:cNvGrpSpPr/>
            <p:nvPr/>
          </p:nvGrpSpPr>
          <p:grpSpPr>
            <a:xfrm>
              <a:off x="533400" y="1447800"/>
              <a:ext cx="3340999" cy="1809750"/>
              <a:chOff x="533400" y="1447800"/>
              <a:chExt cx="3340999" cy="1809750"/>
            </a:xfrm>
          </p:grpSpPr>
          <p:sp>
            <p:nvSpPr>
              <p:cNvPr id="8" name="Freeform 8"/>
              <p:cNvSpPr/>
              <p:nvPr/>
            </p:nvSpPr>
            <p:spPr>
              <a:xfrm>
                <a:off x="533400" y="1447800"/>
                <a:ext cx="3333750" cy="1809750"/>
              </a:xfrm>
              <a:custGeom>
                <a:avLst/>
                <a:gdLst/>
                <a:ahLst/>
                <a:cxnLst/>
                <a:rect l="l" t="t" r="r" b="b"/>
                <a:pathLst>
                  <a:path w="3333750" h="1809750">
                    <a:moveTo>
                      <a:pt x="152400" y="0"/>
                    </a:moveTo>
                    <a:lnTo>
                      <a:pt x="3181350" y="0"/>
                    </a:lnTo>
                    <a:cubicBezTo>
                      <a:pt x="3265518" y="0"/>
                      <a:pt x="3333750" y="68232"/>
                      <a:pt x="3333750" y="152400"/>
                    </a:cubicBezTo>
                    <a:lnTo>
                      <a:pt x="3333750" y="1657350"/>
                    </a:lnTo>
                    <a:cubicBezTo>
                      <a:pt x="3333750" y="1741518"/>
                      <a:pt x="3265518" y="1809750"/>
                      <a:pt x="3181350" y="1809750"/>
                    </a:cubicBezTo>
                    <a:lnTo>
                      <a:pt x="152400" y="1809750"/>
                    </a:lnTo>
                    <a:cubicBezTo>
                      <a:pt x="68232" y="1809750"/>
                      <a:pt x="0" y="1741518"/>
                      <a:pt x="0" y="1657350"/>
                    </a:cubicBezTo>
                    <a:lnTo>
                      <a:pt x="0" y="152400"/>
                    </a:lnTo>
                    <a:cubicBezTo>
                      <a:pt x="0" y="68232"/>
                      <a:pt x="68232" y="0"/>
                      <a:pt x="152400" y="0"/>
                    </a:cubicBezTo>
                    <a:close/>
                  </a:path>
                </a:pathLst>
              </a:custGeom>
              <a:solidFill>
                <a:srgbClr val="12263A"/>
              </a:solidFill>
              <a:ln w="9525">
                <a:solidFill>
                  <a:srgbClr val="294157"/>
                </a:solidFill>
              </a:ln>
            </p:spPr>
            <p:txBody>
              <a:bodyPr/>
              <a:lstStyle/>
              <a:p>
                <a:endParaRPr lang="en-US"/>
              </a:p>
            </p:txBody>
          </p:sp>
          <p:grpSp>
            <p:nvGrpSpPr>
              <p:cNvPr id="11" name="Group 11"/>
              <p:cNvGrpSpPr/>
              <p:nvPr/>
            </p:nvGrpSpPr>
            <p:grpSpPr>
              <a:xfrm>
                <a:off x="802481" y="1716881"/>
                <a:ext cx="242888" cy="242888"/>
                <a:chOff x="802481" y="1716881"/>
                <a:chExt cx="242888" cy="242888"/>
              </a:xfrm>
            </p:grpSpPr>
            <p:sp>
              <p:nvSpPr>
                <p:cNvPr id="9" name="Freeform 9"/>
                <p:cNvSpPr/>
                <p:nvPr/>
              </p:nvSpPr>
              <p:spPr>
                <a:xfrm>
                  <a:off x="802481" y="1716881"/>
                  <a:ext cx="242888" cy="242888"/>
                </a:xfrm>
                <a:custGeom>
                  <a:avLst/>
                  <a:gdLst/>
                  <a:ahLst/>
                  <a:cxnLst/>
                  <a:rect l="l" t="t" r="r" b="b"/>
                  <a:pathLst>
                    <a:path w="242888" h="242888">
                      <a:moveTo>
                        <a:pt x="0" y="121444"/>
                      </a:moveTo>
                      <a:cubicBezTo>
                        <a:pt x="0" y="188515"/>
                        <a:pt x="54372" y="242888"/>
                        <a:pt x="121444" y="242888"/>
                      </a:cubicBezTo>
                      <a:cubicBezTo>
                        <a:pt x="188515" y="242888"/>
                        <a:pt x="242888" y="188515"/>
                        <a:pt x="242888" y="121444"/>
                      </a:cubicBezTo>
                      <a:cubicBezTo>
                        <a:pt x="242888" y="54372"/>
                        <a:pt x="188515" y="0"/>
                        <a:pt x="121444" y="0"/>
                      </a:cubicBezTo>
                      <a:cubicBezTo>
                        <a:pt x="54372" y="0"/>
                        <a:pt x="0" y="54372"/>
                        <a:pt x="0" y="121444"/>
                      </a:cubicBezTo>
                    </a:path>
                  </a:pathLst>
                </a:custGeom>
                <a:noFill/>
                <a:ln w="19050">
                  <a:solidFill>
                    <a:srgbClr val="18E0A8"/>
                  </a:solidFill>
                </a:ln>
              </p:spPr>
              <p:txBody>
                <a:bodyPr/>
                <a:lstStyle/>
                <a:p>
                  <a:endParaRPr lang="en-US"/>
                </a:p>
              </p:txBody>
            </p:sp>
            <p:sp>
              <p:nvSpPr>
                <p:cNvPr id="10" name="Freeform 10"/>
                <p:cNvSpPr/>
                <p:nvPr/>
              </p:nvSpPr>
              <p:spPr>
                <a:xfrm>
                  <a:off x="923925" y="1770856"/>
                  <a:ext cx="40481" cy="107950"/>
                </a:xfrm>
                <a:custGeom>
                  <a:avLst/>
                  <a:gdLst/>
                  <a:ahLst/>
                  <a:cxnLst/>
                  <a:rect l="l" t="t" r="r" b="b"/>
                  <a:pathLst>
                    <a:path w="40481" h="107950">
                      <a:moveTo>
                        <a:pt x="0" y="0"/>
                      </a:moveTo>
                      <a:lnTo>
                        <a:pt x="0" y="67469"/>
                      </a:lnTo>
                      <a:lnTo>
                        <a:pt x="40481" y="107950"/>
                      </a:lnTo>
                    </a:path>
                  </a:pathLst>
                </a:custGeom>
                <a:noFill/>
                <a:ln w="19050">
                  <a:solidFill>
                    <a:srgbClr val="18E0A8"/>
                  </a:solidFill>
                </a:ln>
              </p:spPr>
              <p:txBody>
                <a:bodyPr/>
                <a:lstStyle/>
                <a:p>
                  <a:endParaRPr lang="en-US"/>
                </a:p>
              </p:txBody>
            </p:sp>
          </p:grpSp>
          <p:sp>
            <p:nvSpPr>
              <p:cNvPr id="12" name="TextBox 12"/>
              <p:cNvSpPr txBox="1"/>
              <p:nvPr/>
            </p:nvSpPr>
            <p:spPr>
              <a:xfrm>
                <a:off x="718185" y="1970722"/>
                <a:ext cx="3156214" cy="701040"/>
              </a:xfrm>
              <a:prstGeom prst="rect">
                <a:avLst/>
              </a:prstGeom>
              <a:noFill/>
              <a:ln>
                <a:noFill/>
              </a:ln>
            </p:spPr>
            <p:txBody>
              <a:bodyPr wrap="none" lIns="0" tIns="0" rIns="0" bIns="0" anchor="t" anchorCtr="0">
                <a:spAutoFit/>
              </a:bodyPr>
              <a:lstStyle/>
              <a:p>
                <a:pPr algn="l"/>
                <a:r>
                  <a:rPr lang="zh-CN" sz="3450" b="1" dirty="0">
                    <a:solidFill>
                      <a:srgbClr val="18E0A8"/>
                    </a:solidFill>
                    <a:latin typeface="Arial"/>
                    <a:ea typeface="Microsoft YaHei"/>
                    <a:cs typeface="Arial"/>
                  </a:rPr>
                  <a:t>60-70 Hours</a:t>
                </a:r>
              </a:p>
            </p:txBody>
          </p:sp>
          <p:sp>
            <p:nvSpPr>
              <p:cNvPr id="13" name="TextBox 13"/>
              <p:cNvSpPr txBox="1"/>
              <p:nvPr/>
            </p:nvSpPr>
            <p:spPr>
              <a:xfrm>
                <a:off x="762000" y="2581275"/>
                <a:ext cx="1866829" cy="304800"/>
              </a:xfrm>
              <a:prstGeom prst="rect">
                <a:avLst/>
              </a:prstGeom>
              <a:noFill/>
              <a:ln>
                <a:noFill/>
              </a:ln>
            </p:spPr>
            <p:txBody>
              <a:bodyPr wrap="none" lIns="0" tIns="0" rIns="0" bIns="0" anchor="t" anchorCtr="0">
                <a:spAutoFit/>
              </a:bodyPr>
              <a:lstStyle/>
              <a:p>
                <a:pPr algn="l"/>
                <a:r>
                  <a:rPr lang="zh-CN" sz="1500" b="1" dirty="0">
                    <a:solidFill>
                      <a:srgbClr val="F4F8FF"/>
                    </a:solidFill>
                    <a:latin typeface="Arial"/>
                    <a:ea typeface="Microsoft YaHei"/>
                    <a:cs typeface="Arial"/>
                  </a:rPr>
                  <a:t>Saved Per Month</a:t>
                </a:r>
              </a:p>
            </p:txBody>
          </p:sp>
        </p:grpSp>
        <p:grpSp>
          <p:nvGrpSpPr>
            <p:cNvPr id="20" name="Group 20"/>
            <p:cNvGrpSpPr/>
            <p:nvPr/>
          </p:nvGrpSpPr>
          <p:grpSpPr>
            <a:xfrm>
              <a:off x="4429125" y="1447800"/>
              <a:ext cx="3333750" cy="1809750"/>
              <a:chOff x="4429125" y="1447800"/>
              <a:chExt cx="3333750" cy="1809750"/>
            </a:xfrm>
          </p:grpSpPr>
          <p:sp>
            <p:nvSpPr>
              <p:cNvPr id="15" name="Freeform 15"/>
              <p:cNvSpPr/>
              <p:nvPr/>
            </p:nvSpPr>
            <p:spPr>
              <a:xfrm>
                <a:off x="4429125" y="1447800"/>
                <a:ext cx="3333750" cy="1809750"/>
              </a:xfrm>
              <a:custGeom>
                <a:avLst/>
                <a:gdLst/>
                <a:ahLst/>
                <a:cxnLst/>
                <a:rect l="l" t="t" r="r" b="b"/>
                <a:pathLst>
                  <a:path w="3333750" h="1809750">
                    <a:moveTo>
                      <a:pt x="152400" y="0"/>
                    </a:moveTo>
                    <a:lnTo>
                      <a:pt x="3181350" y="0"/>
                    </a:lnTo>
                    <a:cubicBezTo>
                      <a:pt x="3265518" y="0"/>
                      <a:pt x="3333750" y="68232"/>
                      <a:pt x="3333750" y="152400"/>
                    </a:cubicBezTo>
                    <a:lnTo>
                      <a:pt x="3333750" y="1657350"/>
                    </a:lnTo>
                    <a:cubicBezTo>
                      <a:pt x="3333750" y="1741518"/>
                      <a:pt x="3265518" y="1809750"/>
                      <a:pt x="3181350" y="1809750"/>
                    </a:cubicBezTo>
                    <a:lnTo>
                      <a:pt x="152400" y="1809750"/>
                    </a:lnTo>
                    <a:cubicBezTo>
                      <a:pt x="68232" y="1809750"/>
                      <a:pt x="0" y="1741518"/>
                      <a:pt x="0" y="1657350"/>
                    </a:cubicBezTo>
                    <a:lnTo>
                      <a:pt x="0" y="152400"/>
                    </a:lnTo>
                    <a:cubicBezTo>
                      <a:pt x="0" y="68232"/>
                      <a:pt x="68232" y="0"/>
                      <a:pt x="152400" y="0"/>
                    </a:cubicBezTo>
                    <a:close/>
                  </a:path>
                </a:pathLst>
              </a:custGeom>
              <a:solidFill>
                <a:srgbClr val="12263A"/>
              </a:solidFill>
              <a:ln w="9525">
                <a:solidFill>
                  <a:srgbClr val="294157"/>
                </a:solidFill>
              </a:ln>
            </p:spPr>
            <p:txBody>
              <a:bodyPr/>
              <a:lstStyle/>
              <a:p>
                <a:endParaRPr lang="en-US"/>
              </a:p>
            </p:txBody>
          </p:sp>
          <p:sp>
            <p:nvSpPr>
              <p:cNvPr id="16" name="Freeform 16"/>
              <p:cNvSpPr/>
              <p:nvPr/>
            </p:nvSpPr>
            <p:spPr>
              <a:xfrm>
                <a:off x="4725194" y="1716881"/>
                <a:ext cx="188912" cy="242888"/>
              </a:xfrm>
              <a:custGeom>
                <a:avLst/>
                <a:gdLst/>
                <a:ahLst/>
                <a:cxnLst/>
                <a:rect l="l" t="t" r="r" b="b"/>
                <a:pathLst>
                  <a:path w="188912" h="242888">
                    <a:moveTo>
                      <a:pt x="107950" y="0"/>
                    </a:moveTo>
                    <a:lnTo>
                      <a:pt x="107950" y="94456"/>
                    </a:lnTo>
                    <a:lnTo>
                      <a:pt x="188912" y="94456"/>
                    </a:lnTo>
                    <a:lnTo>
                      <a:pt x="80962" y="242888"/>
                    </a:lnTo>
                    <a:lnTo>
                      <a:pt x="80962" y="148431"/>
                    </a:lnTo>
                    <a:lnTo>
                      <a:pt x="0" y="148431"/>
                    </a:lnTo>
                    <a:lnTo>
                      <a:pt x="107950" y="0"/>
                    </a:lnTo>
                  </a:path>
                </a:pathLst>
              </a:custGeom>
              <a:noFill/>
              <a:ln w="19050">
                <a:solidFill>
                  <a:srgbClr val="00D1FF"/>
                </a:solidFill>
              </a:ln>
            </p:spPr>
            <p:txBody>
              <a:bodyPr/>
              <a:lstStyle/>
              <a:p>
                <a:endParaRPr lang="en-US"/>
              </a:p>
            </p:txBody>
          </p:sp>
          <p:sp>
            <p:nvSpPr>
              <p:cNvPr id="17" name="TextBox 17"/>
              <p:cNvSpPr txBox="1"/>
              <p:nvPr/>
            </p:nvSpPr>
            <p:spPr>
              <a:xfrm>
                <a:off x="4613910" y="1970722"/>
                <a:ext cx="2997494" cy="701040"/>
              </a:xfrm>
              <a:prstGeom prst="rect">
                <a:avLst/>
              </a:prstGeom>
              <a:noFill/>
              <a:ln>
                <a:noFill/>
              </a:ln>
            </p:spPr>
            <p:txBody>
              <a:bodyPr wrap="none" lIns="0" tIns="0" rIns="0" bIns="0" anchor="t" anchorCtr="0">
                <a:spAutoFit/>
              </a:bodyPr>
              <a:lstStyle/>
              <a:p>
                <a:pPr algn="l"/>
                <a:r>
                  <a:rPr lang="zh-CN" sz="3450" b="1" dirty="0">
                    <a:solidFill>
                      <a:srgbClr val="00D1FF"/>
                    </a:solidFill>
                    <a:latin typeface="Arial"/>
                    <a:ea typeface="Microsoft YaHei"/>
                    <a:cs typeface="Arial"/>
                  </a:rPr>
                  <a:t>&lt;15 Minutes</a:t>
                </a:r>
              </a:p>
            </p:txBody>
          </p:sp>
          <p:sp>
            <p:nvSpPr>
              <p:cNvPr id="18" name="TextBox 18"/>
              <p:cNvSpPr txBox="1"/>
              <p:nvPr/>
            </p:nvSpPr>
            <p:spPr>
              <a:xfrm>
                <a:off x="4657725" y="2581275"/>
                <a:ext cx="2016347" cy="304800"/>
              </a:xfrm>
              <a:prstGeom prst="rect">
                <a:avLst/>
              </a:prstGeom>
              <a:noFill/>
              <a:ln>
                <a:noFill/>
              </a:ln>
            </p:spPr>
            <p:txBody>
              <a:bodyPr wrap="none" lIns="0" tIns="0" rIns="0" bIns="0" anchor="t" anchorCtr="0">
                <a:spAutoFit/>
              </a:bodyPr>
              <a:lstStyle/>
              <a:p>
                <a:pPr algn="l"/>
                <a:r>
                  <a:rPr lang="zh-CN" sz="1500" b="1" dirty="0">
                    <a:solidFill>
                      <a:srgbClr val="F4F8FF"/>
                    </a:solidFill>
                    <a:latin typeface="Arial"/>
                    <a:ea typeface="Microsoft YaHei"/>
                    <a:cs typeface="Arial"/>
                  </a:rPr>
                  <a:t>Decision Response</a:t>
                </a:r>
              </a:p>
            </p:txBody>
          </p:sp>
          <p:sp>
            <p:nvSpPr>
              <p:cNvPr id="19" name="TextBox 19"/>
              <p:cNvSpPr txBox="1"/>
              <p:nvPr/>
            </p:nvSpPr>
            <p:spPr>
              <a:xfrm>
                <a:off x="4657725" y="2828925"/>
                <a:ext cx="532662" cy="304800"/>
              </a:xfrm>
              <a:prstGeom prst="rect">
                <a:avLst/>
              </a:prstGeom>
              <a:noFill/>
              <a:ln>
                <a:noFill/>
              </a:ln>
            </p:spPr>
            <p:txBody>
              <a:bodyPr wrap="none" lIns="0" tIns="0" rIns="0" bIns="0" anchor="t" anchorCtr="0">
                <a:spAutoFit/>
              </a:bodyPr>
              <a:lstStyle/>
              <a:p>
                <a:pPr algn="l"/>
                <a:r>
                  <a:rPr lang="zh-CN" sz="1500" b="1" dirty="0">
                    <a:solidFill>
                      <a:srgbClr val="F4F8FF"/>
                    </a:solidFill>
                    <a:latin typeface="Arial"/>
                    <a:ea typeface="Microsoft YaHei"/>
                    <a:cs typeface="Arial"/>
                  </a:rPr>
                  <a:t>Time</a:t>
                </a:r>
              </a:p>
            </p:txBody>
          </p:sp>
        </p:grpSp>
        <p:grpSp>
          <p:nvGrpSpPr>
            <p:cNvPr id="32" name="Group 32"/>
            <p:cNvGrpSpPr/>
            <p:nvPr/>
          </p:nvGrpSpPr>
          <p:grpSpPr>
            <a:xfrm>
              <a:off x="8324850" y="1447800"/>
              <a:ext cx="3333750" cy="1809750"/>
              <a:chOff x="8324850" y="1447800"/>
              <a:chExt cx="3333750" cy="1809750"/>
            </a:xfrm>
          </p:grpSpPr>
          <p:sp>
            <p:nvSpPr>
              <p:cNvPr id="21" name="Freeform 21"/>
              <p:cNvSpPr/>
              <p:nvPr/>
            </p:nvSpPr>
            <p:spPr>
              <a:xfrm>
                <a:off x="8324850" y="1447800"/>
                <a:ext cx="3333750" cy="1809750"/>
              </a:xfrm>
              <a:custGeom>
                <a:avLst/>
                <a:gdLst/>
                <a:ahLst/>
                <a:cxnLst/>
                <a:rect l="l" t="t" r="r" b="b"/>
                <a:pathLst>
                  <a:path w="3333750" h="1809750">
                    <a:moveTo>
                      <a:pt x="152400" y="0"/>
                    </a:moveTo>
                    <a:lnTo>
                      <a:pt x="3181350" y="0"/>
                    </a:lnTo>
                    <a:cubicBezTo>
                      <a:pt x="3265518" y="0"/>
                      <a:pt x="3333750" y="68232"/>
                      <a:pt x="3333750" y="152400"/>
                    </a:cubicBezTo>
                    <a:lnTo>
                      <a:pt x="3333750" y="1657350"/>
                    </a:lnTo>
                    <a:cubicBezTo>
                      <a:pt x="3333750" y="1741518"/>
                      <a:pt x="3265518" y="1809750"/>
                      <a:pt x="3181350" y="1809750"/>
                    </a:cubicBezTo>
                    <a:lnTo>
                      <a:pt x="152400" y="1809750"/>
                    </a:lnTo>
                    <a:cubicBezTo>
                      <a:pt x="68232" y="1809750"/>
                      <a:pt x="0" y="1741518"/>
                      <a:pt x="0" y="1657350"/>
                    </a:cubicBezTo>
                    <a:lnTo>
                      <a:pt x="0" y="152400"/>
                    </a:lnTo>
                    <a:cubicBezTo>
                      <a:pt x="0" y="68232"/>
                      <a:pt x="68232" y="0"/>
                      <a:pt x="152400" y="0"/>
                    </a:cubicBezTo>
                    <a:close/>
                  </a:path>
                </a:pathLst>
              </a:custGeom>
              <a:solidFill>
                <a:srgbClr val="12263A"/>
              </a:solidFill>
              <a:ln w="9525">
                <a:solidFill>
                  <a:srgbClr val="294157"/>
                </a:solidFill>
              </a:ln>
            </p:spPr>
            <p:txBody>
              <a:bodyPr/>
              <a:lstStyle/>
              <a:p>
                <a:endParaRPr lang="en-US"/>
              </a:p>
            </p:txBody>
          </p:sp>
          <p:grpSp>
            <p:nvGrpSpPr>
              <p:cNvPr id="28" name="Group 28"/>
              <p:cNvGrpSpPr/>
              <p:nvPr/>
            </p:nvGrpSpPr>
            <p:grpSpPr>
              <a:xfrm>
                <a:off x="8593931" y="1715470"/>
                <a:ext cx="244299" cy="244299"/>
                <a:chOff x="8593931" y="1715470"/>
                <a:chExt cx="244299" cy="244299"/>
              </a:xfrm>
            </p:grpSpPr>
            <p:sp>
              <p:nvSpPr>
                <p:cNvPr id="22" name="Freeform 22"/>
                <p:cNvSpPr/>
                <p:nvPr/>
              </p:nvSpPr>
              <p:spPr>
                <a:xfrm>
                  <a:off x="8593931" y="1715470"/>
                  <a:ext cx="244299" cy="244299"/>
                </a:xfrm>
                <a:custGeom>
                  <a:avLst/>
                  <a:gdLst/>
                  <a:ahLst/>
                  <a:cxnLst/>
                  <a:rect l="l" t="t" r="r" b="b"/>
                  <a:pathLst>
                    <a:path w="244299" h="244299">
                      <a:moveTo>
                        <a:pt x="0" y="244299"/>
                      </a:moveTo>
                      <a:lnTo>
                        <a:pt x="53975" y="244299"/>
                      </a:lnTo>
                      <a:lnTo>
                        <a:pt x="229394" y="68880"/>
                      </a:lnTo>
                      <a:cubicBezTo>
                        <a:pt x="244299" y="53975"/>
                        <a:pt x="244299" y="29810"/>
                        <a:pt x="229394" y="14905"/>
                      </a:cubicBezTo>
                      <a:cubicBezTo>
                        <a:pt x="214489" y="0"/>
                        <a:pt x="190324" y="0"/>
                        <a:pt x="175419" y="14905"/>
                      </a:cubicBezTo>
                      <a:lnTo>
                        <a:pt x="0" y="190324"/>
                      </a:lnTo>
                      <a:lnTo>
                        <a:pt x="0" y="244299"/>
                      </a:lnTo>
                    </a:path>
                  </a:pathLst>
                </a:custGeom>
                <a:noFill/>
                <a:ln w="19050">
                  <a:solidFill>
                    <a:srgbClr val="FFB020"/>
                  </a:solidFill>
                </a:ln>
              </p:spPr>
              <p:txBody>
                <a:bodyPr/>
                <a:lstStyle/>
                <a:p>
                  <a:endParaRPr lang="en-US"/>
                </a:p>
              </p:txBody>
            </p:sp>
            <p:sp>
              <p:nvSpPr>
                <p:cNvPr id="23" name="Freeform 23"/>
                <p:cNvSpPr/>
                <p:nvPr/>
              </p:nvSpPr>
              <p:spPr>
                <a:xfrm>
                  <a:off x="8749109" y="1750616"/>
                  <a:ext cx="53975" cy="53975"/>
                </a:xfrm>
                <a:custGeom>
                  <a:avLst/>
                  <a:gdLst/>
                  <a:ahLst/>
                  <a:cxnLst/>
                  <a:rect l="l" t="t" r="r" b="b"/>
                  <a:pathLst>
                    <a:path w="53975" h="53975">
                      <a:moveTo>
                        <a:pt x="0" y="0"/>
                      </a:moveTo>
                      <a:lnTo>
                        <a:pt x="53975" y="53975"/>
                      </a:lnTo>
                    </a:path>
                  </a:pathLst>
                </a:custGeom>
                <a:noFill/>
                <a:ln w="19050">
                  <a:solidFill>
                    <a:srgbClr val="FFB020"/>
                  </a:solidFill>
                </a:ln>
              </p:spPr>
              <p:txBody>
                <a:bodyPr/>
                <a:lstStyle/>
                <a:p>
                  <a:endParaRPr lang="en-US"/>
                </a:p>
              </p:txBody>
            </p:sp>
            <p:sp>
              <p:nvSpPr>
                <p:cNvPr id="24" name="Freeform 24"/>
                <p:cNvSpPr/>
                <p:nvPr/>
              </p:nvSpPr>
              <p:spPr>
                <a:xfrm>
                  <a:off x="8593931" y="1716881"/>
                  <a:ext cx="121444" cy="121444"/>
                </a:xfrm>
                <a:custGeom>
                  <a:avLst/>
                  <a:gdLst/>
                  <a:ahLst/>
                  <a:cxnLst/>
                  <a:rect l="l" t="t" r="r" b="b"/>
                  <a:pathLst>
                    <a:path w="121444" h="121444">
                      <a:moveTo>
                        <a:pt x="121444" y="67469"/>
                      </a:moveTo>
                      <a:lnTo>
                        <a:pt x="53975" y="0"/>
                      </a:lnTo>
                      <a:lnTo>
                        <a:pt x="0" y="53975"/>
                      </a:lnTo>
                      <a:lnTo>
                        <a:pt x="67469" y="121444"/>
                      </a:lnTo>
                    </a:path>
                  </a:pathLst>
                </a:custGeom>
                <a:noFill/>
                <a:ln w="19050">
                  <a:solidFill>
                    <a:srgbClr val="FFB020"/>
                  </a:solidFill>
                </a:ln>
              </p:spPr>
              <p:txBody>
                <a:bodyPr/>
                <a:lstStyle/>
                <a:p>
                  <a:endParaRPr lang="en-US"/>
                </a:p>
              </p:txBody>
            </p:sp>
            <p:sp>
              <p:nvSpPr>
                <p:cNvPr id="25" name="Freeform 25"/>
                <p:cNvSpPr/>
                <p:nvPr/>
              </p:nvSpPr>
              <p:spPr>
                <a:xfrm>
                  <a:off x="8627666" y="1784350"/>
                  <a:ext cx="20241" cy="20241"/>
                </a:xfrm>
                <a:custGeom>
                  <a:avLst/>
                  <a:gdLst/>
                  <a:ahLst/>
                  <a:cxnLst/>
                  <a:rect l="l" t="t" r="r" b="b"/>
                  <a:pathLst>
                    <a:path w="20241" h="20241">
                      <a:moveTo>
                        <a:pt x="20241" y="0"/>
                      </a:moveTo>
                      <a:lnTo>
                        <a:pt x="0" y="20241"/>
                      </a:lnTo>
                    </a:path>
                  </a:pathLst>
                </a:custGeom>
                <a:noFill/>
                <a:ln w="19050">
                  <a:solidFill>
                    <a:srgbClr val="FFB020"/>
                  </a:solidFill>
                </a:ln>
              </p:spPr>
              <p:txBody>
                <a:bodyPr/>
                <a:lstStyle/>
                <a:p>
                  <a:endParaRPr lang="en-US"/>
                </a:p>
              </p:txBody>
            </p:sp>
            <p:sp>
              <p:nvSpPr>
                <p:cNvPr id="26" name="Freeform 26"/>
                <p:cNvSpPr/>
                <p:nvPr/>
              </p:nvSpPr>
              <p:spPr>
                <a:xfrm>
                  <a:off x="8715375" y="1838325"/>
                  <a:ext cx="121444" cy="121444"/>
                </a:xfrm>
                <a:custGeom>
                  <a:avLst/>
                  <a:gdLst/>
                  <a:ahLst/>
                  <a:cxnLst/>
                  <a:rect l="l" t="t" r="r" b="b"/>
                  <a:pathLst>
                    <a:path w="121444" h="121444">
                      <a:moveTo>
                        <a:pt x="53975" y="0"/>
                      </a:moveTo>
                      <a:lnTo>
                        <a:pt x="121444" y="67469"/>
                      </a:lnTo>
                      <a:lnTo>
                        <a:pt x="67469" y="121444"/>
                      </a:lnTo>
                      <a:lnTo>
                        <a:pt x="0" y="53975"/>
                      </a:lnTo>
                    </a:path>
                  </a:pathLst>
                </a:custGeom>
                <a:noFill/>
                <a:ln w="19050">
                  <a:solidFill>
                    <a:srgbClr val="FFB020"/>
                  </a:solidFill>
                </a:ln>
              </p:spPr>
              <p:txBody>
                <a:bodyPr/>
                <a:lstStyle/>
                <a:p>
                  <a:endParaRPr lang="en-US"/>
                </a:p>
              </p:txBody>
            </p:sp>
            <p:sp>
              <p:nvSpPr>
                <p:cNvPr id="27" name="Freeform 27"/>
                <p:cNvSpPr/>
                <p:nvPr/>
              </p:nvSpPr>
              <p:spPr>
                <a:xfrm>
                  <a:off x="8749109" y="1905794"/>
                  <a:ext cx="20241" cy="20241"/>
                </a:xfrm>
                <a:custGeom>
                  <a:avLst/>
                  <a:gdLst/>
                  <a:ahLst/>
                  <a:cxnLst/>
                  <a:rect l="l" t="t" r="r" b="b"/>
                  <a:pathLst>
                    <a:path w="20241" h="20241">
                      <a:moveTo>
                        <a:pt x="20241" y="0"/>
                      </a:moveTo>
                      <a:lnTo>
                        <a:pt x="0" y="20241"/>
                      </a:lnTo>
                    </a:path>
                  </a:pathLst>
                </a:custGeom>
                <a:noFill/>
                <a:ln w="19050">
                  <a:solidFill>
                    <a:srgbClr val="FFB020"/>
                  </a:solidFill>
                </a:ln>
              </p:spPr>
              <p:txBody>
                <a:bodyPr/>
                <a:lstStyle/>
                <a:p>
                  <a:endParaRPr lang="en-US"/>
                </a:p>
              </p:txBody>
            </p:sp>
          </p:grpSp>
          <p:sp>
            <p:nvSpPr>
              <p:cNvPr id="29" name="TextBox 29"/>
              <p:cNvSpPr txBox="1"/>
              <p:nvPr/>
            </p:nvSpPr>
            <p:spPr>
              <a:xfrm>
                <a:off x="8509635" y="1970722"/>
                <a:ext cx="2441974" cy="701040"/>
              </a:xfrm>
              <a:prstGeom prst="rect">
                <a:avLst/>
              </a:prstGeom>
              <a:noFill/>
              <a:ln>
                <a:noFill/>
              </a:ln>
            </p:spPr>
            <p:txBody>
              <a:bodyPr wrap="none" lIns="0" tIns="0" rIns="0" bIns="0" anchor="t" anchorCtr="0">
                <a:spAutoFit/>
              </a:bodyPr>
              <a:lstStyle/>
              <a:p>
                <a:pPr algn="l"/>
                <a:r>
                  <a:rPr lang="zh-CN" sz="3450" b="1" dirty="0">
                    <a:solidFill>
                      <a:srgbClr val="FFB020"/>
                    </a:solidFill>
                    <a:latin typeface="Arial"/>
                    <a:ea typeface="Microsoft YaHei"/>
                    <a:cs typeface="Arial"/>
                  </a:rPr>
                  <a:t>Up To 20%</a:t>
                </a:r>
              </a:p>
            </p:txBody>
          </p:sp>
          <p:sp>
            <p:nvSpPr>
              <p:cNvPr id="30" name="TextBox 30"/>
              <p:cNvSpPr txBox="1"/>
              <p:nvPr/>
            </p:nvSpPr>
            <p:spPr>
              <a:xfrm>
                <a:off x="8553450" y="2581275"/>
                <a:ext cx="1383768" cy="304800"/>
              </a:xfrm>
              <a:prstGeom prst="rect">
                <a:avLst/>
              </a:prstGeom>
              <a:noFill/>
              <a:ln>
                <a:noFill/>
              </a:ln>
            </p:spPr>
            <p:txBody>
              <a:bodyPr wrap="none" lIns="0" tIns="0" rIns="0" bIns="0" anchor="t" anchorCtr="0">
                <a:spAutoFit/>
              </a:bodyPr>
              <a:lstStyle/>
              <a:p>
                <a:pPr algn="l"/>
                <a:r>
                  <a:rPr lang="zh-CN" sz="1500" b="1" dirty="0">
                    <a:solidFill>
                      <a:srgbClr val="F4F8FF"/>
                    </a:solidFill>
                    <a:latin typeface="Arial"/>
                    <a:ea typeface="Microsoft YaHei"/>
                    <a:cs typeface="Arial"/>
                  </a:rPr>
                  <a:t>Reduction In</a:t>
                </a:r>
              </a:p>
            </p:txBody>
          </p:sp>
          <p:sp>
            <p:nvSpPr>
              <p:cNvPr id="31" name="TextBox 31"/>
              <p:cNvSpPr txBox="1"/>
              <p:nvPr/>
            </p:nvSpPr>
            <p:spPr>
              <a:xfrm>
                <a:off x="8553450" y="2828925"/>
                <a:ext cx="2234875" cy="304800"/>
              </a:xfrm>
              <a:prstGeom prst="rect">
                <a:avLst/>
              </a:prstGeom>
              <a:noFill/>
              <a:ln>
                <a:noFill/>
              </a:ln>
            </p:spPr>
            <p:txBody>
              <a:bodyPr wrap="none" lIns="0" tIns="0" rIns="0" bIns="0" anchor="t" anchorCtr="0">
                <a:spAutoFit/>
              </a:bodyPr>
              <a:lstStyle/>
              <a:p>
                <a:pPr algn="l"/>
                <a:r>
                  <a:rPr lang="zh-CN" sz="1500" b="1" dirty="0">
                    <a:solidFill>
                      <a:srgbClr val="F4F8FF"/>
                    </a:solidFill>
                    <a:latin typeface="Arial"/>
                    <a:ea typeface="Microsoft YaHei"/>
                    <a:cs typeface="Arial"/>
                  </a:rPr>
                  <a:t>Unplanned Downtime</a:t>
                </a:r>
              </a:p>
            </p:txBody>
          </p:sp>
        </p:grpSp>
        <p:grpSp>
          <p:nvGrpSpPr>
            <p:cNvPr id="42" name="Group 42"/>
            <p:cNvGrpSpPr/>
            <p:nvPr/>
          </p:nvGrpSpPr>
          <p:grpSpPr>
            <a:xfrm>
              <a:off x="1524000" y="3667125"/>
              <a:ext cx="4095750" cy="1695450"/>
              <a:chOff x="1524000" y="3667125"/>
              <a:chExt cx="4095750" cy="1695450"/>
            </a:xfrm>
          </p:grpSpPr>
          <p:sp>
            <p:nvSpPr>
              <p:cNvPr id="33" name="Freeform 33"/>
              <p:cNvSpPr/>
              <p:nvPr/>
            </p:nvSpPr>
            <p:spPr>
              <a:xfrm>
                <a:off x="1524000" y="3667125"/>
                <a:ext cx="4095750" cy="1695450"/>
              </a:xfrm>
              <a:custGeom>
                <a:avLst/>
                <a:gdLst/>
                <a:ahLst/>
                <a:cxnLst/>
                <a:rect l="l" t="t" r="r" b="b"/>
                <a:pathLst>
                  <a:path w="4095750" h="1695450">
                    <a:moveTo>
                      <a:pt x="152400" y="0"/>
                    </a:moveTo>
                    <a:lnTo>
                      <a:pt x="3943350" y="0"/>
                    </a:lnTo>
                    <a:cubicBezTo>
                      <a:pt x="4027518" y="0"/>
                      <a:pt x="4095750" y="68232"/>
                      <a:pt x="4095750" y="152400"/>
                    </a:cubicBezTo>
                    <a:lnTo>
                      <a:pt x="4095750" y="1543050"/>
                    </a:lnTo>
                    <a:cubicBezTo>
                      <a:pt x="4095750" y="1627218"/>
                      <a:pt x="4027518" y="1695450"/>
                      <a:pt x="3943350" y="1695450"/>
                    </a:cubicBezTo>
                    <a:lnTo>
                      <a:pt x="152400" y="1695450"/>
                    </a:lnTo>
                    <a:cubicBezTo>
                      <a:pt x="68232" y="1695450"/>
                      <a:pt x="0" y="1627218"/>
                      <a:pt x="0" y="1543050"/>
                    </a:cubicBezTo>
                    <a:lnTo>
                      <a:pt x="0" y="152400"/>
                    </a:lnTo>
                    <a:cubicBezTo>
                      <a:pt x="0" y="68232"/>
                      <a:pt x="68232" y="0"/>
                      <a:pt x="152400" y="0"/>
                    </a:cubicBezTo>
                    <a:close/>
                  </a:path>
                </a:pathLst>
              </a:custGeom>
              <a:solidFill>
                <a:srgbClr val="12263A"/>
              </a:solidFill>
              <a:ln w="9525">
                <a:solidFill>
                  <a:srgbClr val="294157"/>
                </a:solidFill>
              </a:ln>
            </p:spPr>
            <p:txBody>
              <a:bodyPr/>
              <a:lstStyle/>
              <a:p>
                <a:endParaRPr lang="en-US"/>
              </a:p>
            </p:txBody>
          </p:sp>
          <p:grpSp>
            <p:nvGrpSpPr>
              <p:cNvPr id="38" name="Group 38"/>
              <p:cNvGrpSpPr/>
              <p:nvPr/>
            </p:nvGrpSpPr>
            <p:grpSpPr>
              <a:xfrm>
                <a:off x="1793081" y="3936206"/>
                <a:ext cx="242888" cy="242888"/>
                <a:chOff x="1793081" y="3936206"/>
                <a:chExt cx="242888" cy="242888"/>
              </a:xfrm>
            </p:grpSpPr>
            <p:sp>
              <p:nvSpPr>
                <p:cNvPr id="34" name="Freeform 34"/>
                <p:cNvSpPr/>
                <p:nvPr/>
              </p:nvSpPr>
              <p:spPr>
                <a:xfrm>
                  <a:off x="1793081" y="3936206"/>
                  <a:ext cx="242888" cy="242888"/>
                </a:xfrm>
                <a:custGeom>
                  <a:avLst/>
                  <a:gdLst/>
                  <a:ahLst/>
                  <a:cxnLst/>
                  <a:rect l="l" t="t" r="r" b="b"/>
                  <a:pathLst>
                    <a:path w="242888" h="242888">
                      <a:moveTo>
                        <a:pt x="0" y="121444"/>
                      </a:moveTo>
                      <a:cubicBezTo>
                        <a:pt x="0" y="188515"/>
                        <a:pt x="54372" y="242888"/>
                        <a:pt x="121444" y="242888"/>
                      </a:cubicBezTo>
                      <a:cubicBezTo>
                        <a:pt x="188515" y="242888"/>
                        <a:pt x="242888" y="188515"/>
                        <a:pt x="242888" y="121444"/>
                      </a:cubicBezTo>
                      <a:cubicBezTo>
                        <a:pt x="242888" y="54372"/>
                        <a:pt x="188515" y="0"/>
                        <a:pt x="121444" y="0"/>
                      </a:cubicBezTo>
                      <a:cubicBezTo>
                        <a:pt x="54372" y="0"/>
                        <a:pt x="0" y="54372"/>
                        <a:pt x="0" y="121444"/>
                      </a:cubicBezTo>
                    </a:path>
                  </a:pathLst>
                </a:custGeom>
                <a:noFill/>
                <a:ln w="19050">
                  <a:solidFill>
                    <a:srgbClr val="31D67B"/>
                  </a:solidFill>
                </a:ln>
              </p:spPr>
              <p:txBody>
                <a:bodyPr/>
                <a:lstStyle/>
                <a:p>
                  <a:endParaRPr lang="en-US"/>
                </a:p>
              </p:txBody>
            </p:sp>
            <p:sp>
              <p:nvSpPr>
                <p:cNvPr id="35" name="Freeform 35"/>
                <p:cNvSpPr/>
                <p:nvPr/>
              </p:nvSpPr>
              <p:spPr>
                <a:xfrm>
                  <a:off x="1901031" y="4044156"/>
                  <a:ext cx="26987" cy="26988"/>
                </a:xfrm>
                <a:custGeom>
                  <a:avLst/>
                  <a:gdLst/>
                  <a:ahLst/>
                  <a:cxnLst/>
                  <a:rect l="l" t="t" r="r" b="b"/>
                  <a:pathLst>
                    <a:path w="26987" h="26988">
                      <a:moveTo>
                        <a:pt x="0" y="13494"/>
                      </a:moveTo>
                      <a:cubicBezTo>
                        <a:pt x="0" y="20946"/>
                        <a:pt x="6041" y="26988"/>
                        <a:pt x="13494" y="26988"/>
                      </a:cubicBezTo>
                      <a:cubicBezTo>
                        <a:pt x="20946" y="26988"/>
                        <a:pt x="26987" y="20946"/>
                        <a:pt x="26987" y="13494"/>
                      </a:cubicBezTo>
                      <a:cubicBezTo>
                        <a:pt x="26987" y="6041"/>
                        <a:pt x="20946" y="0"/>
                        <a:pt x="13494" y="0"/>
                      </a:cubicBezTo>
                      <a:cubicBezTo>
                        <a:pt x="6041" y="0"/>
                        <a:pt x="0" y="6041"/>
                        <a:pt x="0" y="13494"/>
                      </a:cubicBezTo>
                    </a:path>
                  </a:pathLst>
                </a:custGeom>
                <a:noFill/>
                <a:ln w="19050">
                  <a:solidFill>
                    <a:srgbClr val="31D67B"/>
                  </a:solidFill>
                </a:ln>
              </p:spPr>
              <p:txBody>
                <a:bodyPr/>
                <a:lstStyle/>
                <a:p>
                  <a:endParaRPr lang="en-US"/>
                </a:p>
              </p:txBody>
            </p:sp>
            <p:sp>
              <p:nvSpPr>
                <p:cNvPr id="36" name="Freeform 36"/>
                <p:cNvSpPr/>
                <p:nvPr/>
              </p:nvSpPr>
              <p:spPr>
                <a:xfrm>
                  <a:off x="1933551" y="4003675"/>
                  <a:ext cx="34949" cy="34949"/>
                </a:xfrm>
                <a:custGeom>
                  <a:avLst/>
                  <a:gdLst/>
                  <a:ahLst/>
                  <a:cxnLst/>
                  <a:rect l="l" t="t" r="r" b="b"/>
                  <a:pathLst>
                    <a:path w="34949" h="34949">
                      <a:moveTo>
                        <a:pt x="0" y="34949"/>
                      </a:moveTo>
                      <a:lnTo>
                        <a:pt x="34949" y="0"/>
                      </a:lnTo>
                    </a:path>
                  </a:pathLst>
                </a:custGeom>
                <a:noFill/>
                <a:ln w="19050">
                  <a:solidFill>
                    <a:srgbClr val="31D67B"/>
                  </a:solidFill>
                </a:ln>
              </p:spPr>
              <p:txBody>
                <a:bodyPr/>
                <a:lstStyle/>
                <a:p>
                  <a:endParaRPr lang="en-US"/>
                </a:p>
              </p:txBody>
            </p:sp>
            <p:sp>
              <p:nvSpPr>
                <p:cNvPr id="37" name="Freeform 37"/>
                <p:cNvSpPr/>
                <p:nvPr/>
              </p:nvSpPr>
              <p:spPr>
                <a:xfrm>
                  <a:off x="1847056" y="3990181"/>
                  <a:ext cx="67469" cy="67469"/>
                </a:xfrm>
                <a:custGeom>
                  <a:avLst/>
                  <a:gdLst/>
                  <a:ahLst/>
                  <a:cxnLst/>
                  <a:rect l="l" t="t" r="r" b="b"/>
                  <a:pathLst>
                    <a:path w="67469" h="67469">
                      <a:moveTo>
                        <a:pt x="0" y="67469"/>
                      </a:moveTo>
                      <a:cubicBezTo>
                        <a:pt x="0" y="30207"/>
                        <a:pt x="30207" y="0"/>
                        <a:pt x="67469" y="0"/>
                      </a:cubicBezTo>
                    </a:path>
                  </a:pathLst>
                </a:custGeom>
                <a:noFill/>
                <a:ln w="19050">
                  <a:solidFill>
                    <a:srgbClr val="31D67B"/>
                  </a:solidFill>
                </a:ln>
              </p:spPr>
              <p:txBody>
                <a:bodyPr/>
                <a:lstStyle/>
                <a:p>
                  <a:endParaRPr lang="en-US"/>
                </a:p>
              </p:txBody>
            </p:sp>
          </p:grpSp>
          <p:sp>
            <p:nvSpPr>
              <p:cNvPr id="39" name="TextBox 39"/>
              <p:cNvSpPr txBox="1"/>
              <p:nvPr/>
            </p:nvSpPr>
            <p:spPr>
              <a:xfrm>
                <a:off x="1708785" y="4190048"/>
                <a:ext cx="2600694" cy="701040"/>
              </a:xfrm>
              <a:prstGeom prst="rect">
                <a:avLst/>
              </a:prstGeom>
              <a:noFill/>
              <a:ln>
                <a:noFill/>
              </a:ln>
            </p:spPr>
            <p:txBody>
              <a:bodyPr wrap="none" lIns="0" tIns="0" rIns="0" bIns="0" anchor="t" anchorCtr="0">
                <a:spAutoFit/>
              </a:bodyPr>
              <a:lstStyle/>
              <a:p>
                <a:pPr algn="l"/>
                <a:r>
                  <a:rPr lang="zh-CN" sz="3450" b="1" dirty="0">
                    <a:solidFill>
                      <a:srgbClr val="31D67B"/>
                    </a:solidFill>
                    <a:latin typeface="Arial"/>
                    <a:ea typeface="Microsoft YaHei"/>
                    <a:cs typeface="Arial"/>
                  </a:rPr>
                  <a:t>+1% To +3%</a:t>
                </a:r>
              </a:p>
            </p:txBody>
          </p:sp>
          <p:sp>
            <p:nvSpPr>
              <p:cNvPr id="40" name="TextBox 40"/>
              <p:cNvSpPr txBox="1"/>
              <p:nvPr/>
            </p:nvSpPr>
            <p:spPr>
              <a:xfrm>
                <a:off x="1752600" y="4800600"/>
                <a:ext cx="1556290" cy="304800"/>
              </a:xfrm>
              <a:prstGeom prst="rect">
                <a:avLst/>
              </a:prstGeom>
              <a:noFill/>
              <a:ln>
                <a:noFill/>
              </a:ln>
            </p:spPr>
            <p:txBody>
              <a:bodyPr wrap="none" lIns="0" tIns="0" rIns="0" bIns="0" anchor="t" anchorCtr="0">
                <a:spAutoFit/>
              </a:bodyPr>
              <a:lstStyle/>
              <a:p>
                <a:pPr algn="l"/>
                <a:r>
                  <a:rPr lang="zh-CN" sz="1500" b="1" dirty="0">
                    <a:solidFill>
                      <a:srgbClr val="F4F8FF"/>
                    </a:solidFill>
                    <a:latin typeface="Arial"/>
                    <a:ea typeface="Microsoft YaHei"/>
                    <a:cs typeface="Arial"/>
                  </a:rPr>
                  <a:t>Potential OEE</a:t>
                </a:r>
              </a:p>
            </p:txBody>
          </p:sp>
          <p:sp>
            <p:nvSpPr>
              <p:cNvPr id="41" name="TextBox 41"/>
              <p:cNvSpPr txBox="1"/>
              <p:nvPr/>
            </p:nvSpPr>
            <p:spPr>
              <a:xfrm>
                <a:off x="1752600" y="5048250"/>
                <a:ext cx="1464278" cy="304800"/>
              </a:xfrm>
              <a:prstGeom prst="rect">
                <a:avLst/>
              </a:prstGeom>
              <a:noFill/>
              <a:ln>
                <a:noFill/>
              </a:ln>
            </p:spPr>
            <p:txBody>
              <a:bodyPr wrap="none" lIns="0" tIns="0" rIns="0" bIns="0" anchor="t" anchorCtr="0">
                <a:spAutoFit/>
              </a:bodyPr>
              <a:lstStyle/>
              <a:p>
                <a:pPr algn="l"/>
                <a:r>
                  <a:rPr lang="zh-CN" sz="1500" b="1" dirty="0">
                    <a:solidFill>
                      <a:srgbClr val="F4F8FF"/>
                    </a:solidFill>
                    <a:latin typeface="Arial"/>
                    <a:ea typeface="Microsoft YaHei"/>
                    <a:cs typeface="Arial"/>
                  </a:rPr>
                  <a:t>Improvement</a:t>
                </a:r>
              </a:p>
            </p:txBody>
          </p:sp>
        </p:grpSp>
        <p:grpSp>
          <p:nvGrpSpPr>
            <p:cNvPr id="51" name="Group 51"/>
            <p:cNvGrpSpPr/>
            <p:nvPr/>
          </p:nvGrpSpPr>
          <p:grpSpPr>
            <a:xfrm>
              <a:off x="6572250" y="3667125"/>
              <a:ext cx="4095750" cy="1695450"/>
              <a:chOff x="6572250" y="3667125"/>
              <a:chExt cx="4095750" cy="1695450"/>
            </a:xfrm>
          </p:grpSpPr>
          <p:sp>
            <p:nvSpPr>
              <p:cNvPr id="43" name="Freeform 43"/>
              <p:cNvSpPr/>
              <p:nvPr/>
            </p:nvSpPr>
            <p:spPr>
              <a:xfrm>
                <a:off x="6572250" y="3667125"/>
                <a:ext cx="4095750" cy="1695450"/>
              </a:xfrm>
              <a:custGeom>
                <a:avLst/>
                <a:gdLst/>
                <a:ahLst/>
                <a:cxnLst/>
                <a:rect l="l" t="t" r="r" b="b"/>
                <a:pathLst>
                  <a:path w="4095750" h="1695450">
                    <a:moveTo>
                      <a:pt x="152400" y="0"/>
                    </a:moveTo>
                    <a:lnTo>
                      <a:pt x="3943350" y="0"/>
                    </a:lnTo>
                    <a:cubicBezTo>
                      <a:pt x="4027518" y="0"/>
                      <a:pt x="4095750" y="68232"/>
                      <a:pt x="4095750" y="152400"/>
                    </a:cubicBezTo>
                    <a:lnTo>
                      <a:pt x="4095750" y="1543050"/>
                    </a:lnTo>
                    <a:cubicBezTo>
                      <a:pt x="4095750" y="1627218"/>
                      <a:pt x="4027518" y="1695450"/>
                      <a:pt x="3943350" y="1695450"/>
                    </a:cubicBezTo>
                    <a:lnTo>
                      <a:pt x="152400" y="1695450"/>
                    </a:lnTo>
                    <a:cubicBezTo>
                      <a:pt x="68232" y="1695450"/>
                      <a:pt x="0" y="1627218"/>
                      <a:pt x="0" y="1543050"/>
                    </a:cubicBezTo>
                    <a:lnTo>
                      <a:pt x="0" y="152400"/>
                    </a:lnTo>
                    <a:cubicBezTo>
                      <a:pt x="0" y="68232"/>
                      <a:pt x="68232" y="0"/>
                      <a:pt x="152400" y="0"/>
                    </a:cubicBezTo>
                    <a:close/>
                  </a:path>
                </a:pathLst>
              </a:custGeom>
              <a:solidFill>
                <a:srgbClr val="12263A"/>
              </a:solidFill>
              <a:ln w="9525">
                <a:solidFill>
                  <a:srgbClr val="294157"/>
                </a:solidFill>
              </a:ln>
            </p:spPr>
            <p:txBody>
              <a:bodyPr/>
              <a:lstStyle/>
              <a:p>
                <a:endParaRPr lang="en-US"/>
              </a:p>
            </p:txBody>
          </p:sp>
          <p:grpSp>
            <p:nvGrpSpPr>
              <p:cNvPr id="47" name="Group 47"/>
              <p:cNvGrpSpPr/>
              <p:nvPr/>
            </p:nvGrpSpPr>
            <p:grpSpPr>
              <a:xfrm>
                <a:off x="6841331" y="3936206"/>
                <a:ext cx="242888" cy="242888"/>
                <a:chOff x="6841331" y="3936206"/>
                <a:chExt cx="242888" cy="242888"/>
              </a:xfrm>
            </p:grpSpPr>
            <p:sp>
              <p:nvSpPr>
                <p:cNvPr id="44" name="Freeform 44"/>
                <p:cNvSpPr/>
                <p:nvPr/>
              </p:nvSpPr>
              <p:spPr>
                <a:xfrm>
                  <a:off x="6949281" y="4044156"/>
                  <a:ext cx="26987" cy="26988"/>
                </a:xfrm>
                <a:custGeom>
                  <a:avLst/>
                  <a:gdLst/>
                  <a:ahLst/>
                  <a:cxnLst/>
                  <a:rect l="l" t="t" r="r" b="b"/>
                  <a:pathLst>
                    <a:path w="26987" h="26988">
                      <a:moveTo>
                        <a:pt x="0" y="13494"/>
                      </a:moveTo>
                      <a:cubicBezTo>
                        <a:pt x="0" y="20946"/>
                        <a:pt x="6041" y="26988"/>
                        <a:pt x="13494" y="26988"/>
                      </a:cubicBezTo>
                      <a:cubicBezTo>
                        <a:pt x="20946" y="26988"/>
                        <a:pt x="26987" y="20946"/>
                        <a:pt x="26987" y="13494"/>
                      </a:cubicBezTo>
                      <a:cubicBezTo>
                        <a:pt x="26987" y="6041"/>
                        <a:pt x="20946" y="0"/>
                        <a:pt x="13494" y="0"/>
                      </a:cubicBezTo>
                      <a:cubicBezTo>
                        <a:pt x="6041" y="0"/>
                        <a:pt x="0" y="6041"/>
                        <a:pt x="0" y="13494"/>
                      </a:cubicBezTo>
                    </a:path>
                  </a:pathLst>
                </a:custGeom>
                <a:noFill/>
                <a:ln w="19050">
                  <a:solidFill>
                    <a:srgbClr val="2EA7FF"/>
                  </a:solidFill>
                </a:ln>
              </p:spPr>
              <p:txBody>
                <a:bodyPr/>
                <a:lstStyle/>
                <a:p>
                  <a:endParaRPr lang="en-US"/>
                </a:p>
              </p:txBody>
            </p:sp>
            <p:sp>
              <p:nvSpPr>
                <p:cNvPr id="45" name="Freeform 45"/>
                <p:cNvSpPr/>
                <p:nvPr/>
              </p:nvSpPr>
              <p:spPr>
                <a:xfrm>
                  <a:off x="6895306" y="3990181"/>
                  <a:ext cx="134938" cy="134937"/>
                </a:xfrm>
                <a:custGeom>
                  <a:avLst/>
                  <a:gdLst/>
                  <a:ahLst/>
                  <a:cxnLst/>
                  <a:rect l="l" t="t" r="r" b="b"/>
                  <a:pathLst>
                    <a:path w="134938" h="134937">
                      <a:moveTo>
                        <a:pt x="0" y="67469"/>
                      </a:moveTo>
                      <a:cubicBezTo>
                        <a:pt x="0" y="104731"/>
                        <a:pt x="30207" y="134937"/>
                        <a:pt x="67469" y="134937"/>
                      </a:cubicBezTo>
                      <a:cubicBezTo>
                        <a:pt x="104731" y="134937"/>
                        <a:pt x="134938" y="104731"/>
                        <a:pt x="134938" y="67469"/>
                      </a:cubicBezTo>
                      <a:cubicBezTo>
                        <a:pt x="134938" y="30207"/>
                        <a:pt x="104731" y="0"/>
                        <a:pt x="67469" y="0"/>
                      </a:cubicBezTo>
                      <a:cubicBezTo>
                        <a:pt x="30207" y="0"/>
                        <a:pt x="0" y="30207"/>
                        <a:pt x="0" y="67469"/>
                      </a:cubicBezTo>
                    </a:path>
                  </a:pathLst>
                </a:custGeom>
                <a:noFill/>
                <a:ln w="19050">
                  <a:solidFill>
                    <a:srgbClr val="2EA7FF"/>
                  </a:solidFill>
                </a:ln>
              </p:spPr>
              <p:txBody>
                <a:bodyPr/>
                <a:lstStyle/>
                <a:p>
                  <a:endParaRPr lang="en-US"/>
                </a:p>
              </p:txBody>
            </p:sp>
            <p:sp>
              <p:nvSpPr>
                <p:cNvPr id="46" name="Freeform 46"/>
                <p:cNvSpPr/>
                <p:nvPr/>
              </p:nvSpPr>
              <p:spPr>
                <a:xfrm>
                  <a:off x="6841331" y="3936206"/>
                  <a:ext cx="242888" cy="242888"/>
                </a:xfrm>
                <a:custGeom>
                  <a:avLst/>
                  <a:gdLst/>
                  <a:ahLst/>
                  <a:cxnLst/>
                  <a:rect l="l" t="t" r="r" b="b"/>
                  <a:pathLst>
                    <a:path w="242888" h="242888">
                      <a:moveTo>
                        <a:pt x="0" y="121444"/>
                      </a:moveTo>
                      <a:cubicBezTo>
                        <a:pt x="0" y="188515"/>
                        <a:pt x="54372" y="242888"/>
                        <a:pt x="121444" y="242888"/>
                      </a:cubicBezTo>
                      <a:cubicBezTo>
                        <a:pt x="188515" y="242888"/>
                        <a:pt x="242888" y="188515"/>
                        <a:pt x="242888" y="121444"/>
                      </a:cubicBezTo>
                      <a:cubicBezTo>
                        <a:pt x="242888" y="54372"/>
                        <a:pt x="188515" y="0"/>
                        <a:pt x="121444" y="0"/>
                      </a:cubicBezTo>
                      <a:cubicBezTo>
                        <a:pt x="54372" y="0"/>
                        <a:pt x="0" y="54372"/>
                        <a:pt x="0" y="121444"/>
                      </a:cubicBezTo>
                    </a:path>
                  </a:pathLst>
                </a:custGeom>
                <a:noFill/>
                <a:ln w="19050">
                  <a:solidFill>
                    <a:srgbClr val="2EA7FF"/>
                  </a:solidFill>
                </a:ln>
              </p:spPr>
              <p:txBody>
                <a:bodyPr/>
                <a:lstStyle/>
                <a:p>
                  <a:endParaRPr lang="en-US"/>
                </a:p>
              </p:txBody>
            </p:sp>
          </p:grpSp>
          <p:sp>
            <p:nvSpPr>
              <p:cNvPr id="48" name="TextBox 48"/>
              <p:cNvSpPr txBox="1"/>
              <p:nvPr/>
            </p:nvSpPr>
            <p:spPr>
              <a:xfrm>
                <a:off x="6757035" y="4190048"/>
                <a:ext cx="3473653" cy="701040"/>
              </a:xfrm>
              <a:prstGeom prst="rect">
                <a:avLst/>
              </a:prstGeom>
              <a:noFill/>
              <a:ln>
                <a:noFill/>
              </a:ln>
            </p:spPr>
            <p:txBody>
              <a:bodyPr wrap="none" lIns="0" tIns="0" rIns="0" bIns="0" anchor="t" anchorCtr="0">
                <a:spAutoFit/>
              </a:bodyPr>
              <a:lstStyle/>
              <a:p>
                <a:pPr algn="l"/>
                <a:r>
                  <a:rPr lang="zh-CN" sz="3450" b="1" dirty="0">
                    <a:solidFill>
                      <a:srgbClr val="2EA7FF"/>
                    </a:solidFill>
                    <a:latin typeface="Arial"/>
                    <a:ea typeface="Microsoft YaHei"/>
                    <a:cs typeface="Arial"/>
                  </a:rPr>
                  <a:t>Single Source</a:t>
                </a:r>
              </a:p>
            </p:txBody>
          </p:sp>
          <p:sp>
            <p:nvSpPr>
              <p:cNvPr id="49" name="TextBox 49"/>
              <p:cNvSpPr txBox="1"/>
              <p:nvPr/>
            </p:nvSpPr>
            <p:spPr>
              <a:xfrm>
                <a:off x="6800850" y="4800600"/>
                <a:ext cx="1866829" cy="304800"/>
              </a:xfrm>
              <a:prstGeom prst="rect">
                <a:avLst/>
              </a:prstGeom>
              <a:noFill/>
              <a:ln>
                <a:noFill/>
              </a:ln>
            </p:spPr>
            <p:txBody>
              <a:bodyPr wrap="none" lIns="0" tIns="0" rIns="0" bIns="0" anchor="t" anchorCtr="0">
                <a:spAutoFit/>
              </a:bodyPr>
              <a:lstStyle/>
              <a:p>
                <a:pPr algn="l"/>
                <a:r>
                  <a:rPr lang="zh-CN" sz="1500" b="1" dirty="0">
                    <a:solidFill>
                      <a:srgbClr val="F4F8FF"/>
                    </a:solidFill>
                    <a:latin typeface="Arial"/>
                    <a:ea typeface="Microsoft YaHei"/>
                    <a:cs typeface="Arial"/>
                  </a:rPr>
                  <a:t>Of Truth Across</a:t>
                </a:r>
              </a:p>
            </p:txBody>
          </p:sp>
          <p:sp>
            <p:nvSpPr>
              <p:cNvPr id="50" name="TextBox 50"/>
              <p:cNvSpPr txBox="1"/>
              <p:nvPr/>
            </p:nvSpPr>
            <p:spPr>
              <a:xfrm>
                <a:off x="6800850" y="5048250"/>
                <a:ext cx="2993969" cy="304800"/>
              </a:xfrm>
              <a:prstGeom prst="rect">
                <a:avLst/>
              </a:prstGeom>
              <a:noFill/>
              <a:ln>
                <a:noFill/>
              </a:ln>
            </p:spPr>
            <p:txBody>
              <a:bodyPr wrap="none" lIns="0" tIns="0" rIns="0" bIns="0" anchor="t" anchorCtr="0">
                <a:spAutoFit/>
              </a:bodyPr>
              <a:lstStyle/>
              <a:p>
                <a:pPr algn="l"/>
                <a:r>
                  <a:rPr lang="zh-CN" sz="1500" b="1" dirty="0">
                    <a:solidFill>
                      <a:srgbClr val="F4F8FF"/>
                    </a:solidFill>
                    <a:latin typeface="Arial"/>
                    <a:ea typeface="Microsoft YaHei"/>
                    <a:cs typeface="Arial"/>
                  </a:rPr>
                  <a:t>Manufacturing Operations</a:t>
                </a:r>
              </a:p>
            </p:txBody>
          </p:sp>
        </p:grpSp>
      </p:grpSp>
      <p:grpSp>
        <p:nvGrpSpPr>
          <p:cNvPr id="55" name="Group 55"/>
          <p:cNvGrpSpPr/>
          <p:nvPr/>
        </p:nvGrpSpPr>
        <p:grpSpPr>
          <a:xfrm>
            <a:off x="3138535" y="5665015"/>
            <a:ext cx="5914930" cy="457200"/>
            <a:chOff x="3138535" y="5665015"/>
            <a:chExt cx="5914930" cy="457200"/>
          </a:xfrm>
        </p:grpSpPr>
        <p:sp>
          <p:nvSpPr>
            <p:cNvPr id="53" name="Freeform 53"/>
            <p:cNvSpPr/>
            <p:nvPr/>
          </p:nvSpPr>
          <p:spPr>
            <a:xfrm>
              <a:off x="3138535" y="5665015"/>
              <a:ext cx="5914930" cy="457200"/>
            </a:xfrm>
            <a:custGeom>
              <a:avLst/>
              <a:gdLst/>
              <a:ahLst/>
              <a:cxnLst/>
              <a:rect l="l" t="t" r="r" b="b"/>
              <a:pathLst>
                <a:path w="3619500" h="457200">
                  <a:moveTo>
                    <a:pt x="133350" y="0"/>
                  </a:moveTo>
                  <a:lnTo>
                    <a:pt x="3486150" y="0"/>
                  </a:lnTo>
                  <a:cubicBezTo>
                    <a:pt x="3559797" y="0"/>
                    <a:pt x="3619500" y="59703"/>
                    <a:pt x="3619500" y="133350"/>
                  </a:cubicBezTo>
                  <a:lnTo>
                    <a:pt x="3619500" y="323850"/>
                  </a:lnTo>
                  <a:cubicBezTo>
                    <a:pt x="3619500" y="397497"/>
                    <a:pt x="3559797" y="457200"/>
                    <a:pt x="3486150" y="457200"/>
                  </a:cubicBezTo>
                  <a:lnTo>
                    <a:pt x="133350" y="457200"/>
                  </a:lnTo>
                  <a:cubicBezTo>
                    <a:pt x="59703" y="457200"/>
                    <a:pt x="0" y="397497"/>
                    <a:pt x="0" y="323850"/>
                  </a:cubicBezTo>
                  <a:lnTo>
                    <a:pt x="0" y="133350"/>
                  </a:lnTo>
                  <a:cubicBezTo>
                    <a:pt x="0" y="59703"/>
                    <a:pt x="59703" y="0"/>
                    <a:pt x="133350" y="0"/>
                  </a:cubicBezTo>
                  <a:close/>
                </a:path>
              </a:pathLst>
            </a:custGeom>
            <a:solidFill>
              <a:srgbClr val="0E1D2E"/>
            </a:solidFill>
            <a:ln w="9525">
              <a:solidFill>
                <a:srgbClr val="294157"/>
              </a:solidFill>
            </a:ln>
          </p:spPr>
          <p:txBody>
            <a:bodyPr/>
            <a:lstStyle/>
            <a:p>
              <a:endParaRPr lang="en-US"/>
            </a:p>
          </p:txBody>
        </p:sp>
        <p:sp>
          <p:nvSpPr>
            <p:cNvPr id="54" name="TextBox 54"/>
            <p:cNvSpPr txBox="1"/>
            <p:nvPr/>
          </p:nvSpPr>
          <p:spPr>
            <a:xfrm>
              <a:off x="3308377" y="5761196"/>
              <a:ext cx="5575245" cy="292388"/>
            </a:xfrm>
            <a:prstGeom prst="rect">
              <a:avLst/>
            </a:prstGeom>
            <a:noFill/>
            <a:ln>
              <a:noFill/>
            </a:ln>
          </p:spPr>
          <p:txBody>
            <a:bodyPr wrap="none" lIns="0" tIns="0" rIns="0" bIns="0" anchor="t" anchorCtr="0">
              <a:spAutoFit/>
            </a:bodyPr>
            <a:lstStyle/>
            <a:p>
              <a:pPr algn="ctr"/>
              <a:r>
                <a:rPr lang="zh-CN" sz="1900" b="1" dirty="0">
                  <a:solidFill>
                    <a:srgbClr val="FFC000"/>
                  </a:solidFill>
                  <a:latin typeface="Arial"/>
                  <a:ea typeface="Microsoft YaHei"/>
                  <a:cs typeface="Arial"/>
                </a:rPr>
                <a:t>Less reporting time. Faster operating decisions.</a:t>
              </a:r>
            </a:p>
          </p:txBody>
        </p:sp>
      </p:grpSp>
      <p:grpSp>
        <p:nvGrpSpPr>
          <p:cNvPr id="59" name="Group 59"/>
          <p:cNvGrpSpPr/>
          <p:nvPr/>
        </p:nvGrpSpPr>
        <p:grpSpPr>
          <a:xfrm>
            <a:off x="520065" y="6419850"/>
            <a:ext cx="11151870" cy="347662"/>
            <a:chOff x="520065" y="6419850"/>
            <a:chExt cx="11151870" cy="347662"/>
          </a:xfrm>
        </p:grpSpPr>
        <p:sp>
          <p:nvSpPr>
            <p:cNvPr id="56" name="Line 56"/>
            <p:cNvSpPr/>
            <p:nvPr/>
          </p:nvSpPr>
          <p:spPr>
            <a:xfrm>
              <a:off x="533400" y="6419850"/>
              <a:ext cx="11125200" cy="9525"/>
            </a:xfrm>
            <a:custGeom>
              <a:avLst/>
              <a:gdLst/>
              <a:ahLst/>
              <a:cxnLst/>
              <a:rect l="l" t="t" r="r" b="b"/>
              <a:pathLst>
                <a:path w="11125200" h="9525">
                  <a:moveTo>
                    <a:pt x="0" y="0"/>
                  </a:moveTo>
                  <a:lnTo>
                    <a:pt x="11125200" y="0"/>
                  </a:lnTo>
                </a:path>
              </a:pathLst>
            </a:custGeom>
            <a:noFill/>
            <a:ln w="9525">
              <a:solidFill>
                <a:srgbClr val="294157">
                  <a:alpha val="75000"/>
                </a:srgbClr>
              </a:solidFill>
            </a:ln>
          </p:spPr>
          <p:txBody>
            <a:bodyPr/>
            <a:lstStyle/>
            <a:p>
              <a:endParaRPr lang="en-US"/>
            </a:p>
          </p:txBody>
        </p:sp>
        <p:sp>
          <p:nvSpPr>
            <p:cNvPr id="57" name="TextBox 57"/>
            <p:cNvSpPr txBox="1"/>
            <p:nvPr/>
          </p:nvSpPr>
          <p:spPr>
            <a:xfrm>
              <a:off x="520065" y="6554152"/>
              <a:ext cx="3576780" cy="213360"/>
            </a:xfrm>
            <a:prstGeom prst="rect">
              <a:avLst/>
            </a:prstGeom>
            <a:noFill/>
            <a:ln>
              <a:noFill/>
            </a:ln>
          </p:spPr>
          <p:txBody>
            <a:bodyPr wrap="none" lIns="0" tIns="0" rIns="0" bIns="0" anchor="t" anchorCtr="0">
              <a:spAutoFit/>
            </a:bodyPr>
            <a:lstStyle/>
            <a:p>
              <a:pPr algn="l"/>
              <a:r>
                <a:rPr lang="zh-CN" sz="1050" dirty="0">
                  <a:solidFill>
                    <a:srgbClr val="708195"/>
                  </a:solidFill>
                  <a:latin typeface="Arial"/>
                  <a:ea typeface="Microsoft YaHei"/>
                  <a:cs typeface="Arial"/>
                </a:rPr>
                <a:t>One platform. Three operational perspectives.</a:t>
              </a:r>
            </a:p>
          </p:txBody>
        </p:sp>
        <p:sp>
          <p:nvSpPr>
            <p:cNvPr id="58" name="TextBox 58"/>
            <p:cNvSpPr txBox="1"/>
            <p:nvPr/>
          </p:nvSpPr>
          <p:spPr>
            <a:xfrm>
              <a:off x="8739235" y="6554152"/>
              <a:ext cx="2932700" cy="213360"/>
            </a:xfrm>
            <a:prstGeom prst="rect">
              <a:avLst/>
            </a:prstGeom>
            <a:noFill/>
            <a:ln>
              <a:noFill/>
            </a:ln>
          </p:spPr>
          <p:txBody>
            <a:bodyPr wrap="none" lIns="0" tIns="0" rIns="0" bIns="0" anchor="t" anchorCtr="0">
              <a:spAutoFit/>
            </a:bodyPr>
            <a:lstStyle/>
            <a:p>
              <a:pPr algn="r"/>
              <a:r>
                <a:rPr lang="zh-CN" sz="1050" dirty="0">
                  <a:solidFill>
                    <a:srgbClr val="708195"/>
                  </a:solidFill>
                  <a:latin typeface="Arial"/>
                  <a:ea typeface="Microsoft YaHei"/>
                  <a:cs typeface="Arial"/>
                </a:rPr>
                <a:t>Production | Maintenance | Management</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400"/>
                                        <p:tgtEl>
                                          <p:spTgt spid="52"/>
                                        </p:tgtEl>
                                      </p:cBhvr>
                                    </p:animEffect>
                                  </p:childTnLst>
                                </p:cTn>
                              </p:par>
                            </p:childTnLst>
                          </p:cTn>
                        </p:par>
                        <p:par>
                          <p:cTn id="8" fill="hold">
                            <p:stCondLst>
                              <p:cond delay="900"/>
                            </p:stCondLst>
                            <p:childTnLst>
                              <p:par>
                                <p:cTn id="9" presetID="14" presetClass="entr" presetSubtype="10" fill="hold" nodeType="afterEffect">
                                  <p:stCondLst>
                                    <p:cond delay="0"/>
                                  </p:stCondLst>
                                  <p:childTnLst>
                                    <p:set>
                                      <p:cBhvr>
                                        <p:cTn id="10" dur="1" fill="hold">
                                          <p:stCondLst>
                                            <p:cond delay="0"/>
                                          </p:stCondLst>
                                        </p:cTn>
                                        <p:tgtEl>
                                          <p:spTgt spid="55"/>
                                        </p:tgtEl>
                                        <p:attrNameLst>
                                          <p:attrName>style.visibility</p:attrName>
                                        </p:attrNameLst>
                                      </p:cBhvr>
                                      <p:to>
                                        <p:strVal val="visible"/>
                                      </p:to>
                                    </p:set>
                                    <p:animEffect transition="in" filter="randombar(horizontal)">
                                      <p:cBhvr>
                                        <p:cTn id="11"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7111F"/>
          </a:solidFill>
          <a:ln>
            <a:noFill/>
          </a:ln>
        </p:spPr>
        <p:txBody>
          <a:bodyPr/>
          <a:lstStyle/>
          <a:p>
            <a:endParaRPr lang="en-US"/>
          </a:p>
        </p:txBody>
      </p:sp>
      <p:grpSp>
        <p:nvGrpSpPr>
          <p:cNvPr id="7" name="Group 7"/>
          <p:cNvGrpSpPr/>
          <p:nvPr/>
        </p:nvGrpSpPr>
        <p:grpSpPr>
          <a:xfrm>
            <a:off x="495300" y="390049"/>
            <a:ext cx="11175683" cy="848201"/>
            <a:chOff x="495300" y="390049"/>
            <a:chExt cx="11175683" cy="848201"/>
          </a:xfrm>
        </p:grpSpPr>
        <p:sp>
          <p:nvSpPr>
            <p:cNvPr id="3" name="TextBox 3"/>
            <p:cNvSpPr txBox="1"/>
            <p:nvPr/>
          </p:nvSpPr>
          <p:spPr>
            <a:xfrm>
              <a:off x="521018" y="390049"/>
              <a:ext cx="2641342" cy="198120"/>
            </a:xfrm>
            <a:prstGeom prst="rect">
              <a:avLst/>
            </a:prstGeom>
            <a:noFill/>
            <a:ln>
              <a:noFill/>
            </a:ln>
          </p:spPr>
          <p:txBody>
            <a:bodyPr wrap="none" lIns="0" tIns="0" rIns="0" bIns="0" anchor="t" anchorCtr="0">
              <a:spAutoFit/>
            </a:bodyPr>
            <a:lstStyle/>
            <a:p>
              <a:pPr algn="l"/>
              <a:r>
                <a:rPr lang="zh-CN" sz="975" b="1" dirty="0">
                  <a:solidFill>
                    <a:srgbClr val="708195"/>
                  </a:solidFill>
                  <a:latin typeface="Arial"/>
                  <a:ea typeface="Microsoft YaHei"/>
                  <a:cs typeface="Arial"/>
                </a:rPr>
                <a:t>DXFACTORY OPERATIONS INTELLIGENCE</a:t>
              </a:r>
            </a:p>
          </p:txBody>
        </p:sp>
        <p:sp>
          <p:nvSpPr>
            <p:cNvPr id="4" name="TextBox 4"/>
            <p:cNvSpPr txBox="1"/>
            <p:nvPr/>
          </p:nvSpPr>
          <p:spPr>
            <a:xfrm>
              <a:off x="11145330" y="390049"/>
              <a:ext cx="525653" cy="198120"/>
            </a:xfrm>
            <a:prstGeom prst="rect">
              <a:avLst/>
            </a:prstGeom>
            <a:noFill/>
            <a:ln>
              <a:noFill/>
            </a:ln>
          </p:spPr>
          <p:txBody>
            <a:bodyPr wrap="none" lIns="0" tIns="0" rIns="0" bIns="0" anchor="t" anchorCtr="0">
              <a:spAutoFit/>
            </a:bodyPr>
            <a:lstStyle/>
            <a:p>
              <a:pPr algn="r"/>
              <a:r>
                <a:rPr lang="zh-CN" sz="975" b="1" dirty="0">
                  <a:solidFill>
                    <a:srgbClr val="708195"/>
                  </a:solidFill>
                  <a:latin typeface="Arial"/>
                  <a:ea typeface="Microsoft YaHei"/>
                  <a:cs typeface="Arial"/>
                </a:rPr>
                <a:t>05 / 06</a:t>
              </a:r>
            </a:p>
          </p:txBody>
        </p:sp>
        <p:sp>
          <p:nvSpPr>
            <p:cNvPr id="5" name="TextBox 5"/>
            <p:cNvSpPr txBox="1"/>
            <p:nvPr/>
          </p:nvSpPr>
          <p:spPr>
            <a:xfrm>
              <a:off x="495300" y="628650"/>
              <a:ext cx="5159835" cy="609600"/>
            </a:xfrm>
            <a:prstGeom prst="rect">
              <a:avLst/>
            </a:prstGeom>
            <a:noFill/>
            <a:ln>
              <a:noFill/>
            </a:ln>
          </p:spPr>
          <p:txBody>
            <a:bodyPr wrap="none" lIns="0" tIns="0" rIns="0" bIns="0" anchor="t" anchorCtr="0">
              <a:spAutoFit/>
            </a:bodyPr>
            <a:lstStyle/>
            <a:p>
              <a:pPr algn="l"/>
              <a:r>
                <a:rPr lang="zh-CN" sz="3000" b="1" dirty="0">
                  <a:solidFill>
                    <a:srgbClr val="F4F8FF"/>
                  </a:solidFill>
                  <a:latin typeface="Arial"/>
                  <a:ea typeface="Microsoft YaHei"/>
                  <a:cs typeface="Arial"/>
                </a:rPr>
                <a:t>From Data To Decisions</a:t>
              </a:r>
            </a:p>
          </p:txBody>
        </p:sp>
        <p:sp>
          <p:nvSpPr>
            <p:cNvPr id="6" name="Line 6"/>
            <p:cNvSpPr/>
            <p:nvPr/>
          </p:nvSpPr>
          <p:spPr>
            <a:xfrm>
              <a:off x="533400" y="1123950"/>
              <a:ext cx="11125200" cy="9525"/>
            </a:xfrm>
            <a:custGeom>
              <a:avLst/>
              <a:gdLst/>
              <a:ahLst/>
              <a:cxnLst/>
              <a:rect l="l" t="t" r="r" b="b"/>
              <a:pathLst>
                <a:path w="11125200" h="9525">
                  <a:moveTo>
                    <a:pt x="0" y="0"/>
                  </a:moveTo>
                  <a:lnTo>
                    <a:pt x="11125200" y="0"/>
                  </a:lnTo>
                </a:path>
              </a:pathLst>
            </a:custGeom>
            <a:noFill/>
            <a:ln w="9525">
              <a:solidFill>
                <a:srgbClr val="294157"/>
              </a:solidFill>
            </a:ln>
          </p:spPr>
          <p:txBody>
            <a:bodyPr/>
            <a:lstStyle/>
            <a:p>
              <a:endParaRPr lang="en-US"/>
            </a:p>
          </p:txBody>
        </p:sp>
      </p:grpSp>
      <p:sp>
        <p:nvSpPr>
          <p:cNvPr id="8" name="Line 8"/>
          <p:cNvSpPr/>
          <p:nvPr/>
        </p:nvSpPr>
        <p:spPr>
          <a:xfrm>
            <a:off x="3813496" y="2095500"/>
            <a:ext cx="590550" cy="1104900"/>
          </a:xfrm>
          <a:custGeom>
            <a:avLst/>
            <a:gdLst/>
            <a:ahLst/>
            <a:cxnLst/>
            <a:rect l="l" t="t" r="r" b="b"/>
            <a:pathLst>
              <a:path w="590550" h="1104900">
                <a:moveTo>
                  <a:pt x="0" y="0"/>
                </a:moveTo>
                <a:lnTo>
                  <a:pt x="590550" y="1104900"/>
                </a:lnTo>
              </a:path>
            </a:pathLst>
          </a:custGeom>
          <a:noFill/>
          <a:ln w="28575">
            <a:solidFill>
              <a:srgbClr val="2EA7FF"/>
            </a:solidFill>
          </a:ln>
        </p:spPr>
        <p:txBody>
          <a:bodyPr/>
          <a:lstStyle/>
          <a:p>
            <a:endParaRPr lang="en-US"/>
          </a:p>
        </p:txBody>
      </p:sp>
      <p:sp>
        <p:nvSpPr>
          <p:cNvPr id="9" name="Line 9"/>
          <p:cNvSpPr/>
          <p:nvPr/>
        </p:nvSpPr>
        <p:spPr>
          <a:xfrm>
            <a:off x="3813496" y="3200400"/>
            <a:ext cx="590550" cy="9525"/>
          </a:xfrm>
          <a:custGeom>
            <a:avLst/>
            <a:gdLst/>
            <a:ahLst/>
            <a:cxnLst/>
            <a:rect l="l" t="t" r="r" b="b"/>
            <a:pathLst>
              <a:path w="590550" h="9525">
                <a:moveTo>
                  <a:pt x="0" y="0"/>
                </a:moveTo>
                <a:lnTo>
                  <a:pt x="590550" y="0"/>
                </a:lnTo>
              </a:path>
            </a:pathLst>
          </a:custGeom>
          <a:noFill/>
          <a:ln w="28575">
            <a:solidFill>
              <a:srgbClr val="2EA7FF"/>
            </a:solidFill>
          </a:ln>
        </p:spPr>
        <p:txBody>
          <a:bodyPr/>
          <a:lstStyle/>
          <a:p>
            <a:endParaRPr lang="en-US"/>
          </a:p>
        </p:txBody>
      </p:sp>
      <p:sp>
        <p:nvSpPr>
          <p:cNvPr id="10" name="Line 10"/>
          <p:cNvSpPr/>
          <p:nvPr/>
        </p:nvSpPr>
        <p:spPr>
          <a:xfrm>
            <a:off x="3813496" y="3200400"/>
            <a:ext cx="590550" cy="1104900"/>
          </a:xfrm>
          <a:custGeom>
            <a:avLst/>
            <a:gdLst/>
            <a:ahLst/>
            <a:cxnLst/>
            <a:rect l="l" t="t" r="r" b="b"/>
            <a:pathLst>
              <a:path w="590550" h="1104900">
                <a:moveTo>
                  <a:pt x="0" y="1104900"/>
                </a:moveTo>
                <a:lnTo>
                  <a:pt x="590550" y="0"/>
                </a:lnTo>
              </a:path>
            </a:pathLst>
          </a:custGeom>
          <a:noFill/>
          <a:ln w="28575">
            <a:solidFill>
              <a:srgbClr val="2EA7FF"/>
            </a:solidFill>
          </a:ln>
        </p:spPr>
        <p:txBody>
          <a:bodyPr/>
          <a:lstStyle/>
          <a:p>
            <a:endParaRPr lang="en-US"/>
          </a:p>
        </p:txBody>
      </p:sp>
      <p:sp>
        <p:nvSpPr>
          <p:cNvPr id="11" name="Line 11"/>
          <p:cNvSpPr/>
          <p:nvPr/>
        </p:nvSpPr>
        <p:spPr>
          <a:xfrm>
            <a:off x="7369809" y="2095500"/>
            <a:ext cx="533400" cy="1104900"/>
          </a:xfrm>
          <a:custGeom>
            <a:avLst/>
            <a:gdLst/>
            <a:ahLst/>
            <a:cxnLst/>
            <a:rect l="l" t="t" r="r" b="b"/>
            <a:pathLst>
              <a:path w="533400" h="1104900">
                <a:moveTo>
                  <a:pt x="0" y="1104900"/>
                </a:moveTo>
                <a:lnTo>
                  <a:pt x="533400" y="0"/>
                </a:lnTo>
              </a:path>
            </a:pathLst>
          </a:custGeom>
          <a:noFill/>
          <a:ln w="28575">
            <a:solidFill>
              <a:srgbClr val="00D1FF"/>
            </a:solidFill>
          </a:ln>
        </p:spPr>
        <p:txBody>
          <a:bodyPr/>
          <a:lstStyle/>
          <a:p>
            <a:endParaRPr lang="en-US"/>
          </a:p>
        </p:txBody>
      </p:sp>
      <p:sp>
        <p:nvSpPr>
          <p:cNvPr id="12" name="Line 12"/>
          <p:cNvSpPr/>
          <p:nvPr/>
        </p:nvSpPr>
        <p:spPr>
          <a:xfrm>
            <a:off x="7369809" y="3200400"/>
            <a:ext cx="533400" cy="9525"/>
          </a:xfrm>
          <a:custGeom>
            <a:avLst/>
            <a:gdLst/>
            <a:ahLst/>
            <a:cxnLst/>
            <a:rect l="l" t="t" r="r" b="b"/>
            <a:pathLst>
              <a:path w="533400" h="9525">
                <a:moveTo>
                  <a:pt x="0" y="0"/>
                </a:moveTo>
                <a:lnTo>
                  <a:pt x="533400" y="0"/>
                </a:lnTo>
              </a:path>
            </a:pathLst>
          </a:custGeom>
          <a:noFill/>
          <a:ln w="28575">
            <a:solidFill>
              <a:srgbClr val="00D1FF"/>
            </a:solidFill>
          </a:ln>
        </p:spPr>
        <p:txBody>
          <a:bodyPr/>
          <a:lstStyle/>
          <a:p>
            <a:endParaRPr lang="en-US"/>
          </a:p>
        </p:txBody>
      </p:sp>
      <p:sp>
        <p:nvSpPr>
          <p:cNvPr id="13" name="Line 13"/>
          <p:cNvSpPr/>
          <p:nvPr/>
        </p:nvSpPr>
        <p:spPr>
          <a:xfrm>
            <a:off x="7369809" y="3200400"/>
            <a:ext cx="533400" cy="1104900"/>
          </a:xfrm>
          <a:custGeom>
            <a:avLst/>
            <a:gdLst/>
            <a:ahLst/>
            <a:cxnLst/>
            <a:rect l="l" t="t" r="r" b="b"/>
            <a:pathLst>
              <a:path w="533400" h="1104900">
                <a:moveTo>
                  <a:pt x="0" y="0"/>
                </a:moveTo>
                <a:lnTo>
                  <a:pt x="533400" y="1104900"/>
                </a:lnTo>
              </a:path>
            </a:pathLst>
          </a:custGeom>
          <a:noFill/>
          <a:ln w="28575">
            <a:solidFill>
              <a:srgbClr val="00D1FF"/>
            </a:solidFill>
          </a:ln>
        </p:spPr>
        <p:txBody>
          <a:bodyPr/>
          <a:lstStyle/>
          <a:p>
            <a:endParaRPr lang="en-US"/>
          </a:p>
        </p:txBody>
      </p:sp>
      <p:sp>
        <p:nvSpPr>
          <p:cNvPr id="16" name="Freeform 16"/>
          <p:cNvSpPr/>
          <p:nvPr/>
        </p:nvSpPr>
        <p:spPr>
          <a:xfrm>
            <a:off x="1445259" y="1743075"/>
            <a:ext cx="2368550" cy="704850"/>
          </a:xfrm>
          <a:custGeom>
            <a:avLst/>
            <a:gdLst/>
            <a:ahLst/>
            <a:cxnLst/>
            <a:rect l="l" t="t" r="r" b="b"/>
            <a:pathLst>
              <a:path w="2667000" h="704850">
                <a:moveTo>
                  <a:pt x="133350" y="0"/>
                </a:moveTo>
                <a:lnTo>
                  <a:pt x="2533650" y="0"/>
                </a:lnTo>
                <a:cubicBezTo>
                  <a:pt x="2607297" y="0"/>
                  <a:pt x="2667000" y="59703"/>
                  <a:pt x="2667000" y="133350"/>
                </a:cubicBezTo>
                <a:lnTo>
                  <a:pt x="2667000" y="571500"/>
                </a:lnTo>
                <a:cubicBezTo>
                  <a:pt x="2667000" y="645147"/>
                  <a:pt x="2607297" y="704850"/>
                  <a:pt x="2533650" y="704850"/>
                </a:cubicBezTo>
                <a:lnTo>
                  <a:pt x="133350" y="704850"/>
                </a:lnTo>
                <a:cubicBezTo>
                  <a:pt x="59703" y="704850"/>
                  <a:pt x="0" y="645147"/>
                  <a:pt x="0" y="571500"/>
                </a:cubicBezTo>
                <a:lnTo>
                  <a:pt x="0" y="133350"/>
                </a:lnTo>
                <a:cubicBezTo>
                  <a:pt x="0" y="59703"/>
                  <a:pt x="59703" y="0"/>
                  <a:pt x="133350" y="0"/>
                </a:cubicBezTo>
                <a:close/>
              </a:path>
            </a:pathLst>
          </a:custGeom>
          <a:solidFill>
            <a:srgbClr val="12263A"/>
          </a:solidFill>
          <a:ln w="9525">
            <a:solidFill>
              <a:srgbClr val="294157"/>
            </a:solidFill>
          </a:ln>
        </p:spPr>
        <p:txBody>
          <a:bodyPr/>
          <a:lstStyle/>
          <a:p>
            <a:endParaRPr lang="en-US"/>
          </a:p>
        </p:txBody>
      </p:sp>
      <p:grpSp>
        <p:nvGrpSpPr>
          <p:cNvPr id="20" name="Group 20"/>
          <p:cNvGrpSpPr/>
          <p:nvPr/>
        </p:nvGrpSpPr>
        <p:grpSpPr>
          <a:xfrm>
            <a:off x="1667509" y="1971675"/>
            <a:ext cx="203200" cy="228600"/>
            <a:chOff x="889000" y="1943100"/>
            <a:chExt cx="203200" cy="228600"/>
          </a:xfrm>
        </p:grpSpPr>
        <p:sp>
          <p:nvSpPr>
            <p:cNvPr id="17" name="Freeform 17"/>
            <p:cNvSpPr/>
            <p:nvPr/>
          </p:nvSpPr>
          <p:spPr>
            <a:xfrm>
              <a:off x="889000" y="1943100"/>
              <a:ext cx="203200" cy="76200"/>
            </a:xfrm>
            <a:custGeom>
              <a:avLst/>
              <a:gdLst/>
              <a:ahLst/>
              <a:cxnLst/>
              <a:rect l="l" t="t" r="r" b="b"/>
              <a:pathLst>
                <a:path w="203200" h="76200">
                  <a:moveTo>
                    <a:pt x="0" y="38100"/>
                  </a:moveTo>
                  <a:cubicBezTo>
                    <a:pt x="0" y="59142"/>
                    <a:pt x="45488" y="76200"/>
                    <a:pt x="101600" y="76200"/>
                  </a:cubicBezTo>
                  <a:cubicBezTo>
                    <a:pt x="157712" y="76200"/>
                    <a:pt x="203200" y="59142"/>
                    <a:pt x="203200" y="38100"/>
                  </a:cubicBezTo>
                  <a:cubicBezTo>
                    <a:pt x="203200" y="17058"/>
                    <a:pt x="157712" y="0"/>
                    <a:pt x="101600" y="0"/>
                  </a:cubicBezTo>
                  <a:cubicBezTo>
                    <a:pt x="45488" y="0"/>
                    <a:pt x="0" y="17058"/>
                    <a:pt x="0" y="38100"/>
                  </a:cubicBezTo>
                </a:path>
              </a:pathLst>
            </a:custGeom>
            <a:noFill/>
            <a:ln w="19050">
              <a:solidFill>
                <a:srgbClr val="2EA7FF"/>
              </a:solidFill>
            </a:ln>
          </p:spPr>
          <p:txBody>
            <a:bodyPr/>
            <a:lstStyle/>
            <a:p>
              <a:endParaRPr lang="en-US"/>
            </a:p>
          </p:txBody>
        </p:sp>
        <p:sp>
          <p:nvSpPr>
            <p:cNvPr id="18" name="Freeform 18"/>
            <p:cNvSpPr/>
            <p:nvPr/>
          </p:nvSpPr>
          <p:spPr>
            <a:xfrm>
              <a:off x="889000" y="1981200"/>
              <a:ext cx="203200" cy="114300"/>
            </a:xfrm>
            <a:custGeom>
              <a:avLst/>
              <a:gdLst/>
              <a:ahLst/>
              <a:cxnLst/>
              <a:rect l="l" t="t" r="r" b="b"/>
              <a:pathLst>
                <a:path w="203200" h="114300">
                  <a:moveTo>
                    <a:pt x="0" y="0"/>
                  </a:moveTo>
                  <a:lnTo>
                    <a:pt x="0" y="76200"/>
                  </a:lnTo>
                  <a:cubicBezTo>
                    <a:pt x="0" y="97242"/>
                    <a:pt x="45488" y="114300"/>
                    <a:pt x="101600" y="114300"/>
                  </a:cubicBezTo>
                  <a:cubicBezTo>
                    <a:pt x="157712" y="114300"/>
                    <a:pt x="203200" y="97242"/>
                    <a:pt x="203200" y="76200"/>
                  </a:cubicBezTo>
                  <a:lnTo>
                    <a:pt x="203200" y="0"/>
                  </a:lnTo>
                </a:path>
              </a:pathLst>
            </a:custGeom>
            <a:noFill/>
            <a:ln w="19050">
              <a:solidFill>
                <a:srgbClr val="2EA7FF"/>
              </a:solidFill>
            </a:ln>
          </p:spPr>
          <p:txBody>
            <a:bodyPr/>
            <a:lstStyle/>
            <a:p>
              <a:endParaRPr lang="en-US"/>
            </a:p>
          </p:txBody>
        </p:sp>
        <p:sp>
          <p:nvSpPr>
            <p:cNvPr id="19" name="Freeform 19"/>
            <p:cNvSpPr/>
            <p:nvPr/>
          </p:nvSpPr>
          <p:spPr>
            <a:xfrm>
              <a:off x="889000" y="2057400"/>
              <a:ext cx="203200" cy="114300"/>
            </a:xfrm>
            <a:custGeom>
              <a:avLst/>
              <a:gdLst/>
              <a:ahLst/>
              <a:cxnLst/>
              <a:rect l="l" t="t" r="r" b="b"/>
              <a:pathLst>
                <a:path w="203200" h="114300">
                  <a:moveTo>
                    <a:pt x="0" y="0"/>
                  </a:moveTo>
                  <a:lnTo>
                    <a:pt x="0" y="76200"/>
                  </a:lnTo>
                  <a:cubicBezTo>
                    <a:pt x="0" y="97242"/>
                    <a:pt x="45488" y="114300"/>
                    <a:pt x="101600" y="114300"/>
                  </a:cubicBezTo>
                  <a:cubicBezTo>
                    <a:pt x="157712" y="114300"/>
                    <a:pt x="203200" y="97242"/>
                    <a:pt x="203200" y="76200"/>
                  </a:cubicBezTo>
                  <a:lnTo>
                    <a:pt x="203200" y="0"/>
                  </a:lnTo>
                </a:path>
              </a:pathLst>
            </a:custGeom>
            <a:noFill/>
            <a:ln w="19050">
              <a:solidFill>
                <a:srgbClr val="2EA7FF"/>
              </a:solidFill>
            </a:ln>
          </p:spPr>
          <p:txBody>
            <a:bodyPr/>
            <a:lstStyle/>
            <a:p>
              <a:endParaRPr lang="en-US"/>
            </a:p>
          </p:txBody>
        </p:sp>
      </p:grpSp>
      <p:sp>
        <p:nvSpPr>
          <p:cNvPr id="21" name="TextBox 21"/>
          <p:cNvSpPr txBox="1"/>
          <p:nvPr/>
        </p:nvSpPr>
        <p:spPr>
          <a:xfrm>
            <a:off x="2017711" y="2036921"/>
            <a:ext cx="421219" cy="289560"/>
          </a:xfrm>
          <a:prstGeom prst="rect">
            <a:avLst/>
          </a:prstGeom>
          <a:noFill/>
          <a:ln>
            <a:noFill/>
          </a:ln>
        </p:spPr>
        <p:txBody>
          <a:bodyPr wrap="none" lIns="0" tIns="0" rIns="0" bIns="0" anchor="t" anchorCtr="0">
            <a:spAutoFit/>
          </a:bodyPr>
          <a:lstStyle/>
          <a:p>
            <a:pPr algn="l"/>
            <a:r>
              <a:rPr lang="zh-CN" sz="1425" dirty="0">
                <a:solidFill>
                  <a:srgbClr val="F4F8FF"/>
                </a:solidFill>
                <a:latin typeface="Arial"/>
                <a:ea typeface="Microsoft YaHei"/>
                <a:cs typeface="Arial"/>
              </a:rPr>
              <a:t>MES</a:t>
            </a:r>
          </a:p>
        </p:txBody>
      </p:sp>
      <p:sp>
        <p:nvSpPr>
          <p:cNvPr id="22" name="Freeform 22"/>
          <p:cNvSpPr/>
          <p:nvPr/>
        </p:nvSpPr>
        <p:spPr>
          <a:xfrm>
            <a:off x="1445259" y="2847975"/>
            <a:ext cx="2368550" cy="704850"/>
          </a:xfrm>
          <a:custGeom>
            <a:avLst/>
            <a:gdLst/>
            <a:ahLst/>
            <a:cxnLst/>
            <a:rect l="l" t="t" r="r" b="b"/>
            <a:pathLst>
              <a:path w="2667000" h="704850">
                <a:moveTo>
                  <a:pt x="133350" y="0"/>
                </a:moveTo>
                <a:lnTo>
                  <a:pt x="2533650" y="0"/>
                </a:lnTo>
                <a:cubicBezTo>
                  <a:pt x="2607297" y="0"/>
                  <a:pt x="2667000" y="59703"/>
                  <a:pt x="2667000" y="133350"/>
                </a:cubicBezTo>
                <a:lnTo>
                  <a:pt x="2667000" y="571500"/>
                </a:lnTo>
                <a:cubicBezTo>
                  <a:pt x="2667000" y="645147"/>
                  <a:pt x="2607297" y="704850"/>
                  <a:pt x="2533650" y="704850"/>
                </a:cubicBezTo>
                <a:lnTo>
                  <a:pt x="133350" y="704850"/>
                </a:lnTo>
                <a:cubicBezTo>
                  <a:pt x="59703" y="704850"/>
                  <a:pt x="0" y="645147"/>
                  <a:pt x="0" y="571500"/>
                </a:cubicBezTo>
                <a:lnTo>
                  <a:pt x="0" y="133350"/>
                </a:lnTo>
                <a:cubicBezTo>
                  <a:pt x="0" y="59703"/>
                  <a:pt x="59703" y="0"/>
                  <a:pt x="133350" y="0"/>
                </a:cubicBezTo>
                <a:close/>
              </a:path>
            </a:pathLst>
          </a:custGeom>
          <a:solidFill>
            <a:srgbClr val="12263A"/>
          </a:solidFill>
          <a:ln w="9525">
            <a:solidFill>
              <a:srgbClr val="294157"/>
            </a:solidFill>
          </a:ln>
        </p:spPr>
        <p:txBody>
          <a:bodyPr/>
          <a:lstStyle/>
          <a:p>
            <a:endParaRPr lang="en-US"/>
          </a:p>
        </p:txBody>
      </p:sp>
      <p:grpSp>
        <p:nvGrpSpPr>
          <p:cNvPr id="26" name="Group 26"/>
          <p:cNvGrpSpPr/>
          <p:nvPr/>
        </p:nvGrpSpPr>
        <p:grpSpPr>
          <a:xfrm>
            <a:off x="1667509" y="3076575"/>
            <a:ext cx="203200" cy="228600"/>
            <a:chOff x="889000" y="3048000"/>
            <a:chExt cx="203200" cy="228600"/>
          </a:xfrm>
        </p:grpSpPr>
        <p:sp>
          <p:nvSpPr>
            <p:cNvPr id="23" name="Freeform 23"/>
            <p:cNvSpPr/>
            <p:nvPr/>
          </p:nvSpPr>
          <p:spPr>
            <a:xfrm>
              <a:off x="889000" y="3048000"/>
              <a:ext cx="203200" cy="76200"/>
            </a:xfrm>
            <a:custGeom>
              <a:avLst/>
              <a:gdLst/>
              <a:ahLst/>
              <a:cxnLst/>
              <a:rect l="l" t="t" r="r" b="b"/>
              <a:pathLst>
                <a:path w="203200" h="76200">
                  <a:moveTo>
                    <a:pt x="0" y="38100"/>
                  </a:moveTo>
                  <a:cubicBezTo>
                    <a:pt x="0" y="59142"/>
                    <a:pt x="45488" y="76200"/>
                    <a:pt x="101600" y="76200"/>
                  </a:cubicBezTo>
                  <a:cubicBezTo>
                    <a:pt x="157712" y="76200"/>
                    <a:pt x="203200" y="59142"/>
                    <a:pt x="203200" y="38100"/>
                  </a:cubicBezTo>
                  <a:cubicBezTo>
                    <a:pt x="203200" y="17058"/>
                    <a:pt x="157712" y="0"/>
                    <a:pt x="101600" y="0"/>
                  </a:cubicBezTo>
                  <a:cubicBezTo>
                    <a:pt x="45488" y="0"/>
                    <a:pt x="0" y="17058"/>
                    <a:pt x="0" y="38100"/>
                  </a:cubicBezTo>
                </a:path>
              </a:pathLst>
            </a:custGeom>
            <a:noFill/>
            <a:ln w="19050">
              <a:solidFill>
                <a:srgbClr val="2EA7FF"/>
              </a:solidFill>
            </a:ln>
          </p:spPr>
          <p:txBody>
            <a:bodyPr/>
            <a:lstStyle/>
            <a:p>
              <a:endParaRPr lang="en-US"/>
            </a:p>
          </p:txBody>
        </p:sp>
        <p:sp>
          <p:nvSpPr>
            <p:cNvPr id="24" name="Freeform 24"/>
            <p:cNvSpPr/>
            <p:nvPr/>
          </p:nvSpPr>
          <p:spPr>
            <a:xfrm>
              <a:off x="889000" y="3086100"/>
              <a:ext cx="203200" cy="114300"/>
            </a:xfrm>
            <a:custGeom>
              <a:avLst/>
              <a:gdLst/>
              <a:ahLst/>
              <a:cxnLst/>
              <a:rect l="l" t="t" r="r" b="b"/>
              <a:pathLst>
                <a:path w="203200" h="114300">
                  <a:moveTo>
                    <a:pt x="0" y="0"/>
                  </a:moveTo>
                  <a:lnTo>
                    <a:pt x="0" y="76200"/>
                  </a:lnTo>
                  <a:cubicBezTo>
                    <a:pt x="0" y="97242"/>
                    <a:pt x="45488" y="114300"/>
                    <a:pt x="101600" y="114300"/>
                  </a:cubicBezTo>
                  <a:cubicBezTo>
                    <a:pt x="157712" y="114300"/>
                    <a:pt x="203200" y="97242"/>
                    <a:pt x="203200" y="76200"/>
                  </a:cubicBezTo>
                  <a:lnTo>
                    <a:pt x="203200" y="0"/>
                  </a:lnTo>
                </a:path>
              </a:pathLst>
            </a:custGeom>
            <a:noFill/>
            <a:ln w="19050">
              <a:solidFill>
                <a:srgbClr val="2EA7FF"/>
              </a:solidFill>
            </a:ln>
          </p:spPr>
          <p:txBody>
            <a:bodyPr/>
            <a:lstStyle/>
            <a:p>
              <a:endParaRPr lang="en-US"/>
            </a:p>
          </p:txBody>
        </p:sp>
        <p:sp>
          <p:nvSpPr>
            <p:cNvPr id="25" name="Freeform 25"/>
            <p:cNvSpPr/>
            <p:nvPr/>
          </p:nvSpPr>
          <p:spPr>
            <a:xfrm>
              <a:off x="889000" y="3162300"/>
              <a:ext cx="203200" cy="114300"/>
            </a:xfrm>
            <a:custGeom>
              <a:avLst/>
              <a:gdLst/>
              <a:ahLst/>
              <a:cxnLst/>
              <a:rect l="l" t="t" r="r" b="b"/>
              <a:pathLst>
                <a:path w="203200" h="114300">
                  <a:moveTo>
                    <a:pt x="0" y="0"/>
                  </a:moveTo>
                  <a:lnTo>
                    <a:pt x="0" y="76200"/>
                  </a:lnTo>
                  <a:cubicBezTo>
                    <a:pt x="0" y="97242"/>
                    <a:pt x="45488" y="114300"/>
                    <a:pt x="101600" y="114300"/>
                  </a:cubicBezTo>
                  <a:cubicBezTo>
                    <a:pt x="157712" y="114300"/>
                    <a:pt x="203200" y="97242"/>
                    <a:pt x="203200" y="76200"/>
                  </a:cubicBezTo>
                  <a:lnTo>
                    <a:pt x="203200" y="0"/>
                  </a:lnTo>
                </a:path>
              </a:pathLst>
            </a:custGeom>
            <a:noFill/>
            <a:ln w="19050">
              <a:solidFill>
                <a:srgbClr val="2EA7FF"/>
              </a:solidFill>
            </a:ln>
          </p:spPr>
          <p:txBody>
            <a:bodyPr/>
            <a:lstStyle/>
            <a:p>
              <a:endParaRPr lang="en-US"/>
            </a:p>
          </p:txBody>
        </p:sp>
      </p:grpSp>
      <p:sp>
        <p:nvSpPr>
          <p:cNvPr id="27" name="TextBox 27"/>
          <p:cNvSpPr txBox="1"/>
          <p:nvPr/>
        </p:nvSpPr>
        <p:spPr>
          <a:xfrm>
            <a:off x="2017711" y="3141821"/>
            <a:ext cx="577310" cy="289560"/>
          </a:xfrm>
          <a:prstGeom prst="rect">
            <a:avLst/>
          </a:prstGeom>
          <a:noFill/>
          <a:ln>
            <a:noFill/>
          </a:ln>
        </p:spPr>
        <p:txBody>
          <a:bodyPr wrap="none" lIns="0" tIns="0" rIns="0" bIns="0" anchor="t" anchorCtr="0">
            <a:spAutoFit/>
          </a:bodyPr>
          <a:lstStyle/>
          <a:p>
            <a:pPr algn="l"/>
            <a:r>
              <a:rPr lang="zh-CN" sz="1425" dirty="0">
                <a:solidFill>
                  <a:srgbClr val="F4F8FF"/>
                </a:solidFill>
                <a:latin typeface="Arial"/>
                <a:ea typeface="Microsoft YaHei"/>
                <a:cs typeface="Arial"/>
              </a:rPr>
              <a:t>CMMS</a:t>
            </a:r>
          </a:p>
        </p:txBody>
      </p:sp>
      <p:sp>
        <p:nvSpPr>
          <p:cNvPr id="28" name="Freeform 28"/>
          <p:cNvSpPr/>
          <p:nvPr/>
        </p:nvSpPr>
        <p:spPr>
          <a:xfrm>
            <a:off x="1445259" y="3952875"/>
            <a:ext cx="2368550" cy="704850"/>
          </a:xfrm>
          <a:custGeom>
            <a:avLst/>
            <a:gdLst/>
            <a:ahLst/>
            <a:cxnLst/>
            <a:rect l="l" t="t" r="r" b="b"/>
            <a:pathLst>
              <a:path w="2667000" h="704850">
                <a:moveTo>
                  <a:pt x="133350" y="0"/>
                </a:moveTo>
                <a:lnTo>
                  <a:pt x="2533650" y="0"/>
                </a:lnTo>
                <a:cubicBezTo>
                  <a:pt x="2607297" y="0"/>
                  <a:pt x="2667000" y="59703"/>
                  <a:pt x="2667000" y="133350"/>
                </a:cubicBezTo>
                <a:lnTo>
                  <a:pt x="2667000" y="571500"/>
                </a:lnTo>
                <a:cubicBezTo>
                  <a:pt x="2667000" y="645147"/>
                  <a:pt x="2607297" y="704850"/>
                  <a:pt x="2533650" y="704850"/>
                </a:cubicBezTo>
                <a:lnTo>
                  <a:pt x="133350" y="704850"/>
                </a:lnTo>
                <a:cubicBezTo>
                  <a:pt x="59703" y="704850"/>
                  <a:pt x="0" y="645147"/>
                  <a:pt x="0" y="571500"/>
                </a:cubicBezTo>
                <a:lnTo>
                  <a:pt x="0" y="133350"/>
                </a:lnTo>
                <a:cubicBezTo>
                  <a:pt x="0" y="59703"/>
                  <a:pt x="59703" y="0"/>
                  <a:pt x="133350" y="0"/>
                </a:cubicBezTo>
                <a:close/>
              </a:path>
            </a:pathLst>
          </a:custGeom>
          <a:solidFill>
            <a:srgbClr val="12263A"/>
          </a:solidFill>
          <a:ln w="9525">
            <a:solidFill>
              <a:srgbClr val="294157"/>
            </a:solidFill>
          </a:ln>
        </p:spPr>
        <p:txBody>
          <a:bodyPr/>
          <a:lstStyle/>
          <a:p>
            <a:endParaRPr lang="en-US"/>
          </a:p>
        </p:txBody>
      </p:sp>
      <p:grpSp>
        <p:nvGrpSpPr>
          <p:cNvPr id="31" name="Group 31"/>
          <p:cNvGrpSpPr/>
          <p:nvPr/>
        </p:nvGrpSpPr>
        <p:grpSpPr>
          <a:xfrm>
            <a:off x="1649234" y="4175900"/>
            <a:ext cx="239751" cy="239751"/>
            <a:chOff x="870725" y="4147325"/>
            <a:chExt cx="239751" cy="239751"/>
          </a:xfrm>
        </p:grpSpPr>
        <p:sp>
          <p:nvSpPr>
            <p:cNvPr id="29" name="Freeform 29"/>
            <p:cNvSpPr/>
            <p:nvPr/>
          </p:nvSpPr>
          <p:spPr>
            <a:xfrm>
              <a:off x="870725" y="4147325"/>
              <a:ext cx="239751" cy="239751"/>
            </a:xfrm>
            <a:custGeom>
              <a:avLst/>
              <a:gdLst/>
              <a:ahLst/>
              <a:cxnLst/>
              <a:rect l="l" t="t" r="r" b="b"/>
              <a:pathLst>
                <a:path w="239751" h="239751">
                  <a:moveTo>
                    <a:pt x="98603" y="22301"/>
                  </a:moveTo>
                  <a:cubicBezTo>
                    <a:pt x="104013" y="0"/>
                    <a:pt x="135738" y="0"/>
                    <a:pt x="141148" y="22301"/>
                  </a:cubicBezTo>
                  <a:cubicBezTo>
                    <a:pt x="142794" y="29096"/>
                    <a:pt x="147587" y="34697"/>
                    <a:pt x="154047" y="37373"/>
                  </a:cubicBezTo>
                  <a:cubicBezTo>
                    <a:pt x="160506" y="40049"/>
                    <a:pt x="167855" y="39479"/>
                    <a:pt x="173825" y="35839"/>
                  </a:cubicBezTo>
                  <a:cubicBezTo>
                    <a:pt x="193421" y="23901"/>
                    <a:pt x="215862" y="46330"/>
                    <a:pt x="203924" y="65938"/>
                  </a:cubicBezTo>
                  <a:cubicBezTo>
                    <a:pt x="200289" y="71906"/>
                    <a:pt x="199721" y="79249"/>
                    <a:pt x="202394" y="85704"/>
                  </a:cubicBezTo>
                  <a:cubicBezTo>
                    <a:pt x="205067" y="92160"/>
                    <a:pt x="210660" y="96952"/>
                    <a:pt x="217449" y="98603"/>
                  </a:cubicBezTo>
                  <a:cubicBezTo>
                    <a:pt x="239751" y="104013"/>
                    <a:pt x="239751" y="135738"/>
                    <a:pt x="217449" y="141148"/>
                  </a:cubicBezTo>
                  <a:cubicBezTo>
                    <a:pt x="210654" y="142794"/>
                    <a:pt x="205054" y="147587"/>
                    <a:pt x="202378" y="154047"/>
                  </a:cubicBezTo>
                  <a:cubicBezTo>
                    <a:pt x="199702" y="160506"/>
                    <a:pt x="200271" y="167855"/>
                    <a:pt x="203911" y="173825"/>
                  </a:cubicBezTo>
                  <a:cubicBezTo>
                    <a:pt x="215849" y="193421"/>
                    <a:pt x="193421" y="215862"/>
                    <a:pt x="173812" y="203924"/>
                  </a:cubicBezTo>
                  <a:cubicBezTo>
                    <a:pt x="167845" y="200289"/>
                    <a:pt x="160502" y="199721"/>
                    <a:pt x="154046" y="202394"/>
                  </a:cubicBezTo>
                  <a:cubicBezTo>
                    <a:pt x="147591" y="205067"/>
                    <a:pt x="142799" y="210660"/>
                    <a:pt x="141148" y="217449"/>
                  </a:cubicBezTo>
                  <a:cubicBezTo>
                    <a:pt x="135738" y="239751"/>
                    <a:pt x="104013" y="239751"/>
                    <a:pt x="98603" y="217449"/>
                  </a:cubicBezTo>
                  <a:cubicBezTo>
                    <a:pt x="96956" y="210654"/>
                    <a:pt x="92163" y="205054"/>
                    <a:pt x="85704" y="202378"/>
                  </a:cubicBezTo>
                  <a:cubicBezTo>
                    <a:pt x="79245" y="199702"/>
                    <a:pt x="71895" y="200271"/>
                    <a:pt x="65926" y="203911"/>
                  </a:cubicBezTo>
                  <a:cubicBezTo>
                    <a:pt x="46330" y="215849"/>
                    <a:pt x="23889" y="193421"/>
                    <a:pt x="35827" y="173812"/>
                  </a:cubicBezTo>
                  <a:cubicBezTo>
                    <a:pt x="39461" y="167845"/>
                    <a:pt x="40030" y="160502"/>
                    <a:pt x="37357" y="154046"/>
                  </a:cubicBezTo>
                  <a:cubicBezTo>
                    <a:pt x="34684" y="147591"/>
                    <a:pt x="29090" y="142799"/>
                    <a:pt x="22301" y="141148"/>
                  </a:cubicBezTo>
                  <a:cubicBezTo>
                    <a:pt x="0" y="135738"/>
                    <a:pt x="0" y="104013"/>
                    <a:pt x="22301" y="98603"/>
                  </a:cubicBezTo>
                  <a:cubicBezTo>
                    <a:pt x="29096" y="96956"/>
                    <a:pt x="34697" y="92163"/>
                    <a:pt x="37373" y="85704"/>
                  </a:cubicBezTo>
                  <a:cubicBezTo>
                    <a:pt x="40049" y="79245"/>
                    <a:pt x="39479" y="71895"/>
                    <a:pt x="35839" y="65926"/>
                  </a:cubicBezTo>
                  <a:cubicBezTo>
                    <a:pt x="23901" y="46330"/>
                    <a:pt x="46330" y="23889"/>
                    <a:pt x="65938" y="35827"/>
                  </a:cubicBezTo>
                  <a:cubicBezTo>
                    <a:pt x="78638" y="43548"/>
                    <a:pt x="95098" y="36716"/>
                    <a:pt x="98603" y="22301"/>
                  </a:cubicBezTo>
                </a:path>
              </a:pathLst>
            </a:custGeom>
            <a:noFill/>
            <a:ln w="19050">
              <a:solidFill>
                <a:srgbClr val="2EA7FF"/>
              </a:solidFill>
            </a:ln>
          </p:spPr>
          <p:txBody>
            <a:bodyPr/>
            <a:lstStyle/>
            <a:p>
              <a:endParaRPr lang="en-US"/>
            </a:p>
          </p:txBody>
        </p:sp>
        <p:sp>
          <p:nvSpPr>
            <p:cNvPr id="30" name="Freeform 30"/>
            <p:cNvSpPr/>
            <p:nvPr/>
          </p:nvSpPr>
          <p:spPr>
            <a:xfrm>
              <a:off x="952500" y="4229100"/>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19050">
              <a:solidFill>
                <a:srgbClr val="2EA7FF"/>
              </a:solidFill>
            </a:ln>
          </p:spPr>
          <p:txBody>
            <a:bodyPr/>
            <a:lstStyle/>
            <a:p>
              <a:endParaRPr lang="en-US"/>
            </a:p>
          </p:txBody>
        </p:sp>
      </p:grpSp>
      <p:sp>
        <p:nvSpPr>
          <p:cNvPr id="32" name="TextBox 32"/>
          <p:cNvSpPr txBox="1"/>
          <p:nvPr/>
        </p:nvSpPr>
        <p:spPr>
          <a:xfrm>
            <a:off x="2017711" y="4246721"/>
            <a:ext cx="2034159" cy="289560"/>
          </a:xfrm>
          <a:prstGeom prst="rect">
            <a:avLst/>
          </a:prstGeom>
          <a:noFill/>
          <a:ln>
            <a:noFill/>
          </a:ln>
        </p:spPr>
        <p:txBody>
          <a:bodyPr wrap="none" lIns="0" tIns="0" rIns="0" bIns="0" anchor="t" anchorCtr="0">
            <a:spAutoFit/>
          </a:bodyPr>
          <a:lstStyle/>
          <a:p>
            <a:pPr algn="l"/>
            <a:r>
              <a:rPr lang="zh-CN" sz="1425" dirty="0">
                <a:solidFill>
                  <a:srgbClr val="F4F8FF"/>
                </a:solidFill>
                <a:latin typeface="Arial"/>
                <a:ea typeface="Microsoft YaHei"/>
                <a:cs typeface="Arial"/>
              </a:rPr>
              <a:t>Production Systems</a:t>
            </a:r>
          </a:p>
        </p:txBody>
      </p:sp>
      <p:sp>
        <p:nvSpPr>
          <p:cNvPr id="33" name="Freeform 33"/>
          <p:cNvSpPr/>
          <p:nvPr/>
        </p:nvSpPr>
        <p:spPr>
          <a:xfrm>
            <a:off x="4702809" y="2847975"/>
            <a:ext cx="2667000" cy="704850"/>
          </a:xfrm>
          <a:custGeom>
            <a:avLst/>
            <a:gdLst/>
            <a:ahLst/>
            <a:cxnLst/>
            <a:rect l="l" t="t" r="r" b="b"/>
            <a:pathLst>
              <a:path w="2667000" h="704850">
                <a:moveTo>
                  <a:pt x="133350" y="0"/>
                </a:moveTo>
                <a:lnTo>
                  <a:pt x="2533650" y="0"/>
                </a:lnTo>
                <a:cubicBezTo>
                  <a:pt x="2607297" y="0"/>
                  <a:pt x="2667000" y="59703"/>
                  <a:pt x="2667000" y="133350"/>
                </a:cubicBezTo>
                <a:lnTo>
                  <a:pt x="2667000" y="571500"/>
                </a:lnTo>
                <a:cubicBezTo>
                  <a:pt x="2667000" y="645147"/>
                  <a:pt x="2607297" y="704850"/>
                  <a:pt x="2533650" y="704850"/>
                </a:cubicBezTo>
                <a:lnTo>
                  <a:pt x="133350" y="704850"/>
                </a:lnTo>
                <a:cubicBezTo>
                  <a:pt x="59703" y="704850"/>
                  <a:pt x="0" y="645147"/>
                  <a:pt x="0" y="571500"/>
                </a:cubicBezTo>
                <a:lnTo>
                  <a:pt x="0" y="133350"/>
                </a:lnTo>
                <a:cubicBezTo>
                  <a:pt x="0" y="59703"/>
                  <a:pt x="59703" y="0"/>
                  <a:pt x="133350" y="0"/>
                </a:cubicBezTo>
                <a:close/>
              </a:path>
            </a:pathLst>
          </a:custGeom>
          <a:solidFill>
            <a:srgbClr val="12263A"/>
          </a:solidFill>
          <a:ln w="9525">
            <a:solidFill>
              <a:srgbClr val="294157"/>
            </a:solidFill>
          </a:ln>
        </p:spPr>
        <p:txBody>
          <a:bodyPr/>
          <a:lstStyle/>
          <a:p>
            <a:endParaRPr lang="en-US"/>
          </a:p>
        </p:txBody>
      </p:sp>
      <p:grpSp>
        <p:nvGrpSpPr>
          <p:cNvPr id="44" name="Group 44"/>
          <p:cNvGrpSpPr/>
          <p:nvPr/>
        </p:nvGrpSpPr>
        <p:grpSpPr>
          <a:xfrm>
            <a:off x="4912359" y="3076575"/>
            <a:ext cx="228600" cy="228600"/>
            <a:chOff x="4133850" y="3048000"/>
            <a:chExt cx="228600" cy="228600"/>
          </a:xfrm>
        </p:grpSpPr>
        <p:sp>
          <p:nvSpPr>
            <p:cNvPr id="34" name="Freeform 34"/>
            <p:cNvSpPr/>
            <p:nvPr/>
          </p:nvSpPr>
          <p:spPr>
            <a:xfrm>
              <a:off x="4159250" y="3073400"/>
              <a:ext cx="177800" cy="177800"/>
            </a:xfrm>
            <a:custGeom>
              <a:avLst/>
              <a:gdLst/>
              <a:ahLst/>
              <a:cxnLst/>
              <a:rect l="l" t="t" r="r" b="b"/>
              <a:pathLst>
                <a:path w="177800" h="177800">
                  <a:moveTo>
                    <a:pt x="0" y="12700"/>
                  </a:moveTo>
                  <a:cubicBezTo>
                    <a:pt x="0" y="5686"/>
                    <a:pt x="5686" y="0"/>
                    <a:pt x="12700" y="0"/>
                  </a:cubicBezTo>
                  <a:lnTo>
                    <a:pt x="165100" y="0"/>
                  </a:lnTo>
                  <a:cubicBezTo>
                    <a:pt x="172114" y="0"/>
                    <a:pt x="177800" y="5686"/>
                    <a:pt x="177800" y="12700"/>
                  </a:cubicBezTo>
                  <a:lnTo>
                    <a:pt x="177800" y="165100"/>
                  </a:lnTo>
                  <a:cubicBezTo>
                    <a:pt x="177800" y="172114"/>
                    <a:pt x="172114" y="177800"/>
                    <a:pt x="165100" y="177800"/>
                  </a:cubicBezTo>
                  <a:lnTo>
                    <a:pt x="12700" y="177800"/>
                  </a:lnTo>
                  <a:cubicBezTo>
                    <a:pt x="5686" y="177800"/>
                    <a:pt x="0" y="172114"/>
                    <a:pt x="0" y="165100"/>
                  </a:cubicBezTo>
                  <a:lnTo>
                    <a:pt x="0" y="12700"/>
                  </a:lnTo>
                </a:path>
              </a:pathLst>
            </a:custGeom>
            <a:noFill/>
            <a:ln w="19050">
              <a:solidFill>
                <a:srgbClr val="00D1FF"/>
              </a:solidFill>
            </a:ln>
          </p:spPr>
          <p:txBody>
            <a:bodyPr/>
            <a:lstStyle/>
            <a:p>
              <a:endParaRPr lang="en-US"/>
            </a:p>
          </p:txBody>
        </p:sp>
        <p:sp>
          <p:nvSpPr>
            <p:cNvPr id="35" name="Freeform 35"/>
            <p:cNvSpPr/>
            <p:nvPr/>
          </p:nvSpPr>
          <p:spPr>
            <a:xfrm>
              <a:off x="4210050" y="3124200"/>
              <a:ext cx="76200" cy="76200"/>
            </a:xfrm>
            <a:custGeom>
              <a:avLst/>
              <a:gdLst/>
              <a:ahLst/>
              <a:cxnLst/>
              <a:rect l="l" t="t" r="r" b="b"/>
              <a:pathLst>
                <a:path w="76200" h="76200">
                  <a:moveTo>
                    <a:pt x="0" y="0"/>
                  </a:moveTo>
                  <a:lnTo>
                    <a:pt x="76200" y="0"/>
                  </a:lnTo>
                  <a:lnTo>
                    <a:pt x="76200" y="76200"/>
                  </a:lnTo>
                  <a:lnTo>
                    <a:pt x="0" y="76200"/>
                  </a:lnTo>
                  <a:lnTo>
                    <a:pt x="0" y="0"/>
                  </a:lnTo>
                </a:path>
              </a:pathLst>
            </a:custGeom>
            <a:noFill/>
            <a:ln w="19050">
              <a:solidFill>
                <a:srgbClr val="00D1FF"/>
              </a:solidFill>
            </a:ln>
          </p:spPr>
          <p:txBody>
            <a:bodyPr/>
            <a:lstStyle/>
            <a:p>
              <a:endParaRPr lang="en-US"/>
            </a:p>
          </p:txBody>
        </p:sp>
        <p:sp>
          <p:nvSpPr>
            <p:cNvPr id="36" name="Freeform 36"/>
            <p:cNvSpPr/>
            <p:nvPr/>
          </p:nvSpPr>
          <p:spPr>
            <a:xfrm>
              <a:off x="4133850" y="3136900"/>
              <a:ext cx="25400" cy="9525"/>
            </a:xfrm>
            <a:custGeom>
              <a:avLst/>
              <a:gdLst/>
              <a:ahLst/>
              <a:cxnLst/>
              <a:rect l="l" t="t" r="r" b="b"/>
              <a:pathLst>
                <a:path w="25400" h="9525">
                  <a:moveTo>
                    <a:pt x="0" y="0"/>
                  </a:moveTo>
                  <a:lnTo>
                    <a:pt x="25400" y="0"/>
                  </a:lnTo>
                </a:path>
              </a:pathLst>
            </a:custGeom>
            <a:noFill/>
            <a:ln w="19050">
              <a:solidFill>
                <a:srgbClr val="00D1FF"/>
              </a:solidFill>
            </a:ln>
          </p:spPr>
          <p:txBody>
            <a:bodyPr/>
            <a:lstStyle/>
            <a:p>
              <a:endParaRPr lang="en-US"/>
            </a:p>
          </p:txBody>
        </p:sp>
        <p:sp>
          <p:nvSpPr>
            <p:cNvPr id="37" name="Freeform 37"/>
            <p:cNvSpPr/>
            <p:nvPr/>
          </p:nvSpPr>
          <p:spPr>
            <a:xfrm>
              <a:off x="4133850" y="3187700"/>
              <a:ext cx="25400" cy="9525"/>
            </a:xfrm>
            <a:custGeom>
              <a:avLst/>
              <a:gdLst/>
              <a:ahLst/>
              <a:cxnLst/>
              <a:rect l="l" t="t" r="r" b="b"/>
              <a:pathLst>
                <a:path w="25400" h="9525">
                  <a:moveTo>
                    <a:pt x="0" y="0"/>
                  </a:moveTo>
                  <a:lnTo>
                    <a:pt x="25400" y="0"/>
                  </a:lnTo>
                </a:path>
              </a:pathLst>
            </a:custGeom>
            <a:noFill/>
            <a:ln w="19050">
              <a:solidFill>
                <a:srgbClr val="00D1FF"/>
              </a:solidFill>
            </a:ln>
          </p:spPr>
          <p:txBody>
            <a:bodyPr/>
            <a:lstStyle/>
            <a:p>
              <a:endParaRPr lang="en-US"/>
            </a:p>
          </p:txBody>
        </p:sp>
        <p:sp>
          <p:nvSpPr>
            <p:cNvPr id="38" name="Freeform 38"/>
            <p:cNvSpPr/>
            <p:nvPr/>
          </p:nvSpPr>
          <p:spPr>
            <a:xfrm>
              <a:off x="4222750" y="3048000"/>
              <a:ext cx="9525" cy="25400"/>
            </a:xfrm>
            <a:custGeom>
              <a:avLst/>
              <a:gdLst/>
              <a:ahLst/>
              <a:cxnLst/>
              <a:rect l="l" t="t" r="r" b="b"/>
              <a:pathLst>
                <a:path w="9525" h="25400">
                  <a:moveTo>
                    <a:pt x="0" y="0"/>
                  </a:moveTo>
                  <a:lnTo>
                    <a:pt x="0" y="25400"/>
                  </a:lnTo>
                </a:path>
              </a:pathLst>
            </a:custGeom>
            <a:noFill/>
            <a:ln w="19050">
              <a:solidFill>
                <a:srgbClr val="00D1FF"/>
              </a:solidFill>
            </a:ln>
          </p:spPr>
          <p:txBody>
            <a:bodyPr/>
            <a:lstStyle/>
            <a:p>
              <a:endParaRPr lang="en-US"/>
            </a:p>
          </p:txBody>
        </p:sp>
        <p:sp>
          <p:nvSpPr>
            <p:cNvPr id="39" name="Freeform 39"/>
            <p:cNvSpPr/>
            <p:nvPr/>
          </p:nvSpPr>
          <p:spPr>
            <a:xfrm>
              <a:off x="4273550" y="3048000"/>
              <a:ext cx="9525" cy="25400"/>
            </a:xfrm>
            <a:custGeom>
              <a:avLst/>
              <a:gdLst/>
              <a:ahLst/>
              <a:cxnLst/>
              <a:rect l="l" t="t" r="r" b="b"/>
              <a:pathLst>
                <a:path w="9525" h="25400">
                  <a:moveTo>
                    <a:pt x="0" y="0"/>
                  </a:moveTo>
                  <a:lnTo>
                    <a:pt x="0" y="25400"/>
                  </a:lnTo>
                </a:path>
              </a:pathLst>
            </a:custGeom>
            <a:noFill/>
            <a:ln w="19050">
              <a:solidFill>
                <a:srgbClr val="00D1FF"/>
              </a:solidFill>
            </a:ln>
          </p:spPr>
          <p:txBody>
            <a:bodyPr/>
            <a:lstStyle/>
            <a:p>
              <a:endParaRPr lang="en-US"/>
            </a:p>
          </p:txBody>
        </p:sp>
        <p:sp>
          <p:nvSpPr>
            <p:cNvPr id="40" name="Freeform 40"/>
            <p:cNvSpPr/>
            <p:nvPr/>
          </p:nvSpPr>
          <p:spPr>
            <a:xfrm>
              <a:off x="4337050" y="3136900"/>
              <a:ext cx="25400" cy="9525"/>
            </a:xfrm>
            <a:custGeom>
              <a:avLst/>
              <a:gdLst/>
              <a:ahLst/>
              <a:cxnLst/>
              <a:rect l="l" t="t" r="r" b="b"/>
              <a:pathLst>
                <a:path w="25400" h="9525">
                  <a:moveTo>
                    <a:pt x="25400" y="0"/>
                  </a:moveTo>
                  <a:lnTo>
                    <a:pt x="0" y="0"/>
                  </a:lnTo>
                </a:path>
              </a:pathLst>
            </a:custGeom>
            <a:noFill/>
            <a:ln w="19050">
              <a:solidFill>
                <a:srgbClr val="00D1FF"/>
              </a:solidFill>
            </a:ln>
          </p:spPr>
          <p:txBody>
            <a:bodyPr/>
            <a:lstStyle/>
            <a:p>
              <a:endParaRPr lang="en-US"/>
            </a:p>
          </p:txBody>
        </p:sp>
        <p:sp>
          <p:nvSpPr>
            <p:cNvPr id="41" name="Freeform 41"/>
            <p:cNvSpPr/>
            <p:nvPr/>
          </p:nvSpPr>
          <p:spPr>
            <a:xfrm>
              <a:off x="4337050" y="3187700"/>
              <a:ext cx="25400" cy="9525"/>
            </a:xfrm>
            <a:custGeom>
              <a:avLst/>
              <a:gdLst/>
              <a:ahLst/>
              <a:cxnLst/>
              <a:rect l="l" t="t" r="r" b="b"/>
              <a:pathLst>
                <a:path w="25400" h="9525">
                  <a:moveTo>
                    <a:pt x="25400" y="0"/>
                  </a:moveTo>
                  <a:lnTo>
                    <a:pt x="0" y="0"/>
                  </a:lnTo>
                </a:path>
              </a:pathLst>
            </a:custGeom>
            <a:noFill/>
            <a:ln w="19050">
              <a:solidFill>
                <a:srgbClr val="00D1FF"/>
              </a:solidFill>
            </a:ln>
          </p:spPr>
          <p:txBody>
            <a:bodyPr/>
            <a:lstStyle/>
            <a:p>
              <a:endParaRPr lang="en-US"/>
            </a:p>
          </p:txBody>
        </p:sp>
        <p:sp>
          <p:nvSpPr>
            <p:cNvPr id="42" name="Freeform 42"/>
            <p:cNvSpPr/>
            <p:nvPr/>
          </p:nvSpPr>
          <p:spPr>
            <a:xfrm>
              <a:off x="4273550" y="3251200"/>
              <a:ext cx="9525" cy="25400"/>
            </a:xfrm>
            <a:custGeom>
              <a:avLst/>
              <a:gdLst/>
              <a:ahLst/>
              <a:cxnLst/>
              <a:rect l="l" t="t" r="r" b="b"/>
              <a:pathLst>
                <a:path w="9525" h="25400">
                  <a:moveTo>
                    <a:pt x="0" y="25400"/>
                  </a:moveTo>
                  <a:lnTo>
                    <a:pt x="0" y="0"/>
                  </a:lnTo>
                </a:path>
              </a:pathLst>
            </a:custGeom>
            <a:noFill/>
            <a:ln w="19050">
              <a:solidFill>
                <a:srgbClr val="00D1FF"/>
              </a:solidFill>
            </a:ln>
          </p:spPr>
          <p:txBody>
            <a:bodyPr/>
            <a:lstStyle/>
            <a:p>
              <a:endParaRPr lang="en-US"/>
            </a:p>
          </p:txBody>
        </p:sp>
        <p:sp>
          <p:nvSpPr>
            <p:cNvPr id="43" name="Freeform 43"/>
            <p:cNvSpPr/>
            <p:nvPr/>
          </p:nvSpPr>
          <p:spPr>
            <a:xfrm>
              <a:off x="4222750" y="3251200"/>
              <a:ext cx="9525" cy="25400"/>
            </a:xfrm>
            <a:custGeom>
              <a:avLst/>
              <a:gdLst/>
              <a:ahLst/>
              <a:cxnLst/>
              <a:rect l="l" t="t" r="r" b="b"/>
              <a:pathLst>
                <a:path w="9525" h="25400">
                  <a:moveTo>
                    <a:pt x="0" y="25400"/>
                  </a:moveTo>
                  <a:lnTo>
                    <a:pt x="0" y="0"/>
                  </a:lnTo>
                </a:path>
              </a:pathLst>
            </a:custGeom>
            <a:noFill/>
            <a:ln w="19050">
              <a:solidFill>
                <a:srgbClr val="00D1FF"/>
              </a:solidFill>
            </a:ln>
          </p:spPr>
          <p:txBody>
            <a:bodyPr/>
            <a:lstStyle/>
            <a:p>
              <a:endParaRPr lang="en-US"/>
            </a:p>
          </p:txBody>
        </p:sp>
      </p:grpSp>
      <p:sp>
        <p:nvSpPr>
          <p:cNvPr id="46" name="Freeform 46"/>
          <p:cNvSpPr/>
          <p:nvPr/>
        </p:nvSpPr>
        <p:spPr>
          <a:xfrm>
            <a:off x="7903209" y="1743075"/>
            <a:ext cx="2667000" cy="704850"/>
          </a:xfrm>
          <a:custGeom>
            <a:avLst/>
            <a:gdLst/>
            <a:ahLst/>
            <a:cxnLst/>
            <a:rect l="l" t="t" r="r" b="b"/>
            <a:pathLst>
              <a:path w="2667000" h="704850">
                <a:moveTo>
                  <a:pt x="133350" y="0"/>
                </a:moveTo>
                <a:lnTo>
                  <a:pt x="2533650" y="0"/>
                </a:lnTo>
                <a:cubicBezTo>
                  <a:pt x="2607297" y="0"/>
                  <a:pt x="2667000" y="59703"/>
                  <a:pt x="2667000" y="133350"/>
                </a:cubicBezTo>
                <a:lnTo>
                  <a:pt x="2667000" y="571500"/>
                </a:lnTo>
                <a:cubicBezTo>
                  <a:pt x="2667000" y="645147"/>
                  <a:pt x="2607297" y="704850"/>
                  <a:pt x="2533650" y="704850"/>
                </a:cubicBezTo>
                <a:lnTo>
                  <a:pt x="133350" y="704850"/>
                </a:lnTo>
                <a:cubicBezTo>
                  <a:pt x="59703" y="704850"/>
                  <a:pt x="0" y="645147"/>
                  <a:pt x="0" y="571500"/>
                </a:cubicBezTo>
                <a:lnTo>
                  <a:pt x="0" y="133350"/>
                </a:lnTo>
                <a:cubicBezTo>
                  <a:pt x="0" y="59703"/>
                  <a:pt x="59703" y="0"/>
                  <a:pt x="133350" y="0"/>
                </a:cubicBezTo>
                <a:close/>
              </a:path>
            </a:pathLst>
          </a:custGeom>
          <a:solidFill>
            <a:srgbClr val="12263A"/>
          </a:solidFill>
          <a:ln w="9525">
            <a:solidFill>
              <a:srgbClr val="294157"/>
            </a:solidFill>
          </a:ln>
        </p:spPr>
        <p:txBody>
          <a:bodyPr/>
          <a:lstStyle/>
          <a:p>
            <a:endParaRPr lang="en-US"/>
          </a:p>
        </p:txBody>
      </p:sp>
      <p:grpSp>
        <p:nvGrpSpPr>
          <p:cNvPr id="52" name="Group 52"/>
          <p:cNvGrpSpPr/>
          <p:nvPr/>
        </p:nvGrpSpPr>
        <p:grpSpPr>
          <a:xfrm>
            <a:off x="8138159" y="1971675"/>
            <a:ext cx="177800" cy="228600"/>
            <a:chOff x="7359650" y="1943100"/>
            <a:chExt cx="177800" cy="228600"/>
          </a:xfrm>
        </p:grpSpPr>
        <p:sp>
          <p:nvSpPr>
            <p:cNvPr id="47" name="Freeform 47"/>
            <p:cNvSpPr/>
            <p:nvPr/>
          </p:nvSpPr>
          <p:spPr>
            <a:xfrm>
              <a:off x="7359650" y="1968500"/>
              <a:ext cx="177800" cy="203200"/>
            </a:xfrm>
            <a:custGeom>
              <a:avLst/>
              <a:gdLst/>
              <a:ahLst/>
              <a:cxnLst/>
              <a:rect l="l" t="t" r="r" b="b"/>
              <a:pathLst>
                <a:path w="177800" h="203200">
                  <a:moveTo>
                    <a:pt x="50800" y="0"/>
                  </a:moveTo>
                  <a:lnTo>
                    <a:pt x="25400" y="0"/>
                  </a:lnTo>
                  <a:cubicBezTo>
                    <a:pt x="11372" y="0"/>
                    <a:pt x="0" y="11372"/>
                    <a:pt x="0" y="25400"/>
                  </a:cubicBezTo>
                  <a:lnTo>
                    <a:pt x="0" y="177800"/>
                  </a:lnTo>
                  <a:cubicBezTo>
                    <a:pt x="0" y="191828"/>
                    <a:pt x="11372" y="203200"/>
                    <a:pt x="25400" y="203200"/>
                  </a:cubicBezTo>
                  <a:lnTo>
                    <a:pt x="152400" y="203200"/>
                  </a:lnTo>
                  <a:cubicBezTo>
                    <a:pt x="166428" y="203200"/>
                    <a:pt x="177800" y="191828"/>
                    <a:pt x="177800" y="177800"/>
                  </a:cubicBezTo>
                  <a:lnTo>
                    <a:pt x="177800" y="25400"/>
                  </a:lnTo>
                  <a:cubicBezTo>
                    <a:pt x="177800" y="11372"/>
                    <a:pt x="166428" y="0"/>
                    <a:pt x="152400" y="0"/>
                  </a:cubicBezTo>
                  <a:lnTo>
                    <a:pt x="127000" y="0"/>
                  </a:lnTo>
                </a:path>
              </a:pathLst>
            </a:custGeom>
            <a:noFill/>
            <a:ln w="19050">
              <a:solidFill>
                <a:srgbClr val="18E0A8"/>
              </a:solidFill>
            </a:ln>
          </p:spPr>
          <p:txBody>
            <a:bodyPr/>
            <a:lstStyle/>
            <a:p>
              <a:endParaRPr lang="en-US"/>
            </a:p>
          </p:txBody>
        </p:sp>
        <p:sp>
          <p:nvSpPr>
            <p:cNvPr id="48" name="Freeform 48"/>
            <p:cNvSpPr/>
            <p:nvPr/>
          </p:nvSpPr>
          <p:spPr>
            <a:xfrm>
              <a:off x="7410450" y="1943100"/>
              <a:ext cx="76200" cy="50800"/>
            </a:xfrm>
            <a:custGeom>
              <a:avLst/>
              <a:gdLst/>
              <a:ahLst/>
              <a:cxnLst/>
              <a:rect l="l" t="t" r="r" b="b"/>
              <a:pathLst>
                <a:path w="76200" h="50800">
                  <a:moveTo>
                    <a:pt x="0" y="25400"/>
                  </a:moveTo>
                  <a:cubicBezTo>
                    <a:pt x="0" y="11372"/>
                    <a:pt x="11372" y="0"/>
                    <a:pt x="25400" y="0"/>
                  </a:cubicBezTo>
                  <a:lnTo>
                    <a:pt x="50800" y="0"/>
                  </a:lnTo>
                  <a:cubicBezTo>
                    <a:pt x="64828" y="0"/>
                    <a:pt x="76200" y="11372"/>
                    <a:pt x="76200" y="25400"/>
                  </a:cubicBezTo>
                  <a:cubicBezTo>
                    <a:pt x="76200" y="39428"/>
                    <a:pt x="64828" y="50800"/>
                    <a:pt x="50800" y="50800"/>
                  </a:cubicBezTo>
                  <a:lnTo>
                    <a:pt x="25400" y="50800"/>
                  </a:lnTo>
                  <a:cubicBezTo>
                    <a:pt x="11372" y="50800"/>
                    <a:pt x="0" y="39428"/>
                    <a:pt x="0" y="25400"/>
                  </a:cubicBezTo>
                </a:path>
              </a:pathLst>
            </a:custGeom>
            <a:noFill/>
            <a:ln w="19050">
              <a:solidFill>
                <a:srgbClr val="18E0A8"/>
              </a:solidFill>
            </a:ln>
          </p:spPr>
          <p:txBody>
            <a:bodyPr/>
            <a:lstStyle/>
            <a:p>
              <a:endParaRPr lang="en-US"/>
            </a:p>
          </p:txBody>
        </p:sp>
        <p:sp>
          <p:nvSpPr>
            <p:cNvPr id="49" name="Freeform 49"/>
            <p:cNvSpPr/>
            <p:nvPr/>
          </p:nvSpPr>
          <p:spPr>
            <a:xfrm>
              <a:off x="7410450" y="2057400"/>
              <a:ext cx="9525" cy="63500"/>
            </a:xfrm>
            <a:custGeom>
              <a:avLst/>
              <a:gdLst/>
              <a:ahLst/>
              <a:cxnLst/>
              <a:rect l="l" t="t" r="r" b="b"/>
              <a:pathLst>
                <a:path w="9525" h="63500">
                  <a:moveTo>
                    <a:pt x="0" y="63500"/>
                  </a:moveTo>
                  <a:lnTo>
                    <a:pt x="0" y="0"/>
                  </a:lnTo>
                </a:path>
              </a:pathLst>
            </a:custGeom>
            <a:noFill/>
            <a:ln w="19050">
              <a:solidFill>
                <a:srgbClr val="18E0A8"/>
              </a:solidFill>
            </a:ln>
          </p:spPr>
          <p:txBody>
            <a:bodyPr/>
            <a:lstStyle/>
            <a:p>
              <a:endParaRPr lang="en-US"/>
            </a:p>
          </p:txBody>
        </p:sp>
        <p:sp>
          <p:nvSpPr>
            <p:cNvPr id="50" name="Freeform 50"/>
            <p:cNvSpPr/>
            <p:nvPr/>
          </p:nvSpPr>
          <p:spPr>
            <a:xfrm>
              <a:off x="7448550" y="2108200"/>
              <a:ext cx="9525" cy="12700"/>
            </a:xfrm>
            <a:custGeom>
              <a:avLst/>
              <a:gdLst/>
              <a:ahLst/>
              <a:cxnLst/>
              <a:rect l="l" t="t" r="r" b="b"/>
              <a:pathLst>
                <a:path w="9525" h="12700">
                  <a:moveTo>
                    <a:pt x="0" y="12700"/>
                  </a:moveTo>
                  <a:lnTo>
                    <a:pt x="0" y="0"/>
                  </a:lnTo>
                </a:path>
              </a:pathLst>
            </a:custGeom>
            <a:noFill/>
            <a:ln w="19050">
              <a:solidFill>
                <a:srgbClr val="18E0A8"/>
              </a:solidFill>
            </a:ln>
          </p:spPr>
          <p:txBody>
            <a:bodyPr/>
            <a:lstStyle/>
            <a:p>
              <a:endParaRPr lang="en-US"/>
            </a:p>
          </p:txBody>
        </p:sp>
        <p:sp>
          <p:nvSpPr>
            <p:cNvPr id="51" name="Freeform 51"/>
            <p:cNvSpPr/>
            <p:nvPr/>
          </p:nvSpPr>
          <p:spPr>
            <a:xfrm>
              <a:off x="7486650" y="2082800"/>
              <a:ext cx="9525" cy="38100"/>
            </a:xfrm>
            <a:custGeom>
              <a:avLst/>
              <a:gdLst/>
              <a:ahLst/>
              <a:cxnLst/>
              <a:rect l="l" t="t" r="r" b="b"/>
              <a:pathLst>
                <a:path w="9525" h="38100">
                  <a:moveTo>
                    <a:pt x="0" y="38100"/>
                  </a:moveTo>
                  <a:lnTo>
                    <a:pt x="0" y="0"/>
                  </a:lnTo>
                </a:path>
              </a:pathLst>
            </a:custGeom>
            <a:noFill/>
            <a:ln w="19050">
              <a:solidFill>
                <a:srgbClr val="18E0A8"/>
              </a:solidFill>
            </a:ln>
          </p:spPr>
          <p:txBody>
            <a:bodyPr/>
            <a:lstStyle/>
            <a:p>
              <a:endParaRPr lang="en-US"/>
            </a:p>
          </p:txBody>
        </p:sp>
      </p:grpSp>
      <p:sp>
        <p:nvSpPr>
          <p:cNvPr id="53" name="TextBox 53"/>
          <p:cNvSpPr txBox="1"/>
          <p:nvPr/>
        </p:nvSpPr>
        <p:spPr>
          <a:xfrm>
            <a:off x="8475661" y="2036921"/>
            <a:ext cx="1971723" cy="289560"/>
          </a:xfrm>
          <a:prstGeom prst="rect">
            <a:avLst/>
          </a:prstGeom>
          <a:noFill/>
          <a:ln>
            <a:noFill/>
          </a:ln>
        </p:spPr>
        <p:txBody>
          <a:bodyPr wrap="none" lIns="0" tIns="0" rIns="0" bIns="0" anchor="t" anchorCtr="0">
            <a:spAutoFit/>
          </a:bodyPr>
          <a:lstStyle/>
          <a:p>
            <a:pPr algn="l"/>
            <a:r>
              <a:rPr lang="zh-CN" sz="1425" dirty="0">
                <a:solidFill>
                  <a:srgbClr val="F4F8FF"/>
                </a:solidFill>
                <a:latin typeface="Arial"/>
                <a:ea typeface="Microsoft YaHei"/>
                <a:cs typeface="Arial"/>
              </a:rPr>
              <a:t>Automated Reports</a:t>
            </a:r>
          </a:p>
        </p:txBody>
      </p:sp>
      <p:sp>
        <p:nvSpPr>
          <p:cNvPr id="54" name="Freeform 54"/>
          <p:cNvSpPr/>
          <p:nvPr/>
        </p:nvSpPr>
        <p:spPr>
          <a:xfrm>
            <a:off x="7903209" y="2847975"/>
            <a:ext cx="2667000" cy="704850"/>
          </a:xfrm>
          <a:custGeom>
            <a:avLst/>
            <a:gdLst/>
            <a:ahLst/>
            <a:cxnLst/>
            <a:rect l="l" t="t" r="r" b="b"/>
            <a:pathLst>
              <a:path w="2667000" h="704850">
                <a:moveTo>
                  <a:pt x="133350" y="0"/>
                </a:moveTo>
                <a:lnTo>
                  <a:pt x="2533650" y="0"/>
                </a:lnTo>
                <a:cubicBezTo>
                  <a:pt x="2607297" y="0"/>
                  <a:pt x="2667000" y="59703"/>
                  <a:pt x="2667000" y="133350"/>
                </a:cubicBezTo>
                <a:lnTo>
                  <a:pt x="2667000" y="571500"/>
                </a:lnTo>
                <a:cubicBezTo>
                  <a:pt x="2667000" y="645147"/>
                  <a:pt x="2607297" y="704850"/>
                  <a:pt x="2533650" y="704850"/>
                </a:cubicBezTo>
                <a:lnTo>
                  <a:pt x="133350" y="704850"/>
                </a:lnTo>
                <a:cubicBezTo>
                  <a:pt x="59703" y="704850"/>
                  <a:pt x="0" y="645147"/>
                  <a:pt x="0" y="571500"/>
                </a:cubicBezTo>
                <a:lnTo>
                  <a:pt x="0" y="133350"/>
                </a:lnTo>
                <a:cubicBezTo>
                  <a:pt x="0" y="59703"/>
                  <a:pt x="59703" y="0"/>
                  <a:pt x="133350" y="0"/>
                </a:cubicBezTo>
                <a:close/>
              </a:path>
            </a:pathLst>
          </a:custGeom>
          <a:solidFill>
            <a:srgbClr val="12263A"/>
          </a:solidFill>
          <a:ln w="9525">
            <a:solidFill>
              <a:srgbClr val="294157"/>
            </a:solidFill>
          </a:ln>
        </p:spPr>
        <p:txBody>
          <a:bodyPr/>
          <a:lstStyle/>
          <a:p>
            <a:endParaRPr lang="en-US"/>
          </a:p>
        </p:txBody>
      </p:sp>
      <p:sp>
        <p:nvSpPr>
          <p:cNvPr id="55" name="Freeform 55"/>
          <p:cNvSpPr/>
          <p:nvPr/>
        </p:nvSpPr>
        <p:spPr>
          <a:xfrm>
            <a:off x="8112759" y="3089275"/>
            <a:ext cx="228600" cy="203200"/>
          </a:xfrm>
          <a:custGeom>
            <a:avLst/>
            <a:gdLst/>
            <a:ahLst/>
            <a:cxnLst/>
            <a:rect l="l" t="t" r="r" b="b"/>
            <a:pathLst>
              <a:path w="228600" h="203200">
                <a:moveTo>
                  <a:pt x="0" y="101600"/>
                </a:moveTo>
                <a:lnTo>
                  <a:pt x="50800" y="101600"/>
                </a:lnTo>
                <a:lnTo>
                  <a:pt x="88900" y="203200"/>
                </a:lnTo>
                <a:lnTo>
                  <a:pt x="139700" y="0"/>
                </a:lnTo>
                <a:lnTo>
                  <a:pt x="177800" y="101600"/>
                </a:lnTo>
                <a:lnTo>
                  <a:pt x="228600" y="101600"/>
                </a:lnTo>
              </a:path>
            </a:pathLst>
          </a:custGeom>
          <a:noFill/>
          <a:ln w="19050">
            <a:solidFill>
              <a:srgbClr val="18E0A8"/>
            </a:solidFill>
          </a:ln>
        </p:spPr>
        <p:txBody>
          <a:bodyPr/>
          <a:lstStyle/>
          <a:p>
            <a:endParaRPr lang="en-US"/>
          </a:p>
        </p:txBody>
      </p:sp>
      <p:sp>
        <p:nvSpPr>
          <p:cNvPr id="56" name="TextBox 56"/>
          <p:cNvSpPr txBox="1"/>
          <p:nvPr/>
        </p:nvSpPr>
        <p:spPr>
          <a:xfrm>
            <a:off x="8475661" y="3141821"/>
            <a:ext cx="2107001" cy="289560"/>
          </a:xfrm>
          <a:prstGeom prst="rect">
            <a:avLst/>
          </a:prstGeom>
          <a:noFill/>
          <a:ln>
            <a:noFill/>
          </a:ln>
        </p:spPr>
        <p:txBody>
          <a:bodyPr wrap="none" lIns="0" tIns="0" rIns="0" bIns="0" anchor="t" anchorCtr="0">
            <a:spAutoFit/>
          </a:bodyPr>
          <a:lstStyle/>
          <a:p>
            <a:pPr algn="l"/>
            <a:r>
              <a:rPr lang="zh-CN" sz="1425" dirty="0">
                <a:solidFill>
                  <a:srgbClr val="F4F8FF"/>
                </a:solidFill>
                <a:latin typeface="Arial"/>
                <a:ea typeface="Microsoft YaHei"/>
                <a:cs typeface="Arial"/>
              </a:rPr>
              <a:t>Operational Insights</a:t>
            </a:r>
          </a:p>
        </p:txBody>
      </p:sp>
      <p:sp>
        <p:nvSpPr>
          <p:cNvPr id="57" name="Freeform 57"/>
          <p:cNvSpPr/>
          <p:nvPr/>
        </p:nvSpPr>
        <p:spPr>
          <a:xfrm>
            <a:off x="7903209" y="3952875"/>
            <a:ext cx="2667000" cy="704850"/>
          </a:xfrm>
          <a:custGeom>
            <a:avLst/>
            <a:gdLst/>
            <a:ahLst/>
            <a:cxnLst/>
            <a:rect l="l" t="t" r="r" b="b"/>
            <a:pathLst>
              <a:path w="2667000" h="704850">
                <a:moveTo>
                  <a:pt x="133350" y="0"/>
                </a:moveTo>
                <a:lnTo>
                  <a:pt x="2533650" y="0"/>
                </a:lnTo>
                <a:cubicBezTo>
                  <a:pt x="2607297" y="0"/>
                  <a:pt x="2667000" y="59703"/>
                  <a:pt x="2667000" y="133350"/>
                </a:cubicBezTo>
                <a:lnTo>
                  <a:pt x="2667000" y="571500"/>
                </a:lnTo>
                <a:cubicBezTo>
                  <a:pt x="2667000" y="645147"/>
                  <a:pt x="2607297" y="704850"/>
                  <a:pt x="2533650" y="704850"/>
                </a:cubicBezTo>
                <a:lnTo>
                  <a:pt x="133350" y="704850"/>
                </a:lnTo>
                <a:cubicBezTo>
                  <a:pt x="59703" y="704850"/>
                  <a:pt x="0" y="645147"/>
                  <a:pt x="0" y="571500"/>
                </a:cubicBezTo>
                <a:lnTo>
                  <a:pt x="0" y="133350"/>
                </a:lnTo>
                <a:cubicBezTo>
                  <a:pt x="0" y="59703"/>
                  <a:pt x="59703" y="0"/>
                  <a:pt x="133350" y="0"/>
                </a:cubicBezTo>
                <a:close/>
              </a:path>
            </a:pathLst>
          </a:custGeom>
          <a:solidFill>
            <a:srgbClr val="12263A"/>
          </a:solidFill>
          <a:ln w="9525">
            <a:solidFill>
              <a:srgbClr val="294157"/>
            </a:solidFill>
          </a:ln>
        </p:spPr>
        <p:txBody>
          <a:bodyPr/>
          <a:lstStyle/>
          <a:p>
            <a:endParaRPr lang="en-US"/>
          </a:p>
        </p:txBody>
      </p:sp>
      <p:grpSp>
        <p:nvGrpSpPr>
          <p:cNvPr id="61" name="Group 61"/>
          <p:cNvGrpSpPr/>
          <p:nvPr/>
        </p:nvGrpSpPr>
        <p:grpSpPr>
          <a:xfrm>
            <a:off x="8112759" y="4181475"/>
            <a:ext cx="228600" cy="228600"/>
            <a:chOff x="7334250" y="4152900"/>
            <a:chExt cx="228600" cy="228600"/>
          </a:xfrm>
        </p:grpSpPr>
        <p:sp>
          <p:nvSpPr>
            <p:cNvPr id="58" name="Freeform 58"/>
            <p:cNvSpPr/>
            <p:nvPr/>
          </p:nvSpPr>
          <p:spPr>
            <a:xfrm>
              <a:off x="7435850" y="4254500"/>
              <a:ext cx="25400" cy="25400"/>
            </a:xfrm>
            <a:custGeom>
              <a:avLst/>
              <a:gdLst/>
              <a:ahLst/>
              <a:cxnLst/>
              <a:rect l="l" t="t" r="r" b="b"/>
              <a:pathLst>
                <a:path w="25400" h="25400">
                  <a:moveTo>
                    <a:pt x="0" y="12700"/>
                  </a:moveTo>
                  <a:cubicBezTo>
                    <a:pt x="0" y="19714"/>
                    <a:pt x="5686" y="25400"/>
                    <a:pt x="12700" y="25400"/>
                  </a:cubicBezTo>
                  <a:cubicBezTo>
                    <a:pt x="19714" y="25400"/>
                    <a:pt x="25400" y="19714"/>
                    <a:pt x="25400" y="12700"/>
                  </a:cubicBezTo>
                  <a:cubicBezTo>
                    <a:pt x="25400" y="5686"/>
                    <a:pt x="19714" y="0"/>
                    <a:pt x="12700" y="0"/>
                  </a:cubicBezTo>
                  <a:cubicBezTo>
                    <a:pt x="5686" y="0"/>
                    <a:pt x="0" y="5686"/>
                    <a:pt x="0" y="12700"/>
                  </a:cubicBezTo>
                </a:path>
              </a:pathLst>
            </a:custGeom>
            <a:noFill/>
            <a:ln w="19050">
              <a:solidFill>
                <a:srgbClr val="31D67B"/>
              </a:solidFill>
            </a:ln>
          </p:spPr>
          <p:txBody>
            <a:bodyPr/>
            <a:lstStyle/>
            <a:p>
              <a:endParaRPr lang="en-US"/>
            </a:p>
          </p:txBody>
        </p:sp>
        <p:sp>
          <p:nvSpPr>
            <p:cNvPr id="59" name="Freeform 59"/>
            <p:cNvSpPr/>
            <p:nvPr/>
          </p:nvSpPr>
          <p:spPr>
            <a:xfrm>
              <a:off x="7385050" y="4203700"/>
              <a:ext cx="127000" cy="127000"/>
            </a:xfrm>
            <a:custGeom>
              <a:avLst/>
              <a:gdLst/>
              <a:ahLst/>
              <a:cxnLst/>
              <a:rect l="l" t="t" r="r" b="b"/>
              <a:pathLst>
                <a:path w="127000" h="127000">
                  <a:moveTo>
                    <a:pt x="0" y="63500"/>
                  </a:moveTo>
                  <a:cubicBezTo>
                    <a:pt x="0" y="98570"/>
                    <a:pt x="28430" y="127000"/>
                    <a:pt x="63500" y="127000"/>
                  </a:cubicBezTo>
                  <a:cubicBezTo>
                    <a:pt x="98570" y="127000"/>
                    <a:pt x="127000" y="98570"/>
                    <a:pt x="127000" y="63500"/>
                  </a:cubicBezTo>
                  <a:cubicBezTo>
                    <a:pt x="127000" y="28430"/>
                    <a:pt x="98570" y="0"/>
                    <a:pt x="63500" y="0"/>
                  </a:cubicBezTo>
                  <a:cubicBezTo>
                    <a:pt x="28430" y="0"/>
                    <a:pt x="0" y="28430"/>
                    <a:pt x="0" y="63500"/>
                  </a:cubicBezTo>
                </a:path>
              </a:pathLst>
            </a:custGeom>
            <a:noFill/>
            <a:ln w="19050">
              <a:solidFill>
                <a:srgbClr val="31D67B"/>
              </a:solidFill>
            </a:ln>
          </p:spPr>
          <p:txBody>
            <a:bodyPr/>
            <a:lstStyle/>
            <a:p>
              <a:endParaRPr lang="en-US"/>
            </a:p>
          </p:txBody>
        </p:sp>
        <p:sp>
          <p:nvSpPr>
            <p:cNvPr id="60" name="Freeform 60"/>
            <p:cNvSpPr/>
            <p:nvPr/>
          </p:nvSpPr>
          <p:spPr>
            <a:xfrm>
              <a:off x="7334250" y="4152900"/>
              <a:ext cx="228600" cy="228600"/>
            </a:xfrm>
            <a:custGeom>
              <a:avLst/>
              <a:gdLst/>
              <a:ahLst/>
              <a:cxnLst/>
              <a:rect l="l" t="t" r="r" b="b"/>
              <a:pathLst>
                <a:path w="228600" h="228600">
                  <a:moveTo>
                    <a:pt x="0" y="114300"/>
                  </a:moveTo>
                  <a:cubicBezTo>
                    <a:pt x="0" y="177426"/>
                    <a:pt x="51174" y="228600"/>
                    <a:pt x="114300" y="228600"/>
                  </a:cubicBezTo>
                  <a:cubicBezTo>
                    <a:pt x="177426" y="228600"/>
                    <a:pt x="228600" y="177426"/>
                    <a:pt x="228600" y="114300"/>
                  </a:cubicBezTo>
                  <a:cubicBezTo>
                    <a:pt x="228600" y="51174"/>
                    <a:pt x="177426" y="0"/>
                    <a:pt x="114300" y="0"/>
                  </a:cubicBezTo>
                  <a:cubicBezTo>
                    <a:pt x="51174" y="0"/>
                    <a:pt x="0" y="51174"/>
                    <a:pt x="0" y="114300"/>
                  </a:cubicBezTo>
                </a:path>
              </a:pathLst>
            </a:custGeom>
            <a:noFill/>
            <a:ln w="19050">
              <a:solidFill>
                <a:srgbClr val="31D67B"/>
              </a:solidFill>
            </a:ln>
          </p:spPr>
          <p:txBody>
            <a:bodyPr/>
            <a:lstStyle/>
            <a:p>
              <a:endParaRPr lang="en-US"/>
            </a:p>
          </p:txBody>
        </p:sp>
      </p:grpSp>
      <p:sp>
        <p:nvSpPr>
          <p:cNvPr id="62" name="TextBox 62"/>
          <p:cNvSpPr txBox="1"/>
          <p:nvPr/>
        </p:nvSpPr>
        <p:spPr>
          <a:xfrm>
            <a:off x="8475661" y="4246721"/>
            <a:ext cx="1711571" cy="289560"/>
          </a:xfrm>
          <a:prstGeom prst="rect">
            <a:avLst/>
          </a:prstGeom>
          <a:noFill/>
          <a:ln>
            <a:noFill/>
          </a:ln>
        </p:spPr>
        <p:txBody>
          <a:bodyPr wrap="none" lIns="0" tIns="0" rIns="0" bIns="0" anchor="t" anchorCtr="0">
            <a:spAutoFit/>
          </a:bodyPr>
          <a:lstStyle/>
          <a:p>
            <a:pPr algn="l"/>
            <a:r>
              <a:rPr lang="zh-CN" sz="1425" dirty="0">
                <a:solidFill>
                  <a:srgbClr val="F4F8FF"/>
                </a:solidFill>
                <a:latin typeface="Arial"/>
                <a:ea typeface="Microsoft YaHei"/>
                <a:cs typeface="Arial"/>
              </a:rPr>
              <a:t>Faster Decisions</a:t>
            </a:r>
          </a:p>
        </p:txBody>
      </p:sp>
      <p:grpSp>
        <p:nvGrpSpPr>
          <p:cNvPr id="73" name="Group 73"/>
          <p:cNvGrpSpPr/>
          <p:nvPr/>
        </p:nvGrpSpPr>
        <p:grpSpPr>
          <a:xfrm>
            <a:off x="4415554" y="2638425"/>
            <a:ext cx="2933700" cy="1123950"/>
            <a:chOff x="3790950" y="2609850"/>
            <a:chExt cx="2933700" cy="1123950"/>
          </a:xfrm>
        </p:grpSpPr>
        <p:sp>
          <p:nvSpPr>
            <p:cNvPr id="70" name="Freeform 70"/>
            <p:cNvSpPr/>
            <p:nvPr/>
          </p:nvSpPr>
          <p:spPr>
            <a:xfrm>
              <a:off x="3790950" y="2609850"/>
              <a:ext cx="2933700" cy="1123950"/>
            </a:xfrm>
            <a:custGeom>
              <a:avLst/>
              <a:gdLst/>
              <a:ahLst/>
              <a:cxnLst/>
              <a:rect l="l" t="t" r="r" b="b"/>
              <a:pathLst>
                <a:path w="2933700" h="1123950">
                  <a:moveTo>
                    <a:pt x="171450" y="0"/>
                  </a:moveTo>
                  <a:lnTo>
                    <a:pt x="2762250" y="0"/>
                  </a:lnTo>
                  <a:cubicBezTo>
                    <a:pt x="2856939" y="0"/>
                    <a:pt x="2933700" y="76761"/>
                    <a:pt x="2933700" y="171450"/>
                  </a:cubicBezTo>
                  <a:lnTo>
                    <a:pt x="2933700" y="952500"/>
                  </a:lnTo>
                  <a:cubicBezTo>
                    <a:pt x="2933700" y="1047189"/>
                    <a:pt x="2856939" y="1123950"/>
                    <a:pt x="2762250" y="1123950"/>
                  </a:cubicBezTo>
                  <a:lnTo>
                    <a:pt x="171450" y="1123950"/>
                  </a:lnTo>
                  <a:cubicBezTo>
                    <a:pt x="76761" y="1123950"/>
                    <a:pt x="0" y="1047189"/>
                    <a:pt x="0" y="952500"/>
                  </a:cubicBezTo>
                  <a:lnTo>
                    <a:pt x="0" y="171450"/>
                  </a:lnTo>
                  <a:cubicBezTo>
                    <a:pt x="0" y="76761"/>
                    <a:pt x="76761" y="0"/>
                    <a:pt x="171450" y="0"/>
                  </a:cubicBezTo>
                  <a:close/>
                </a:path>
              </a:pathLst>
            </a:custGeom>
            <a:solidFill>
              <a:srgbClr val="0E1D2E"/>
            </a:solidFill>
            <a:ln w="19050">
              <a:solidFill>
                <a:srgbClr val="00D1FF"/>
              </a:solidFill>
            </a:ln>
          </p:spPr>
          <p:txBody>
            <a:bodyPr/>
            <a:lstStyle/>
            <a:p>
              <a:endParaRPr lang="en-US"/>
            </a:p>
          </p:txBody>
        </p:sp>
        <p:sp>
          <p:nvSpPr>
            <p:cNvPr id="71" name="TextBox 71"/>
            <p:cNvSpPr txBox="1"/>
            <p:nvPr/>
          </p:nvSpPr>
          <p:spPr>
            <a:xfrm>
              <a:off x="4434080" y="2840355"/>
              <a:ext cx="1647439" cy="426720"/>
            </a:xfrm>
            <a:prstGeom prst="rect">
              <a:avLst/>
            </a:prstGeom>
            <a:noFill/>
            <a:ln>
              <a:noFill/>
            </a:ln>
          </p:spPr>
          <p:txBody>
            <a:bodyPr wrap="none" lIns="0" tIns="0" rIns="0" bIns="0" anchor="t" anchorCtr="0">
              <a:spAutoFit/>
            </a:bodyPr>
            <a:lstStyle/>
            <a:p>
              <a:pPr algn="ctr"/>
              <a:r>
                <a:rPr lang="zh-CN" sz="2100" b="1" dirty="0">
                  <a:solidFill>
                    <a:srgbClr val="00D1FF"/>
                  </a:solidFill>
                  <a:latin typeface="Arial"/>
                  <a:ea typeface="Microsoft YaHei"/>
                  <a:cs typeface="Arial"/>
                </a:rPr>
                <a:t>DxFactory</a:t>
              </a:r>
            </a:p>
          </p:txBody>
        </p:sp>
        <p:sp>
          <p:nvSpPr>
            <p:cNvPr id="72" name="TextBox 72"/>
            <p:cNvSpPr txBox="1"/>
            <p:nvPr/>
          </p:nvSpPr>
          <p:spPr>
            <a:xfrm>
              <a:off x="3800891" y="3174682"/>
              <a:ext cx="2913819" cy="335280"/>
            </a:xfrm>
            <a:prstGeom prst="rect">
              <a:avLst/>
            </a:prstGeom>
            <a:noFill/>
            <a:ln>
              <a:noFill/>
            </a:ln>
          </p:spPr>
          <p:txBody>
            <a:bodyPr wrap="none" lIns="0" tIns="0" rIns="0" bIns="0" anchor="t" anchorCtr="0">
              <a:spAutoFit/>
            </a:bodyPr>
            <a:lstStyle/>
            <a:p>
              <a:pPr algn="ctr"/>
              <a:r>
                <a:rPr lang="zh-CN" sz="1650" b="1" dirty="0">
                  <a:solidFill>
                    <a:srgbClr val="F4F8FF"/>
                  </a:solidFill>
                  <a:latin typeface="Arial"/>
                  <a:ea typeface="Microsoft YaHei"/>
                  <a:cs typeface="Arial"/>
                </a:rPr>
                <a:t>Operations Intelligence</a:t>
              </a:r>
            </a:p>
          </p:txBody>
        </p:sp>
      </p:grpSp>
      <p:grpSp>
        <p:nvGrpSpPr>
          <p:cNvPr id="75" name="Group 75"/>
          <p:cNvGrpSpPr/>
          <p:nvPr/>
        </p:nvGrpSpPr>
        <p:grpSpPr>
          <a:xfrm>
            <a:off x="3575571" y="4842941"/>
            <a:ext cx="4921475" cy="1038746"/>
            <a:chOff x="2625048" y="4814366"/>
            <a:chExt cx="4921475" cy="1038746"/>
          </a:xfrm>
        </p:grpSpPr>
        <p:sp>
          <p:nvSpPr>
            <p:cNvPr id="74" name="TextBox 74"/>
            <p:cNvSpPr txBox="1"/>
            <p:nvPr/>
          </p:nvSpPr>
          <p:spPr>
            <a:xfrm>
              <a:off x="2625048" y="4814366"/>
              <a:ext cx="4921475" cy="1038746"/>
            </a:xfrm>
            <a:prstGeom prst="rect">
              <a:avLst/>
            </a:prstGeom>
            <a:noFill/>
            <a:ln>
              <a:noFill/>
            </a:ln>
          </p:spPr>
          <p:txBody>
            <a:bodyPr wrap="none" lIns="0" tIns="0" rIns="0" bIns="0" anchor="t" anchorCtr="0">
              <a:spAutoFit/>
            </a:bodyPr>
            <a:lstStyle/>
            <a:p>
              <a:pPr algn="ctr"/>
              <a:r>
                <a:rPr lang="zh-CN" sz="2250" b="1" dirty="0">
                  <a:solidFill>
                    <a:srgbClr val="18E0A8"/>
                  </a:solidFill>
                  <a:latin typeface="Arial"/>
                  <a:ea typeface="Microsoft YaHei"/>
                  <a:cs typeface="Arial"/>
                </a:rPr>
                <a:t>Transform Data Into Business Value</a:t>
              </a:r>
              <a:endParaRPr lang="en-US" altLang="zh-CN" sz="2250" b="1" dirty="0">
                <a:solidFill>
                  <a:srgbClr val="18E0A8"/>
                </a:solidFill>
                <a:latin typeface="Arial"/>
                <a:ea typeface="Microsoft YaHei"/>
                <a:cs typeface="Arial"/>
              </a:endParaRPr>
            </a:p>
            <a:p>
              <a:pPr algn="ctr"/>
              <a:endParaRPr lang="en-US" altLang="zh-CN" sz="2250" b="1" dirty="0">
                <a:solidFill>
                  <a:srgbClr val="18E0A8"/>
                </a:solidFill>
                <a:latin typeface="Arial"/>
                <a:ea typeface="Microsoft YaHei"/>
                <a:cs typeface="Arial"/>
              </a:endParaRPr>
            </a:p>
            <a:p>
              <a:pPr algn="ctr"/>
              <a:r>
                <a:rPr lang="en-US" altLang="zh-CN" sz="2250" b="1" dirty="0">
                  <a:solidFill>
                    <a:srgbClr val="18E0A8"/>
                  </a:solidFill>
                  <a:latin typeface="Arial"/>
                  <a:ea typeface="Microsoft YaHei"/>
                  <a:cs typeface="Arial"/>
                </a:rPr>
                <a:t>Continuous Improvement</a:t>
              </a:r>
              <a:endParaRPr lang="zh-CN" sz="2250" b="1" dirty="0">
                <a:solidFill>
                  <a:srgbClr val="18E0A8"/>
                </a:solidFill>
                <a:latin typeface="Arial"/>
                <a:ea typeface="Microsoft YaHei"/>
                <a:cs typeface="Arial"/>
              </a:endParaRPr>
            </a:p>
          </p:txBody>
        </p:sp>
      </p:grpSp>
      <p:grpSp>
        <p:nvGrpSpPr>
          <p:cNvPr id="79" name="Group 79"/>
          <p:cNvGrpSpPr/>
          <p:nvPr/>
        </p:nvGrpSpPr>
        <p:grpSpPr>
          <a:xfrm>
            <a:off x="520065" y="6419850"/>
            <a:ext cx="11151870" cy="347662"/>
            <a:chOff x="520065" y="6419850"/>
            <a:chExt cx="11151870" cy="347662"/>
          </a:xfrm>
        </p:grpSpPr>
        <p:sp>
          <p:nvSpPr>
            <p:cNvPr id="76" name="Line 76"/>
            <p:cNvSpPr/>
            <p:nvPr/>
          </p:nvSpPr>
          <p:spPr>
            <a:xfrm>
              <a:off x="533400" y="6419850"/>
              <a:ext cx="11125200" cy="9525"/>
            </a:xfrm>
            <a:custGeom>
              <a:avLst/>
              <a:gdLst/>
              <a:ahLst/>
              <a:cxnLst/>
              <a:rect l="l" t="t" r="r" b="b"/>
              <a:pathLst>
                <a:path w="11125200" h="9525">
                  <a:moveTo>
                    <a:pt x="0" y="0"/>
                  </a:moveTo>
                  <a:lnTo>
                    <a:pt x="11125200" y="0"/>
                  </a:lnTo>
                </a:path>
              </a:pathLst>
            </a:custGeom>
            <a:noFill/>
            <a:ln w="9525">
              <a:solidFill>
                <a:srgbClr val="294157">
                  <a:alpha val="75000"/>
                </a:srgbClr>
              </a:solidFill>
            </a:ln>
          </p:spPr>
          <p:txBody>
            <a:bodyPr/>
            <a:lstStyle/>
            <a:p>
              <a:endParaRPr lang="en-US"/>
            </a:p>
          </p:txBody>
        </p:sp>
        <p:sp>
          <p:nvSpPr>
            <p:cNvPr id="77" name="TextBox 77"/>
            <p:cNvSpPr txBox="1"/>
            <p:nvPr/>
          </p:nvSpPr>
          <p:spPr>
            <a:xfrm>
              <a:off x="520065" y="6554152"/>
              <a:ext cx="3576780" cy="213360"/>
            </a:xfrm>
            <a:prstGeom prst="rect">
              <a:avLst/>
            </a:prstGeom>
            <a:noFill/>
            <a:ln>
              <a:noFill/>
            </a:ln>
          </p:spPr>
          <p:txBody>
            <a:bodyPr wrap="none" lIns="0" tIns="0" rIns="0" bIns="0" anchor="t" anchorCtr="0">
              <a:spAutoFit/>
            </a:bodyPr>
            <a:lstStyle/>
            <a:p>
              <a:pPr algn="l"/>
              <a:r>
                <a:rPr lang="zh-CN" sz="1050" dirty="0">
                  <a:solidFill>
                    <a:srgbClr val="708195"/>
                  </a:solidFill>
                  <a:latin typeface="Arial"/>
                  <a:ea typeface="Microsoft YaHei"/>
                  <a:cs typeface="Arial"/>
                </a:rPr>
                <a:t>One platform. Three operational perspectives.</a:t>
              </a:r>
            </a:p>
          </p:txBody>
        </p:sp>
        <p:sp>
          <p:nvSpPr>
            <p:cNvPr id="78" name="TextBox 78"/>
            <p:cNvSpPr txBox="1"/>
            <p:nvPr/>
          </p:nvSpPr>
          <p:spPr>
            <a:xfrm>
              <a:off x="8739235" y="6554152"/>
              <a:ext cx="2932700" cy="213360"/>
            </a:xfrm>
            <a:prstGeom prst="rect">
              <a:avLst/>
            </a:prstGeom>
            <a:noFill/>
            <a:ln>
              <a:noFill/>
            </a:ln>
          </p:spPr>
          <p:txBody>
            <a:bodyPr wrap="none" lIns="0" tIns="0" rIns="0" bIns="0" anchor="t" anchorCtr="0">
              <a:spAutoFit/>
            </a:bodyPr>
            <a:lstStyle/>
            <a:p>
              <a:pPr algn="r"/>
              <a:r>
                <a:rPr lang="zh-CN" sz="1050" dirty="0">
                  <a:solidFill>
                    <a:srgbClr val="708195"/>
                  </a:solidFill>
                  <a:latin typeface="Arial"/>
                  <a:ea typeface="Microsoft YaHei"/>
                  <a:cs typeface="Arial"/>
                </a:rPr>
                <a:t>Production | Maintenance | Management</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barn(inVertical)">
                                      <p:cBhvr>
                                        <p:cTn id="7" dur="400"/>
                                        <p:tgtEl>
                                          <p:spTgt spid="73"/>
                                        </p:tgtEl>
                                      </p:cBhvr>
                                    </p:animEffect>
                                  </p:childTnLst>
                                </p:cTn>
                              </p:par>
                            </p:childTnLst>
                          </p:cTn>
                        </p:par>
                        <p:par>
                          <p:cTn id="8" fill="hold">
                            <p:stCondLst>
                              <p:cond delay="400"/>
                            </p:stCondLst>
                            <p:childTnLst>
                              <p:par>
                                <p:cTn id="9" presetID="18" presetClass="entr" presetSubtype="12" fill="hold" nodeType="afterEffect">
                                  <p:stCondLst>
                                    <p:cond delay="0"/>
                                  </p:stCondLst>
                                  <p:childTnLst>
                                    <p:set>
                                      <p:cBhvr>
                                        <p:cTn id="10" dur="1" fill="hold">
                                          <p:stCondLst>
                                            <p:cond delay="0"/>
                                          </p:stCondLst>
                                        </p:cTn>
                                        <p:tgtEl>
                                          <p:spTgt spid="75"/>
                                        </p:tgtEl>
                                        <p:attrNameLst>
                                          <p:attrName>style.visibility</p:attrName>
                                        </p:attrNameLst>
                                      </p:cBhvr>
                                      <p:to>
                                        <p:strVal val="visible"/>
                                      </p:to>
                                    </p:set>
                                    <p:animEffect transition="in" filter="strips(downRight)">
                                      <p:cBhvr>
                                        <p:cTn id="11" dur="4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P spid="7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gradFill>
              <a:gsLst>
                <a:gs pos="0">
                  <a:srgbClr val="07111F"/>
                </a:gs>
                <a:gs pos="55000">
                  <a:srgbClr val="0E1D2E"/>
                </a:gs>
                <a:gs pos="100000">
                  <a:srgbClr val="102B44"/>
                </a:gs>
              </a:gsLst>
              <a:lin ang="2700000" scaled="1"/>
            </a:gradFill>
            <a:ln>
              <a:noFill/>
            </a:ln>
          </p:spPr>
          <p:txBody>
            <a:bodyPr/>
            <a:lstStyle/>
            <a:p>
              <a:endParaRPr lang="en-US"/>
            </a:p>
          </p:txBody>
        </p:sp>
        <p:sp>
          <p:nvSpPr>
            <p:cNvPr id="3" name="Rectangle 3"/>
            <p:cNvSpPr/>
            <p:nvPr/>
          </p:nvSpPr>
          <p:spPr>
            <a:xfrm>
              <a:off x="0" y="0"/>
              <a:ext cx="12192000" cy="6858000"/>
            </a:xfrm>
            <a:prstGeom prst="rect">
              <a:avLst/>
            </a:prstGeom>
            <a:gradFill>
              <a:gsLst>
                <a:gs pos="0">
                  <a:srgbClr val="2EA7FF">
                    <a:alpha val="22000"/>
                  </a:srgbClr>
                </a:gs>
                <a:gs pos="100000">
                  <a:srgbClr val="2EA7FF">
                    <a:alpha val="0"/>
                  </a:srgbClr>
                </a:gs>
              </a:gsLst>
              <a:path path="circle">
                <a:fillToRect l="50000" t="50000" r="50000" b="50000"/>
              </a:path>
            </a:gradFill>
            <a:ln>
              <a:noFill/>
            </a:ln>
          </p:spPr>
          <p:txBody>
            <a:bodyPr/>
            <a:lstStyle/>
            <a:p>
              <a:endParaRPr lang="en-US"/>
            </a:p>
          </p:txBody>
        </p:sp>
      </p:grpSp>
      <p:grpSp>
        <p:nvGrpSpPr>
          <p:cNvPr id="7" name="Group 7"/>
          <p:cNvGrpSpPr/>
          <p:nvPr/>
        </p:nvGrpSpPr>
        <p:grpSpPr>
          <a:xfrm>
            <a:off x="542925" y="433388"/>
            <a:ext cx="7661041" cy="1214437"/>
            <a:chOff x="542925" y="433388"/>
            <a:chExt cx="7661041" cy="1214437"/>
          </a:xfrm>
        </p:grpSpPr>
        <p:sp>
          <p:nvSpPr>
            <p:cNvPr id="5" name="TextBox 5"/>
            <p:cNvSpPr txBox="1"/>
            <p:nvPr/>
          </p:nvSpPr>
          <p:spPr>
            <a:xfrm>
              <a:off x="542925" y="433388"/>
              <a:ext cx="7661041" cy="1066800"/>
            </a:xfrm>
            <a:prstGeom prst="rect">
              <a:avLst/>
            </a:prstGeom>
            <a:noFill/>
            <a:ln>
              <a:noFill/>
            </a:ln>
          </p:spPr>
          <p:txBody>
            <a:bodyPr wrap="none" lIns="0" tIns="0" rIns="0" bIns="0" anchor="t" anchorCtr="0">
              <a:spAutoFit/>
            </a:bodyPr>
            <a:lstStyle/>
            <a:p>
              <a:pPr algn="l"/>
              <a:r>
                <a:rPr lang="zh-CN" sz="5250" b="1" dirty="0">
                  <a:solidFill>
                    <a:srgbClr val="F4F8FF"/>
                  </a:solidFill>
                  <a:latin typeface="Arial"/>
                  <a:ea typeface="Microsoft YaHei"/>
                  <a:cs typeface="Arial"/>
                </a:rPr>
                <a:t>Live Demonstration</a:t>
              </a:r>
            </a:p>
          </p:txBody>
        </p:sp>
        <p:sp>
          <p:nvSpPr>
            <p:cNvPr id="6" name="TextBox 6"/>
            <p:cNvSpPr txBox="1"/>
            <p:nvPr/>
          </p:nvSpPr>
          <p:spPr>
            <a:xfrm>
              <a:off x="640080" y="1221105"/>
              <a:ext cx="6461941" cy="426720"/>
            </a:xfrm>
            <a:prstGeom prst="rect">
              <a:avLst/>
            </a:prstGeom>
            <a:noFill/>
            <a:ln>
              <a:noFill/>
            </a:ln>
          </p:spPr>
          <p:txBody>
            <a:bodyPr wrap="none" lIns="0" tIns="0" rIns="0" bIns="0" anchor="t" anchorCtr="0">
              <a:spAutoFit/>
            </a:bodyPr>
            <a:lstStyle/>
            <a:p>
              <a:pPr algn="l"/>
              <a:r>
                <a:rPr lang="zh-CN" sz="2100" b="1" dirty="0">
                  <a:solidFill>
                    <a:srgbClr val="A8B7C8"/>
                  </a:solidFill>
                  <a:latin typeface="Arial"/>
                  <a:ea typeface="Microsoft YaHei"/>
                  <a:cs typeface="Arial"/>
                </a:rPr>
                <a:t>Experience Real Manufacturing Use Cases</a:t>
              </a:r>
            </a:p>
          </p:txBody>
        </p:sp>
      </p:grpSp>
      <p:grpSp>
        <p:nvGrpSpPr>
          <p:cNvPr id="31" name="Group 31"/>
          <p:cNvGrpSpPr/>
          <p:nvPr/>
        </p:nvGrpSpPr>
        <p:grpSpPr>
          <a:xfrm>
            <a:off x="666750" y="2076450"/>
            <a:ext cx="4107771" cy="3048000"/>
            <a:chOff x="666750" y="2076450"/>
            <a:chExt cx="4107771" cy="3048000"/>
          </a:xfrm>
        </p:grpSpPr>
        <p:sp>
          <p:nvSpPr>
            <p:cNvPr id="8" name="Freeform 8"/>
            <p:cNvSpPr/>
            <p:nvPr/>
          </p:nvSpPr>
          <p:spPr>
            <a:xfrm>
              <a:off x="666750" y="2076450"/>
              <a:ext cx="3877056" cy="876300"/>
            </a:xfrm>
            <a:custGeom>
              <a:avLst/>
              <a:gdLst/>
              <a:ahLst/>
              <a:cxnLst/>
              <a:rect l="l" t="t" r="r" b="b"/>
              <a:pathLst>
                <a:path w="3381375" h="876300">
                  <a:moveTo>
                    <a:pt x="152400" y="0"/>
                  </a:moveTo>
                  <a:lnTo>
                    <a:pt x="3228975" y="0"/>
                  </a:lnTo>
                  <a:cubicBezTo>
                    <a:pt x="3313143" y="0"/>
                    <a:pt x="3381375" y="68232"/>
                    <a:pt x="3381375" y="152400"/>
                  </a:cubicBezTo>
                  <a:lnTo>
                    <a:pt x="3381375" y="723900"/>
                  </a:lnTo>
                  <a:cubicBezTo>
                    <a:pt x="3381375" y="808068"/>
                    <a:pt x="3313143" y="876300"/>
                    <a:pt x="3228975" y="876300"/>
                  </a:cubicBezTo>
                  <a:lnTo>
                    <a:pt x="152400" y="876300"/>
                  </a:lnTo>
                  <a:cubicBezTo>
                    <a:pt x="68232" y="876300"/>
                    <a:pt x="0" y="808068"/>
                    <a:pt x="0" y="723900"/>
                  </a:cubicBezTo>
                  <a:lnTo>
                    <a:pt x="0" y="152400"/>
                  </a:lnTo>
                  <a:cubicBezTo>
                    <a:pt x="0" y="68232"/>
                    <a:pt x="68232" y="0"/>
                    <a:pt x="152400" y="0"/>
                  </a:cubicBezTo>
                  <a:close/>
                </a:path>
              </a:pathLst>
            </a:custGeom>
            <a:solidFill>
              <a:srgbClr val="12263A"/>
            </a:solidFill>
            <a:ln w="9525">
              <a:solidFill>
                <a:srgbClr val="294157"/>
              </a:solidFill>
            </a:ln>
          </p:spPr>
          <p:txBody>
            <a:bodyPr/>
            <a:lstStyle/>
            <a:p>
              <a:endParaRPr lang="en-US"/>
            </a:p>
          </p:txBody>
        </p:sp>
        <p:grpSp>
          <p:nvGrpSpPr>
            <p:cNvPr id="13" name="Group 13"/>
            <p:cNvGrpSpPr/>
            <p:nvPr/>
          </p:nvGrpSpPr>
          <p:grpSpPr>
            <a:xfrm>
              <a:off x="962025" y="2387337"/>
              <a:ext cx="301625" cy="279663"/>
              <a:chOff x="962025" y="2387337"/>
              <a:chExt cx="301625" cy="279663"/>
            </a:xfrm>
          </p:grpSpPr>
          <p:sp>
            <p:nvSpPr>
              <p:cNvPr id="9" name="Freeform 9"/>
              <p:cNvSpPr/>
              <p:nvPr/>
            </p:nvSpPr>
            <p:spPr>
              <a:xfrm>
                <a:off x="977900" y="2466975"/>
                <a:ext cx="158750" cy="190500"/>
              </a:xfrm>
              <a:custGeom>
                <a:avLst/>
                <a:gdLst/>
                <a:ahLst/>
                <a:cxnLst/>
                <a:rect l="l" t="t" r="r" b="b"/>
                <a:pathLst>
                  <a:path w="158750" h="190500">
                    <a:moveTo>
                      <a:pt x="0" y="190500"/>
                    </a:moveTo>
                    <a:cubicBezTo>
                      <a:pt x="18209" y="126683"/>
                      <a:pt x="31480" y="63071"/>
                      <a:pt x="31750" y="0"/>
                    </a:cubicBezTo>
                    <a:lnTo>
                      <a:pt x="127000" y="0"/>
                    </a:lnTo>
                    <a:cubicBezTo>
                      <a:pt x="127270" y="63071"/>
                      <a:pt x="140541" y="126683"/>
                      <a:pt x="158750" y="190500"/>
                    </a:cubicBezTo>
                  </a:path>
                </a:pathLst>
              </a:custGeom>
              <a:noFill/>
              <a:ln w="19050">
                <a:solidFill>
                  <a:srgbClr val="2EA7FF"/>
                </a:solidFill>
              </a:ln>
            </p:spPr>
            <p:txBody>
              <a:bodyPr/>
              <a:lstStyle/>
              <a:p>
                <a:endParaRPr lang="en-US"/>
              </a:p>
            </p:txBody>
          </p:sp>
          <p:sp>
            <p:nvSpPr>
              <p:cNvPr id="10" name="Freeform 10"/>
              <p:cNvSpPr/>
              <p:nvPr/>
            </p:nvSpPr>
            <p:spPr>
              <a:xfrm>
                <a:off x="1112838" y="2530475"/>
                <a:ext cx="103187" cy="127000"/>
              </a:xfrm>
              <a:custGeom>
                <a:avLst/>
                <a:gdLst/>
                <a:ahLst/>
                <a:cxnLst/>
                <a:rect l="l" t="t" r="r" b="b"/>
                <a:pathLst>
                  <a:path w="103187" h="127000">
                    <a:moveTo>
                      <a:pt x="0" y="0"/>
                    </a:moveTo>
                    <a:lnTo>
                      <a:pt x="71438" y="0"/>
                    </a:lnTo>
                    <a:cubicBezTo>
                      <a:pt x="71834" y="41465"/>
                      <a:pt x="85630" y="84074"/>
                      <a:pt x="103187" y="127000"/>
                    </a:cubicBezTo>
                  </a:path>
                </a:pathLst>
              </a:custGeom>
              <a:noFill/>
              <a:ln w="19050">
                <a:solidFill>
                  <a:srgbClr val="2EA7FF"/>
                </a:solidFill>
              </a:ln>
            </p:spPr>
            <p:txBody>
              <a:bodyPr/>
              <a:lstStyle/>
              <a:p>
                <a:endParaRPr lang="en-US"/>
              </a:p>
            </p:txBody>
          </p:sp>
          <p:sp>
            <p:nvSpPr>
              <p:cNvPr id="11" name="Freeform 11"/>
              <p:cNvSpPr/>
              <p:nvPr/>
            </p:nvSpPr>
            <p:spPr>
              <a:xfrm>
                <a:off x="1057275" y="2387337"/>
                <a:ext cx="190500" cy="32276"/>
              </a:xfrm>
              <a:custGeom>
                <a:avLst/>
                <a:gdLst/>
                <a:ahLst/>
                <a:cxnLst/>
                <a:rect l="l" t="t" r="r" b="b"/>
                <a:pathLst>
                  <a:path w="190500" h="32276">
                    <a:moveTo>
                      <a:pt x="0" y="16138"/>
                    </a:moveTo>
                    <a:cubicBezTo>
                      <a:pt x="7321" y="5938"/>
                      <a:pt x="19197" y="0"/>
                      <a:pt x="31750" y="263"/>
                    </a:cubicBezTo>
                    <a:cubicBezTo>
                      <a:pt x="44303" y="0"/>
                      <a:pt x="56179" y="5938"/>
                      <a:pt x="63500" y="16138"/>
                    </a:cubicBezTo>
                    <a:cubicBezTo>
                      <a:pt x="70821" y="26338"/>
                      <a:pt x="82697" y="32276"/>
                      <a:pt x="95250" y="32013"/>
                    </a:cubicBezTo>
                    <a:cubicBezTo>
                      <a:pt x="107803" y="32276"/>
                      <a:pt x="119679" y="26338"/>
                      <a:pt x="127000" y="16138"/>
                    </a:cubicBezTo>
                    <a:cubicBezTo>
                      <a:pt x="134321" y="5938"/>
                      <a:pt x="146197" y="0"/>
                      <a:pt x="158750" y="263"/>
                    </a:cubicBezTo>
                    <a:cubicBezTo>
                      <a:pt x="171303" y="0"/>
                      <a:pt x="183179" y="5938"/>
                      <a:pt x="190500" y="16138"/>
                    </a:cubicBezTo>
                  </a:path>
                </a:pathLst>
              </a:custGeom>
              <a:noFill/>
              <a:ln w="19050">
                <a:solidFill>
                  <a:srgbClr val="2EA7FF"/>
                </a:solidFill>
              </a:ln>
            </p:spPr>
            <p:txBody>
              <a:bodyPr/>
              <a:lstStyle/>
              <a:p>
                <a:endParaRPr lang="en-US"/>
              </a:p>
            </p:txBody>
          </p:sp>
          <p:sp>
            <p:nvSpPr>
              <p:cNvPr id="12" name="Freeform 12"/>
              <p:cNvSpPr/>
              <p:nvPr/>
            </p:nvSpPr>
            <p:spPr>
              <a:xfrm>
                <a:off x="962025" y="2657475"/>
                <a:ext cx="301625" cy="9525"/>
              </a:xfrm>
              <a:custGeom>
                <a:avLst/>
                <a:gdLst/>
                <a:ahLst/>
                <a:cxnLst/>
                <a:rect l="l" t="t" r="r" b="b"/>
                <a:pathLst>
                  <a:path w="301625" h="9525">
                    <a:moveTo>
                      <a:pt x="0" y="0"/>
                    </a:moveTo>
                    <a:lnTo>
                      <a:pt x="301625" y="0"/>
                    </a:lnTo>
                  </a:path>
                </a:pathLst>
              </a:custGeom>
              <a:noFill/>
              <a:ln w="19050">
                <a:solidFill>
                  <a:srgbClr val="2EA7FF"/>
                </a:solidFill>
              </a:ln>
            </p:spPr>
            <p:txBody>
              <a:bodyPr/>
              <a:lstStyle/>
              <a:p>
                <a:endParaRPr lang="en-US"/>
              </a:p>
            </p:txBody>
          </p:sp>
        </p:grpSp>
        <p:sp>
          <p:nvSpPr>
            <p:cNvPr id="14" name="TextBox 14"/>
            <p:cNvSpPr txBox="1"/>
            <p:nvPr/>
          </p:nvSpPr>
          <p:spPr>
            <a:xfrm>
              <a:off x="1443990" y="2406015"/>
              <a:ext cx="3123505" cy="365760"/>
            </a:xfrm>
            <a:prstGeom prst="rect">
              <a:avLst/>
            </a:prstGeom>
            <a:noFill/>
            <a:ln>
              <a:noFill/>
            </a:ln>
          </p:spPr>
          <p:txBody>
            <a:bodyPr wrap="none" lIns="0" tIns="0" rIns="0" bIns="0" anchor="t" anchorCtr="0">
              <a:spAutoFit/>
            </a:bodyPr>
            <a:lstStyle/>
            <a:p>
              <a:pPr algn="l"/>
              <a:r>
                <a:rPr lang="zh-CN" sz="1800" b="1" dirty="0">
                  <a:solidFill>
                    <a:srgbClr val="F4F8FF"/>
                  </a:solidFill>
                  <a:latin typeface="Arial"/>
                  <a:ea typeface="Microsoft YaHei"/>
                  <a:cs typeface="Arial"/>
                </a:rPr>
                <a:t>Production Intelligence</a:t>
              </a:r>
            </a:p>
          </p:txBody>
        </p:sp>
        <p:sp>
          <p:nvSpPr>
            <p:cNvPr id="15" name="Freeform 15"/>
            <p:cNvSpPr/>
            <p:nvPr/>
          </p:nvSpPr>
          <p:spPr>
            <a:xfrm>
              <a:off x="666750" y="3162300"/>
              <a:ext cx="3877056" cy="876300"/>
            </a:xfrm>
            <a:custGeom>
              <a:avLst/>
              <a:gdLst/>
              <a:ahLst/>
              <a:cxnLst/>
              <a:rect l="l" t="t" r="r" b="b"/>
              <a:pathLst>
                <a:path w="3381375" h="876300">
                  <a:moveTo>
                    <a:pt x="152400" y="0"/>
                  </a:moveTo>
                  <a:lnTo>
                    <a:pt x="3228975" y="0"/>
                  </a:lnTo>
                  <a:cubicBezTo>
                    <a:pt x="3313143" y="0"/>
                    <a:pt x="3381375" y="68232"/>
                    <a:pt x="3381375" y="152400"/>
                  </a:cubicBezTo>
                  <a:lnTo>
                    <a:pt x="3381375" y="723900"/>
                  </a:lnTo>
                  <a:cubicBezTo>
                    <a:pt x="3381375" y="808068"/>
                    <a:pt x="3313143" y="876300"/>
                    <a:pt x="3228975" y="876300"/>
                  </a:cubicBezTo>
                  <a:lnTo>
                    <a:pt x="152400" y="876300"/>
                  </a:lnTo>
                  <a:cubicBezTo>
                    <a:pt x="68232" y="876300"/>
                    <a:pt x="0" y="808068"/>
                    <a:pt x="0" y="723900"/>
                  </a:cubicBezTo>
                  <a:lnTo>
                    <a:pt x="0" y="152400"/>
                  </a:lnTo>
                  <a:cubicBezTo>
                    <a:pt x="0" y="68232"/>
                    <a:pt x="68232" y="0"/>
                    <a:pt x="152400" y="0"/>
                  </a:cubicBezTo>
                  <a:close/>
                </a:path>
              </a:pathLst>
            </a:custGeom>
            <a:solidFill>
              <a:srgbClr val="12263A"/>
            </a:solidFill>
            <a:ln w="9525">
              <a:solidFill>
                <a:srgbClr val="294157"/>
              </a:solidFill>
            </a:ln>
          </p:spPr>
          <p:txBody>
            <a:bodyPr/>
            <a:lstStyle/>
            <a:p>
              <a:endParaRPr lang="en-US"/>
            </a:p>
          </p:txBody>
        </p:sp>
        <p:grpSp>
          <p:nvGrpSpPr>
            <p:cNvPr id="22" name="Group 22"/>
            <p:cNvGrpSpPr/>
            <p:nvPr/>
          </p:nvGrpSpPr>
          <p:grpSpPr>
            <a:xfrm>
              <a:off x="962025" y="3455915"/>
              <a:ext cx="287410" cy="287410"/>
              <a:chOff x="962025" y="3455915"/>
              <a:chExt cx="287410" cy="287410"/>
            </a:xfrm>
          </p:grpSpPr>
          <p:sp>
            <p:nvSpPr>
              <p:cNvPr id="16" name="Freeform 16"/>
              <p:cNvSpPr/>
              <p:nvPr/>
            </p:nvSpPr>
            <p:spPr>
              <a:xfrm>
                <a:off x="962025" y="3455915"/>
                <a:ext cx="287410" cy="287410"/>
              </a:xfrm>
              <a:custGeom>
                <a:avLst/>
                <a:gdLst/>
                <a:ahLst/>
                <a:cxnLst/>
                <a:rect l="l" t="t" r="r" b="b"/>
                <a:pathLst>
                  <a:path w="287410" h="287410">
                    <a:moveTo>
                      <a:pt x="0" y="287410"/>
                    </a:moveTo>
                    <a:lnTo>
                      <a:pt x="63500" y="287410"/>
                    </a:lnTo>
                    <a:lnTo>
                      <a:pt x="269875" y="81035"/>
                    </a:lnTo>
                    <a:cubicBezTo>
                      <a:pt x="287410" y="63500"/>
                      <a:pt x="287410" y="35070"/>
                      <a:pt x="269875" y="17535"/>
                    </a:cubicBezTo>
                    <a:cubicBezTo>
                      <a:pt x="252340" y="0"/>
                      <a:pt x="223910" y="0"/>
                      <a:pt x="206375" y="17535"/>
                    </a:cubicBezTo>
                    <a:lnTo>
                      <a:pt x="0" y="223910"/>
                    </a:lnTo>
                    <a:lnTo>
                      <a:pt x="0" y="287410"/>
                    </a:lnTo>
                  </a:path>
                </a:pathLst>
              </a:custGeom>
              <a:noFill/>
              <a:ln w="19050">
                <a:solidFill>
                  <a:srgbClr val="FFB020"/>
                </a:solidFill>
              </a:ln>
            </p:spPr>
            <p:txBody>
              <a:bodyPr/>
              <a:lstStyle/>
              <a:p>
                <a:endParaRPr lang="en-US"/>
              </a:p>
            </p:txBody>
          </p:sp>
          <p:sp>
            <p:nvSpPr>
              <p:cNvPr id="17" name="Freeform 17"/>
              <p:cNvSpPr/>
              <p:nvPr/>
            </p:nvSpPr>
            <p:spPr>
              <a:xfrm>
                <a:off x="1144588" y="3497262"/>
                <a:ext cx="63500" cy="63500"/>
              </a:xfrm>
              <a:custGeom>
                <a:avLst/>
                <a:gdLst/>
                <a:ahLst/>
                <a:cxnLst/>
                <a:rect l="l" t="t" r="r" b="b"/>
                <a:pathLst>
                  <a:path w="63500" h="63500">
                    <a:moveTo>
                      <a:pt x="0" y="0"/>
                    </a:moveTo>
                    <a:lnTo>
                      <a:pt x="63500" y="63500"/>
                    </a:lnTo>
                  </a:path>
                </a:pathLst>
              </a:custGeom>
              <a:noFill/>
              <a:ln w="19050">
                <a:solidFill>
                  <a:srgbClr val="FFB020"/>
                </a:solidFill>
              </a:ln>
            </p:spPr>
            <p:txBody>
              <a:bodyPr/>
              <a:lstStyle/>
              <a:p>
                <a:endParaRPr lang="en-US"/>
              </a:p>
            </p:txBody>
          </p:sp>
          <p:sp>
            <p:nvSpPr>
              <p:cNvPr id="18" name="Freeform 18"/>
              <p:cNvSpPr/>
              <p:nvPr/>
            </p:nvSpPr>
            <p:spPr>
              <a:xfrm>
                <a:off x="962025" y="3457575"/>
                <a:ext cx="142875" cy="142875"/>
              </a:xfrm>
              <a:custGeom>
                <a:avLst/>
                <a:gdLst/>
                <a:ahLst/>
                <a:cxnLst/>
                <a:rect l="l" t="t" r="r" b="b"/>
                <a:pathLst>
                  <a:path w="142875" h="142875">
                    <a:moveTo>
                      <a:pt x="142875" y="79375"/>
                    </a:moveTo>
                    <a:lnTo>
                      <a:pt x="63500" y="0"/>
                    </a:lnTo>
                    <a:lnTo>
                      <a:pt x="0" y="63500"/>
                    </a:lnTo>
                    <a:lnTo>
                      <a:pt x="79375" y="142875"/>
                    </a:lnTo>
                  </a:path>
                </a:pathLst>
              </a:custGeom>
              <a:noFill/>
              <a:ln w="19050">
                <a:solidFill>
                  <a:srgbClr val="FFB020"/>
                </a:solidFill>
              </a:ln>
            </p:spPr>
            <p:txBody>
              <a:bodyPr/>
              <a:lstStyle/>
              <a:p>
                <a:endParaRPr lang="en-US"/>
              </a:p>
            </p:txBody>
          </p:sp>
          <p:sp>
            <p:nvSpPr>
              <p:cNvPr id="19" name="Freeform 19"/>
              <p:cNvSpPr/>
              <p:nvPr/>
            </p:nvSpPr>
            <p:spPr>
              <a:xfrm>
                <a:off x="1001712" y="3536950"/>
                <a:ext cx="23812" cy="23812"/>
              </a:xfrm>
              <a:custGeom>
                <a:avLst/>
                <a:gdLst/>
                <a:ahLst/>
                <a:cxnLst/>
                <a:rect l="l" t="t" r="r" b="b"/>
                <a:pathLst>
                  <a:path w="23812" h="23812">
                    <a:moveTo>
                      <a:pt x="23812" y="0"/>
                    </a:moveTo>
                    <a:lnTo>
                      <a:pt x="0" y="23812"/>
                    </a:lnTo>
                  </a:path>
                </a:pathLst>
              </a:custGeom>
              <a:noFill/>
              <a:ln w="19050">
                <a:solidFill>
                  <a:srgbClr val="FFB020"/>
                </a:solidFill>
              </a:ln>
            </p:spPr>
            <p:txBody>
              <a:bodyPr/>
              <a:lstStyle/>
              <a:p>
                <a:endParaRPr lang="en-US"/>
              </a:p>
            </p:txBody>
          </p:sp>
          <p:sp>
            <p:nvSpPr>
              <p:cNvPr id="20" name="Freeform 20"/>
              <p:cNvSpPr/>
              <p:nvPr/>
            </p:nvSpPr>
            <p:spPr>
              <a:xfrm>
                <a:off x="1104900" y="3600450"/>
                <a:ext cx="142875" cy="142875"/>
              </a:xfrm>
              <a:custGeom>
                <a:avLst/>
                <a:gdLst/>
                <a:ahLst/>
                <a:cxnLst/>
                <a:rect l="l" t="t" r="r" b="b"/>
                <a:pathLst>
                  <a:path w="142875" h="142875">
                    <a:moveTo>
                      <a:pt x="63500" y="0"/>
                    </a:moveTo>
                    <a:lnTo>
                      <a:pt x="142875" y="79375"/>
                    </a:lnTo>
                    <a:lnTo>
                      <a:pt x="79375" y="142875"/>
                    </a:lnTo>
                    <a:lnTo>
                      <a:pt x="0" y="63500"/>
                    </a:lnTo>
                  </a:path>
                </a:pathLst>
              </a:custGeom>
              <a:noFill/>
              <a:ln w="19050">
                <a:solidFill>
                  <a:srgbClr val="FFB020"/>
                </a:solidFill>
              </a:ln>
            </p:spPr>
            <p:txBody>
              <a:bodyPr/>
              <a:lstStyle/>
              <a:p>
                <a:endParaRPr lang="en-US"/>
              </a:p>
            </p:txBody>
          </p:sp>
          <p:sp>
            <p:nvSpPr>
              <p:cNvPr id="21" name="Freeform 21"/>
              <p:cNvSpPr/>
              <p:nvPr/>
            </p:nvSpPr>
            <p:spPr>
              <a:xfrm>
                <a:off x="1144588" y="3679825"/>
                <a:ext cx="23812" cy="23812"/>
              </a:xfrm>
              <a:custGeom>
                <a:avLst/>
                <a:gdLst/>
                <a:ahLst/>
                <a:cxnLst/>
                <a:rect l="l" t="t" r="r" b="b"/>
                <a:pathLst>
                  <a:path w="23812" h="23812">
                    <a:moveTo>
                      <a:pt x="23812" y="0"/>
                    </a:moveTo>
                    <a:lnTo>
                      <a:pt x="0" y="23812"/>
                    </a:lnTo>
                  </a:path>
                </a:pathLst>
              </a:custGeom>
              <a:noFill/>
              <a:ln w="19050">
                <a:solidFill>
                  <a:srgbClr val="FFB020"/>
                </a:solidFill>
              </a:ln>
            </p:spPr>
            <p:txBody>
              <a:bodyPr/>
              <a:lstStyle/>
              <a:p>
                <a:endParaRPr lang="en-US"/>
              </a:p>
            </p:txBody>
          </p:sp>
        </p:grpSp>
        <p:sp>
          <p:nvSpPr>
            <p:cNvPr id="23" name="TextBox 23"/>
            <p:cNvSpPr txBox="1"/>
            <p:nvPr/>
          </p:nvSpPr>
          <p:spPr>
            <a:xfrm>
              <a:off x="1443990" y="3491865"/>
              <a:ext cx="3330531" cy="365760"/>
            </a:xfrm>
            <a:prstGeom prst="rect">
              <a:avLst/>
            </a:prstGeom>
            <a:noFill/>
            <a:ln>
              <a:noFill/>
            </a:ln>
          </p:spPr>
          <p:txBody>
            <a:bodyPr wrap="none" lIns="0" tIns="0" rIns="0" bIns="0" anchor="t" anchorCtr="0">
              <a:spAutoFit/>
            </a:bodyPr>
            <a:lstStyle/>
            <a:p>
              <a:pPr algn="l"/>
              <a:r>
                <a:rPr lang="zh-CN" sz="1800" b="1" dirty="0">
                  <a:solidFill>
                    <a:srgbClr val="F4F8FF"/>
                  </a:solidFill>
                  <a:latin typeface="Arial"/>
                  <a:ea typeface="Microsoft YaHei"/>
                  <a:cs typeface="Arial"/>
                </a:rPr>
                <a:t>Maintenance Intelligence</a:t>
              </a:r>
            </a:p>
          </p:txBody>
        </p:sp>
        <p:sp>
          <p:nvSpPr>
            <p:cNvPr id="24" name="Freeform 24"/>
            <p:cNvSpPr/>
            <p:nvPr/>
          </p:nvSpPr>
          <p:spPr>
            <a:xfrm>
              <a:off x="666750" y="4248150"/>
              <a:ext cx="3877056" cy="876300"/>
            </a:xfrm>
            <a:custGeom>
              <a:avLst/>
              <a:gdLst/>
              <a:ahLst/>
              <a:cxnLst/>
              <a:rect l="l" t="t" r="r" b="b"/>
              <a:pathLst>
                <a:path w="3381375" h="876300">
                  <a:moveTo>
                    <a:pt x="152400" y="0"/>
                  </a:moveTo>
                  <a:lnTo>
                    <a:pt x="3228975" y="0"/>
                  </a:lnTo>
                  <a:cubicBezTo>
                    <a:pt x="3313143" y="0"/>
                    <a:pt x="3381375" y="68232"/>
                    <a:pt x="3381375" y="152400"/>
                  </a:cubicBezTo>
                  <a:lnTo>
                    <a:pt x="3381375" y="723900"/>
                  </a:lnTo>
                  <a:cubicBezTo>
                    <a:pt x="3381375" y="808068"/>
                    <a:pt x="3313143" y="876300"/>
                    <a:pt x="3228975" y="876300"/>
                  </a:cubicBezTo>
                  <a:lnTo>
                    <a:pt x="152400" y="876300"/>
                  </a:lnTo>
                  <a:cubicBezTo>
                    <a:pt x="68232" y="876300"/>
                    <a:pt x="0" y="808068"/>
                    <a:pt x="0" y="723900"/>
                  </a:cubicBezTo>
                  <a:lnTo>
                    <a:pt x="0" y="152400"/>
                  </a:lnTo>
                  <a:cubicBezTo>
                    <a:pt x="0" y="68232"/>
                    <a:pt x="68232" y="0"/>
                    <a:pt x="152400" y="0"/>
                  </a:cubicBezTo>
                  <a:close/>
                </a:path>
              </a:pathLst>
            </a:custGeom>
            <a:solidFill>
              <a:srgbClr val="12263A"/>
            </a:solidFill>
            <a:ln w="9525">
              <a:solidFill>
                <a:srgbClr val="294157"/>
              </a:solidFill>
            </a:ln>
          </p:spPr>
          <p:txBody>
            <a:bodyPr/>
            <a:lstStyle/>
            <a:p>
              <a:endParaRPr lang="en-US"/>
            </a:p>
          </p:txBody>
        </p:sp>
        <p:grpSp>
          <p:nvGrpSpPr>
            <p:cNvPr id="29" name="Group 29"/>
            <p:cNvGrpSpPr/>
            <p:nvPr/>
          </p:nvGrpSpPr>
          <p:grpSpPr>
            <a:xfrm>
              <a:off x="962025" y="4543425"/>
              <a:ext cx="285750" cy="285750"/>
              <a:chOff x="962025" y="4543425"/>
              <a:chExt cx="285750" cy="285750"/>
            </a:xfrm>
          </p:grpSpPr>
          <p:sp>
            <p:nvSpPr>
              <p:cNvPr id="25" name="Freeform 25"/>
              <p:cNvSpPr/>
              <p:nvPr/>
            </p:nvSpPr>
            <p:spPr>
              <a:xfrm>
                <a:off x="993775" y="4543425"/>
                <a:ext cx="127000" cy="127000"/>
              </a:xfrm>
              <a:custGeom>
                <a:avLst/>
                <a:gdLst/>
                <a:ahLst/>
                <a:cxnLst/>
                <a:rect l="l" t="t" r="r" b="b"/>
                <a:pathLst>
                  <a:path w="127000" h="127000">
                    <a:moveTo>
                      <a:pt x="0" y="63500"/>
                    </a:moveTo>
                    <a:cubicBezTo>
                      <a:pt x="0" y="98570"/>
                      <a:pt x="28430" y="127000"/>
                      <a:pt x="63500" y="127000"/>
                    </a:cubicBezTo>
                    <a:cubicBezTo>
                      <a:pt x="98570" y="127000"/>
                      <a:pt x="127000" y="98570"/>
                      <a:pt x="127000" y="63500"/>
                    </a:cubicBezTo>
                    <a:cubicBezTo>
                      <a:pt x="127000" y="28430"/>
                      <a:pt x="98570" y="0"/>
                      <a:pt x="63500" y="0"/>
                    </a:cubicBezTo>
                    <a:cubicBezTo>
                      <a:pt x="28430" y="0"/>
                      <a:pt x="0" y="28430"/>
                      <a:pt x="0" y="63500"/>
                    </a:cubicBezTo>
                  </a:path>
                </a:pathLst>
              </a:custGeom>
              <a:noFill/>
              <a:ln w="19050">
                <a:solidFill>
                  <a:srgbClr val="18E0A8"/>
                </a:solidFill>
              </a:ln>
            </p:spPr>
            <p:txBody>
              <a:bodyPr/>
              <a:lstStyle/>
              <a:p>
                <a:endParaRPr lang="en-US"/>
              </a:p>
            </p:txBody>
          </p:sp>
          <p:sp>
            <p:nvSpPr>
              <p:cNvPr id="26" name="Freeform 26"/>
              <p:cNvSpPr/>
              <p:nvPr/>
            </p:nvSpPr>
            <p:spPr>
              <a:xfrm>
                <a:off x="962025" y="4733925"/>
                <a:ext cx="190500" cy="95250"/>
              </a:xfrm>
              <a:custGeom>
                <a:avLst/>
                <a:gdLst/>
                <a:ahLst/>
                <a:cxnLst/>
                <a:rect l="l" t="t" r="r" b="b"/>
                <a:pathLst>
                  <a:path w="190500" h="95250">
                    <a:moveTo>
                      <a:pt x="0" y="95250"/>
                    </a:moveTo>
                    <a:lnTo>
                      <a:pt x="0" y="63500"/>
                    </a:lnTo>
                    <a:cubicBezTo>
                      <a:pt x="0" y="28430"/>
                      <a:pt x="28430" y="0"/>
                      <a:pt x="63500" y="0"/>
                    </a:cubicBezTo>
                    <a:lnTo>
                      <a:pt x="127000" y="0"/>
                    </a:lnTo>
                    <a:cubicBezTo>
                      <a:pt x="162070" y="0"/>
                      <a:pt x="190500" y="28430"/>
                      <a:pt x="190500" y="63500"/>
                    </a:cubicBezTo>
                    <a:lnTo>
                      <a:pt x="190500" y="95250"/>
                    </a:lnTo>
                  </a:path>
                </a:pathLst>
              </a:custGeom>
              <a:noFill/>
              <a:ln w="19050">
                <a:solidFill>
                  <a:srgbClr val="18E0A8"/>
                </a:solidFill>
              </a:ln>
            </p:spPr>
            <p:txBody>
              <a:bodyPr/>
              <a:lstStyle/>
              <a:p>
                <a:endParaRPr lang="en-US"/>
              </a:p>
            </p:txBody>
          </p:sp>
          <p:sp>
            <p:nvSpPr>
              <p:cNvPr id="27" name="Freeform 27"/>
              <p:cNvSpPr/>
              <p:nvPr/>
            </p:nvSpPr>
            <p:spPr>
              <a:xfrm>
                <a:off x="1168400" y="4545489"/>
                <a:ext cx="47750" cy="123031"/>
              </a:xfrm>
              <a:custGeom>
                <a:avLst/>
                <a:gdLst/>
                <a:ahLst/>
                <a:cxnLst/>
                <a:rect l="l" t="t" r="r" b="b"/>
                <a:pathLst>
                  <a:path w="47750" h="123031">
                    <a:moveTo>
                      <a:pt x="0" y="0"/>
                    </a:moveTo>
                    <a:cubicBezTo>
                      <a:pt x="28097" y="7194"/>
                      <a:pt x="47750" y="32512"/>
                      <a:pt x="47750" y="61516"/>
                    </a:cubicBezTo>
                    <a:cubicBezTo>
                      <a:pt x="47750" y="90519"/>
                      <a:pt x="28097" y="115837"/>
                      <a:pt x="0" y="123031"/>
                    </a:cubicBezTo>
                  </a:path>
                </a:pathLst>
              </a:custGeom>
              <a:noFill/>
              <a:ln w="19050">
                <a:solidFill>
                  <a:srgbClr val="18E0A8"/>
                </a:solidFill>
              </a:ln>
            </p:spPr>
            <p:txBody>
              <a:bodyPr/>
              <a:lstStyle/>
              <a:p>
                <a:endParaRPr lang="en-US"/>
              </a:p>
            </p:txBody>
          </p:sp>
          <p:sp>
            <p:nvSpPr>
              <p:cNvPr id="28" name="Freeform 28"/>
              <p:cNvSpPr/>
              <p:nvPr/>
            </p:nvSpPr>
            <p:spPr>
              <a:xfrm>
                <a:off x="1200150" y="4736306"/>
                <a:ext cx="47625" cy="92869"/>
              </a:xfrm>
              <a:custGeom>
                <a:avLst/>
                <a:gdLst/>
                <a:ahLst/>
                <a:cxnLst/>
                <a:rect l="l" t="t" r="r" b="b"/>
                <a:pathLst>
                  <a:path w="47625" h="92869">
                    <a:moveTo>
                      <a:pt x="47625" y="92869"/>
                    </a:moveTo>
                    <a:lnTo>
                      <a:pt x="47625" y="61119"/>
                    </a:lnTo>
                    <a:cubicBezTo>
                      <a:pt x="47459" y="32299"/>
                      <a:pt x="27905" y="7205"/>
                      <a:pt x="0" y="0"/>
                    </a:cubicBezTo>
                  </a:path>
                </a:pathLst>
              </a:custGeom>
              <a:noFill/>
              <a:ln w="19050">
                <a:solidFill>
                  <a:srgbClr val="18E0A8"/>
                </a:solidFill>
              </a:ln>
            </p:spPr>
            <p:txBody>
              <a:bodyPr/>
              <a:lstStyle/>
              <a:p>
                <a:endParaRPr lang="en-US"/>
              </a:p>
            </p:txBody>
          </p:sp>
        </p:grpSp>
        <p:sp>
          <p:nvSpPr>
            <p:cNvPr id="30" name="TextBox 30"/>
            <p:cNvSpPr txBox="1"/>
            <p:nvPr/>
          </p:nvSpPr>
          <p:spPr>
            <a:xfrm>
              <a:off x="1443990" y="4577715"/>
              <a:ext cx="3302927" cy="365760"/>
            </a:xfrm>
            <a:prstGeom prst="rect">
              <a:avLst/>
            </a:prstGeom>
            <a:noFill/>
            <a:ln>
              <a:noFill/>
            </a:ln>
          </p:spPr>
          <p:txBody>
            <a:bodyPr wrap="none" lIns="0" tIns="0" rIns="0" bIns="0" anchor="t" anchorCtr="0">
              <a:spAutoFit/>
            </a:bodyPr>
            <a:lstStyle/>
            <a:p>
              <a:pPr algn="l"/>
              <a:r>
                <a:rPr lang="zh-CN" sz="1800" b="1" dirty="0">
                  <a:solidFill>
                    <a:srgbClr val="F4F8FF"/>
                  </a:solidFill>
                  <a:latin typeface="Arial"/>
                  <a:ea typeface="Microsoft YaHei"/>
                  <a:cs typeface="Arial"/>
                </a:rPr>
                <a:t>Management Intelligence</a:t>
              </a:r>
            </a:p>
          </p:txBody>
        </p:sp>
      </p:grpSp>
      <p:grpSp>
        <p:nvGrpSpPr>
          <p:cNvPr id="34" name="Group 34"/>
          <p:cNvGrpSpPr/>
          <p:nvPr/>
        </p:nvGrpSpPr>
        <p:grpSpPr>
          <a:xfrm>
            <a:off x="5000625" y="1866900"/>
            <a:ext cx="6096000" cy="2914650"/>
            <a:chOff x="5000625" y="1866900"/>
            <a:chExt cx="6096000" cy="2914650"/>
          </a:xfrm>
        </p:grpSpPr>
        <p:sp>
          <p:nvSpPr>
            <p:cNvPr id="32" name="Freeform 32"/>
            <p:cNvSpPr/>
            <p:nvPr/>
          </p:nvSpPr>
          <p:spPr>
            <a:xfrm>
              <a:off x="5000625" y="1866900"/>
              <a:ext cx="6096000" cy="2914650"/>
            </a:xfrm>
            <a:custGeom>
              <a:avLst/>
              <a:gdLst/>
              <a:ahLst/>
              <a:cxnLst/>
              <a:rect l="l" t="t" r="r" b="b"/>
              <a:pathLst>
                <a:path w="6096000" h="2914650">
                  <a:moveTo>
                    <a:pt x="171450" y="0"/>
                  </a:moveTo>
                  <a:lnTo>
                    <a:pt x="5924550" y="0"/>
                  </a:lnTo>
                  <a:cubicBezTo>
                    <a:pt x="6019239" y="0"/>
                    <a:pt x="6096000" y="76761"/>
                    <a:pt x="6096000" y="171450"/>
                  </a:cubicBezTo>
                  <a:lnTo>
                    <a:pt x="6096000" y="2743200"/>
                  </a:lnTo>
                  <a:cubicBezTo>
                    <a:pt x="6096000" y="2837889"/>
                    <a:pt x="6019239" y="2914650"/>
                    <a:pt x="5924550" y="2914650"/>
                  </a:cubicBezTo>
                  <a:lnTo>
                    <a:pt x="171450" y="2914650"/>
                  </a:lnTo>
                  <a:cubicBezTo>
                    <a:pt x="76761" y="2914650"/>
                    <a:pt x="0" y="2837889"/>
                    <a:pt x="0" y="2743200"/>
                  </a:cubicBezTo>
                  <a:lnTo>
                    <a:pt x="0" y="171450"/>
                  </a:lnTo>
                  <a:cubicBezTo>
                    <a:pt x="0" y="76761"/>
                    <a:pt x="76761" y="0"/>
                    <a:pt x="171450" y="0"/>
                  </a:cubicBezTo>
                  <a:close/>
                </a:path>
              </a:pathLst>
            </a:custGeom>
            <a:solidFill>
              <a:srgbClr val="0E1D2E"/>
            </a:solidFill>
            <a:ln w="9525">
              <a:solidFill>
                <a:srgbClr val="294157"/>
              </a:solidFill>
            </a:ln>
          </p:spPr>
          <p:txBody>
            <a:bodyPr/>
            <a:lstStyle/>
            <a:p>
              <a:endParaRPr lang="en-US"/>
            </a:p>
          </p:txBody>
        </p:sp>
        <p:pic>
          <p:nvPicPr>
            <p:cNvPr id="33" name="Image 33"/>
            <p:cNvPicPr>
              <a:picLocks noChangeAspect="1"/>
            </p:cNvPicPr>
            <p:nvPr/>
          </p:nvPicPr>
          <p:blipFill>
            <a:blip r:embed="rId3"/>
            <a:stretch>
              <a:fillRect/>
            </a:stretch>
          </p:blipFill>
          <p:spPr>
            <a:xfrm>
              <a:off x="5457444" y="2076450"/>
              <a:ext cx="5182362" cy="2495550"/>
            </a:xfrm>
            <a:prstGeom prst="rect">
              <a:avLst/>
            </a:prstGeom>
          </p:spPr>
        </p:pic>
      </p:grpSp>
      <p:grpSp>
        <p:nvGrpSpPr>
          <p:cNvPr id="39" name="Group 39"/>
          <p:cNvGrpSpPr/>
          <p:nvPr/>
        </p:nvGrpSpPr>
        <p:grpSpPr>
          <a:xfrm>
            <a:off x="4971586" y="5105400"/>
            <a:ext cx="5505914" cy="609600"/>
            <a:chOff x="4971586" y="5105400"/>
            <a:chExt cx="5505914" cy="609600"/>
          </a:xfrm>
        </p:grpSpPr>
        <p:sp>
          <p:nvSpPr>
            <p:cNvPr id="35" name="Freeform 35"/>
            <p:cNvSpPr/>
            <p:nvPr/>
          </p:nvSpPr>
          <p:spPr>
            <a:xfrm>
              <a:off x="5048250" y="5105400"/>
              <a:ext cx="2800350" cy="609600"/>
            </a:xfrm>
            <a:custGeom>
              <a:avLst/>
              <a:gdLst/>
              <a:ahLst/>
              <a:cxnLst/>
              <a:rect l="l" t="t" r="r" b="b"/>
              <a:pathLst>
                <a:path w="2800350" h="609600">
                  <a:moveTo>
                    <a:pt x="171450" y="0"/>
                  </a:moveTo>
                  <a:lnTo>
                    <a:pt x="2628900" y="0"/>
                  </a:lnTo>
                  <a:cubicBezTo>
                    <a:pt x="2723589" y="0"/>
                    <a:pt x="2800350" y="76761"/>
                    <a:pt x="2800350" y="171450"/>
                  </a:cubicBezTo>
                  <a:lnTo>
                    <a:pt x="2800350" y="438150"/>
                  </a:lnTo>
                  <a:cubicBezTo>
                    <a:pt x="2800350" y="532839"/>
                    <a:pt x="2723589" y="609600"/>
                    <a:pt x="2628900" y="609600"/>
                  </a:cubicBezTo>
                  <a:lnTo>
                    <a:pt x="171450" y="609600"/>
                  </a:lnTo>
                  <a:cubicBezTo>
                    <a:pt x="76761" y="609600"/>
                    <a:pt x="0" y="532839"/>
                    <a:pt x="0" y="438150"/>
                  </a:cubicBezTo>
                  <a:lnTo>
                    <a:pt x="0" y="171450"/>
                  </a:lnTo>
                  <a:cubicBezTo>
                    <a:pt x="0" y="76761"/>
                    <a:pt x="76761" y="0"/>
                    <a:pt x="171450" y="0"/>
                  </a:cubicBezTo>
                  <a:close/>
                </a:path>
              </a:pathLst>
            </a:custGeom>
            <a:solidFill>
              <a:srgbClr val="00D1FF"/>
            </a:solidFill>
            <a:ln>
              <a:noFill/>
            </a:ln>
          </p:spPr>
          <p:txBody>
            <a:bodyPr/>
            <a:lstStyle/>
            <a:p>
              <a:endParaRPr lang="en-US"/>
            </a:p>
          </p:txBody>
        </p:sp>
        <p:sp>
          <p:nvSpPr>
            <p:cNvPr id="36" name="TextBox 36"/>
            <p:cNvSpPr txBox="1"/>
            <p:nvPr/>
          </p:nvSpPr>
          <p:spPr>
            <a:xfrm>
              <a:off x="4971586" y="5309711"/>
              <a:ext cx="2953679" cy="350520"/>
            </a:xfrm>
            <a:prstGeom prst="rect">
              <a:avLst/>
            </a:prstGeom>
            <a:noFill/>
            <a:ln>
              <a:noFill/>
            </a:ln>
          </p:spPr>
          <p:txBody>
            <a:bodyPr wrap="none" lIns="0" tIns="0" rIns="0" bIns="0" anchor="t" anchorCtr="0">
              <a:spAutoFit/>
            </a:bodyPr>
            <a:lstStyle/>
            <a:p>
              <a:pPr algn="ctr"/>
              <a:r>
                <a:rPr lang="zh-CN" sz="1725" b="1" dirty="0">
                  <a:solidFill>
                    <a:srgbClr val="07111F"/>
                  </a:solidFill>
                  <a:latin typeface="Arial"/>
                  <a:ea typeface="Microsoft YaHei"/>
                  <a:cs typeface="Arial"/>
                </a:rPr>
                <a:t>Visit Our Demo Station</a:t>
              </a:r>
            </a:p>
          </p:txBody>
        </p:sp>
        <p:sp>
          <p:nvSpPr>
            <p:cNvPr id="37" name="Freeform 37"/>
            <p:cNvSpPr/>
            <p:nvPr/>
          </p:nvSpPr>
          <p:spPr>
            <a:xfrm>
              <a:off x="8096250" y="5105400"/>
              <a:ext cx="2381250" cy="609600"/>
            </a:xfrm>
            <a:custGeom>
              <a:avLst/>
              <a:gdLst/>
              <a:ahLst/>
              <a:cxnLst/>
              <a:rect l="l" t="t" r="r" b="b"/>
              <a:pathLst>
                <a:path w="2381250" h="609600">
                  <a:moveTo>
                    <a:pt x="171450" y="0"/>
                  </a:moveTo>
                  <a:lnTo>
                    <a:pt x="2209800" y="0"/>
                  </a:lnTo>
                  <a:cubicBezTo>
                    <a:pt x="2304489" y="0"/>
                    <a:pt x="2381250" y="76761"/>
                    <a:pt x="2381250" y="171450"/>
                  </a:cubicBezTo>
                  <a:lnTo>
                    <a:pt x="2381250" y="438150"/>
                  </a:lnTo>
                  <a:cubicBezTo>
                    <a:pt x="2381250" y="532839"/>
                    <a:pt x="2304489" y="609600"/>
                    <a:pt x="2209800" y="609600"/>
                  </a:cubicBezTo>
                  <a:lnTo>
                    <a:pt x="171450" y="609600"/>
                  </a:lnTo>
                  <a:cubicBezTo>
                    <a:pt x="76761" y="609600"/>
                    <a:pt x="0" y="532839"/>
                    <a:pt x="0" y="438150"/>
                  </a:cubicBezTo>
                  <a:lnTo>
                    <a:pt x="0" y="171450"/>
                  </a:lnTo>
                  <a:cubicBezTo>
                    <a:pt x="0" y="76761"/>
                    <a:pt x="76761" y="0"/>
                    <a:pt x="171450" y="0"/>
                  </a:cubicBezTo>
                  <a:close/>
                </a:path>
              </a:pathLst>
            </a:custGeom>
            <a:solidFill>
              <a:srgbClr val="12263A"/>
            </a:solidFill>
            <a:ln w="19050">
              <a:solidFill>
                <a:srgbClr val="2EA7FF"/>
              </a:solidFill>
            </a:ln>
          </p:spPr>
          <p:txBody>
            <a:bodyPr/>
            <a:lstStyle/>
            <a:p>
              <a:endParaRPr lang="en-US"/>
            </a:p>
          </p:txBody>
        </p:sp>
        <p:sp>
          <p:nvSpPr>
            <p:cNvPr id="38" name="TextBox 38"/>
            <p:cNvSpPr txBox="1"/>
            <p:nvPr/>
          </p:nvSpPr>
          <p:spPr>
            <a:xfrm>
              <a:off x="8299422" y="5309711"/>
              <a:ext cx="1974906" cy="350520"/>
            </a:xfrm>
            <a:prstGeom prst="rect">
              <a:avLst/>
            </a:prstGeom>
            <a:noFill/>
            <a:ln>
              <a:noFill/>
            </a:ln>
          </p:spPr>
          <p:txBody>
            <a:bodyPr wrap="none" lIns="0" tIns="0" rIns="0" bIns="0" anchor="t" anchorCtr="0">
              <a:spAutoFit/>
            </a:bodyPr>
            <a:lstStyle/>
            <a:p>
              <a:pPr algn="ctr"/>
              <a:r>
                <a:rPr lang="zh-CN" sz="1725" b="1" dirty="0">
                  <a:solidFill>
                    <a:srgbClr val="F4F8FF"/>
                  </a:solidFill>
                  <a:latin typeface="Arial"/>
                  <a:ea typeface="Microsoft YaHei"/>
                  <a:cs typeface="Arial"/>
                </a:rPr>
                <a:t>See It In Action</a:t>
              </a:r>
            </a:p>
          </p:txBody>
        </p:sp>
      </p:grpSp>
      <p:grpSp>
        <p:nvGrpSpPr>
          <p:cNvPr id="43" name="Group 43"/>
          <p:cNvGrpSpPr/>
          <p:nvPr/>
        </p:nvGrpSpPr>
        <p:grpSpPr>
          <a:xfrm>
            <a:off x="520065" y="6419850"/>
            <a:ext cx="11151870" cy="347662"/>
            <a:chOff x="520065" y="6419850"/>
            <a:chExt cx="11151870" cy="347662"/>
          </a:xfrm>
        </p:grpSpPr>
        <p:sp>
          <p:nvSpPr>
            <p:cNvPr id="40" name="Line 40"/>
            <p:cNvSpPr/>
            <p:nvPr/>
          </p:nvSpPr>
          <p:spPr>
            <a:xfrm>
              <a:off x="533400" y="6419850"/>
              <a:ext cx="11125200" cy="9525"/>
            </a:xfrm>
            <a:custGeom>
              <a:avLst/>
              <a:gdLst/>
              <a:ahLst/>
              <a:cxnLst/>
              <a:rect l="l" t="t" r="r" b="b"/>
              <a:pathLst>
                <a:path w="11125200" h="9525">
                  <a:moveTo>
                    <a:pt x="0" y="0"/>
                  </a:moveTo>
                  <a:lnTo>
                    <a:pt x="11125200" y="0"/>
                  </a:lnTo>
                </a:path>
              </a:pathLst>
            </a:custGeom>
            <a:noFill/>
            <a:ln w="9525">
              <a:solidFill>
                <a:srgbClr val="294157">
                  <a:alpha val="75000"/>
                </a:srgbClr>
              </a:solidFill>
            </a:ln>
          </p:spPr>
          <p:txBody>
            <a:bodyPr/>
            <a:lstStyle/>
            <a:p>
              <a:endParaRPr lang="en-US"/>
            </a:p>
          </p:txBody>
        </p:sp>
        <p:sp>
          <p:nvSpPr>
            <p:cNvPr id="41" name="TextBox 41"/>
            <p:cNvSpPr txBox="1"/>
            <p:nvPr/>
          </p:nvSpPr>
          <p:spPr>
            <a:xfrm>
              <a:off x="520065" y="6554152"/>
              <a:ext cx="3576780" cy="213360"/>
            </a:xfrm>
            <a:prstGeom prst="rect">
              <a:avLst/>
            </a:prstGeom>
            <a:noFill/>
            <a:ln>
              <a:noFill/>
            </a:ln>
          </p:spPr>
          <p:txBody>
            <a:bodyPr wrap="none" lIns="0" tIns="0" rIns="0" bIns="0" anchor="t" anchorCtr="0">
              <a:spAutoFit/>
            </a:bodyPr>
            <a:lstStyle/>
            <a:p>
              <a:pPr algn="l"/>
              <a:r>
                <a:rPr lang="zh-CN" sz="1050" dirty="0">
                  <a:solidFill>
                    <a:srgbClr val="708195"/>
                  </a:solidFill>
                  <a:latin typeface="Arial"/>
                  <a:ea typeface="Microsoft YaHei"/>
                  <a:cs typeface="Arial"/>
                </a:rPr>
                <a:t>One platform. Three operational perspectives.</a:t>
              </a:r>
            </a:p>
          </p:txBody>
        </p:sp>
        <p:sp>
          <p:nvSpPr>
            <p:cNvPr id="42" name="TextBox 42"/>
            <p:cNvSpPr txBox="1"/>
            <p:nvPr/>
          </p:nvSpPr>
          <p:spPr>
            <a:xfrm>
              <a:off x="8739235" y="6554152"/>
              <a:ext cx="2932700" cy="213360"/>
            </a:xfrm>
            <a:prstGeom prst="rect">
              <a:avLst/>
            </a:prstGeom>
            <a:noFill/>
            <a:ln>
              <a:noFill/>
            </a:ln>
          </p:spPr>
          <p:txBody>
            <a:bodyPr wrap="none" lIns="0" tIns="0" rIns="0" bIns="0" anchor="t" anchorCtr="0">
              <a:spAutoFit/>
            </a:bodyPr>
            <a:lstStyle/>
            <a:p>
              <a:pPr algn="r"/>
              <a:r>
                <a:rPr lang="zh-CN" sz="1050" dirty="0">
                  <a:solidFill>
                    <a:srgbClr val="708195"/>
                  </a:solidFill>
                  <a:latin typeface="Arial"/>
                  <a:ea typeface="Microsoft YaHei"/>
                  <a:cs typeface="Arial"/>
                </a:rPr>
                <a:t>Production | Maintenance | Management</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20" presetClass="entr" presetSubtype="0"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edge">
                                      <p:cBhvr>
                                        <p:cTn id="11" dur="400"/>
                                        <p:tgtEl>
                                          <p:spTgt spid="31"/>
                                        </p:tgtEl>
                                      </p:cBhvr>
                                    </p:animEffect>
                                  </p:childTnLst>
                                </p:cTn>
                              </p:par>
                            </p:childTnLst>
                          </p:cTn>
                        </p:par>
                        <p:par>
                          <p:cTn id="12" fill="hold">
                            <p:stCondLst>
                              <p:cond delay="1800"/>
                            </p:stCondLst>
                            <p:childTnLst>
                              <p:par>
                                <p:cTn id="13" presetID="21" presetClass="entr" presetSubtype="0"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wheel(4)">
                                      <p:cBhvr>
                                        <p:cTn id="15" dur="400"/>
                                        <p:tgtEl>
                                          <p:spTgt spid="34"/>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wipe(left)">
                                      <p:cBhvr>
                                        <p:cTn id="19"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1" grpId="0"/>
      <p:bldP spid="34" grpId="0"/>
      <p:bldP spid="39"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3132</Words>
  <Application>Microsoft Office PowerPoint</Application>
  <PresentationFormat>Widescreen</PresentationFormat>
  <Paragraphs>104</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Anh Phan (BA - Team Lead)</cp:lastModifiedBy>
  <cp:revision>2</cp:revision>
  <dcterms:created xsi:type="dcterms:W3CDTF">2013-01-27T09:14:16Z</dcterms:created>
  <dcterms:modified xsi:type="dcterms:W3CDTF">2026-06-09T09:38:20Z</dcterms:modified>
  <cp:category/>
</cp:coreProperties>
</file>