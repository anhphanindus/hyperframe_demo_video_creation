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6" d="100"/>
          <a:sy n="106" d="100"/>
        </p:scale>
        <p:origin x="756"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02229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Picture this: a critical machine stops on the floor. Your best technician is on leave. The junior engineer stares at the alarm panel not knowing where to start. This is the maintenance pain point every plant manager knows — expert knowledge disappearing exactly when you need it most. But what if the answer was right there, available at any hour?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Here's the AI assistant in action. A technician types in the symptom — machine vibration and abnormal noise. Within seconds, the system searches through thousands of historical cases and returns a diagnosis: bearing wear, confirmed by six similar incidents in your own maintenance history. No phone calls, no manual search, no guesswork.</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result is a fifty percent reduction in mean time to repair. Faster diagnosis because the AI knows your machines. Built-in SOP guidance so any technician can follow the right procedure. And root cause analysis that would previously require a senior expert to perform on-site.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What makes this compound over time is the learning loop. Every ticket closed feeds the knowledge base. Every resolved fault makes the AI smarter for the next one. After six months you have a system that knows your machines. After two years you have institutional memory that outlasts any individual employee.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is what we hear most from maintenance managers: when the senior technician retires, his twenty-five years of expertise walks out the door with him. DxFactory captures that expertise digitally — every diagnosis, every fix, every workaround — and makes it instantly available to whoever needs it next, from day one.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We have a live demo station right here. Type in any machine fault and watch the AI surface real historical cases and root cause suggestions. Our team is standing by to show you how this integrates with your existing systems. Come try it.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D1117"/>
            </a:solidFill>
            <a:ln>
              <a:noFill/>
            </a:ln>
          </p:spPr>
          <p:txBody>
            <a:bodyPr/>
            <a:lstStyle/>
            <a:p>
              <a:endParaRPr lang="en-US"/>
            </a:p>
          </p:txBody>
        </p:sp>
        <p:sp>
          <p:nvSpPr>
            <p:cNvPr id="3" name="Rectangle 3"/>
            <p:cNvSpPr/>
            <p:nvPr/>
          </p:nvSpPr>
          <p:spPr>
            <a:xfrm>
              <a:off x="0" y="0"/>
              <a:ext cx="12192000" cy="6858000"/>
            </a:xfrm>
            <a:prstGeom prst="rect">
              <a:avLst/>
            </a:prstGeom>
            <a:gradFill>
              <a:gsLst>
                <a:gs pos="0">
                  <a:srgbClr val="FF6B35">
                    <a:alpha val="6000"/>
                  </a:srgbClr>
                </a:gs>
                <a:gs pos="100000">
                  <a:srgbClr val="FF6B35">
                    <a:alpha val="0"/>
                  </a:srgbClr>
                </a:gs>
              </a:gsLst>
              <a:path path="circle">
                <a:fillToRect l="50000" t="50000" r="50000" b="50000"/>
              </a:path>
            </a:gradFill>
            <a:ln>
              <a:noFill/>
            </a:ln>
          </p:spPr>
          <p:txBody>
            <a:bodyPr/>
            <a:lstStyle/>
            <a:p>
              <a:endParaRPr lang="en-US"/>
            </a:p>
          </p:txBody>
        </p:sp>
        <p:sp>
          <p:nvSpPr>
            <p:cNvPr id="4" name="Rectangle 4"/>
            <p:cNvSpPr/>
            <p:nvPr/>
          </p:nvSpPr>
          <p:spPr>
            <a:xfrm>
              <a:off x="0" y="0"/>
              <a:ext cx="12192000" cy="6858000"/>
            </a:xfrm>
            <a:prstGeom prst="rect">
              <a:avLst/>
            </a:prstGeom>
            <a:gradFill>
              <a:gsLst>
                <a:gs pos="0">
                  <a:srgbClr val="00BCD4">
                    <a:alpha val="6000"/>
                  </a:srgbClr>
                </a:gs>
                <a:gs pos="100000">
                  <a:srgbClr val="00BCD4">
                    <a:alpha val="0"/>
                  </a:srgbClr>
                </a:gs>
              </a:gsLst>
              <a:path path="circle">
                <a:fillToRect l="50000" t="50000" r="50000" b="50000"/>
              </a:path>
            </a:gradFill>
            <a:ln>
              <a:noFill/>
            </a:ln>
          </p:spPr>
          <p:txBody>
            <a:bodyPr/>
            <a:lstStyle/>
            <a:p>
              <a:endParaRPr lang="en-US"/>
            </a:p>
          </p:txBody>
        </p:sp>
      </p:grpSp>
      <p:grpSp>
        <p:nvGrpSpPr>
          <p:cNvPr id="8" name="Group 8"/>
          <p:cNvGrpSpPr/>
          <p:nvPr/>
        </p:nvGrpSpPr>
        <p:grpSpPr>
          <a:xfrm>
            <a:off x="2517829" y="626745"/>
            <a:ext cx="7156342" cy="1344930"/>
            <a:chOff x="2517829" y="626745"/>
            <a:chExt cx="7156342" cy="1344930"/>
          </a:xfrm>
        </p:grpSpPr>
        <p:sp>
          <p:nvSpPr>
            <p:cNvPr id="6" name="TextBox 6"/>
            <p:cNvSpPr txBox="1"/>
            <p:nvPr/>
          </p:nvSpPr>
          <p:spPr>
            <a:xfrm>
              <a:off x="2517829" y="626745"/>
              <a:ext cx="7156342" cy="792480"/>
            </a:xfrm>
            <a:prstGeom prst="rect">
              <a:avLst/>
            </a:prstGeom>
            <a:noFill/>
            <a:ln>
              <a:noFill/>
            </a:ln>
          </p:spPr>
          <p:txBody>
            <a:bodyPr wrap="none" lIns="0" tIns="0" rIns="0" bIns="0" anchor="t" anchorCtr="0">
              <a:spAutoFit/>
            </a:bodyPr>
            <a:lstStyle/>
            <a:p>
              <a:pPr algn="ctr"/>
              <a:r>
                <a:rPr lang="zh-CN" sz="3900" b="1" dirty="0">
                  <a:solidFill>
                    <a:srgbClr val="E8EDF2"/>
                  </a:solidFill>
                  <a:latin typeface="Impact"/>
                  <a:ea typeface="SimHei"/>
                  <a:cs typeface="Impact"/>
                </a:rPr>
                <a:t>WHEN A MACHINE FAILS...</a:t>
              </a:r>
            </a:p>
          </p:txBody>
        </p:sp>
        <p:sp>
          <p:nvSpPr>
            <p:cNvPr id="7" name="TextBox 7"/>
            <p:cNvSpPr txBox="1"/>
            <p:nvPr/>
          </p:nvSpPr>
          <p:spPr>
            <a:xfrm>
              <a:off x="3564460" y="1179195"/>
              <a:ext cx="5063080" cy="792480"/>
            </a:xfrm>
            <a:prstGeom prst="rect">
              <a:avLst/>
            </a:prstGeom>
            <a:noFill/>
            <a:ln>
              <a:noFill/>
            </a:ln>
          </p:spPr>
          <p:txBody>
            <a:bodyPr wrap="none" lIns="0" tIns="0" rIns="0" bIns="0" anchor="t" anchorCtr="0">
              <a:spAutoFit/>
            </a:bodyPr>
            <a:lstStyle/>
            <a:p>
              <a:pPr algn="ctr"/>
              <a:r>
                <a:rPr lang="zh-CN" sz="3900" b="1" dirty="0">
                  <a:solidFill>
                    <a:srgbClr val="E8EDF2"/>
                  </a:solidFill>
                  <a:latin typeface="Impact"/>
                  <a:ea typeface="SimHei"/>
                  <a:cs typeface="Impact"/>
                </a:rPr>
                <a:t>WHO DO YOU ASK?</a:t>
              </a:r>
            </a:p>
          </p:txBody>
        </p:sp>
      </p:grpSp>
      <p:grpSp>
        <p:nvGrpSpPr>
          <p:cNvPr id="13" name="Group 13"/>
          <p:cNvGrpSpPr/>
          <p:nvPr/>
        </p:nvGrpSpPr>
        <p:grpSpPr>
          <a:xfrm>
            <a:off x="5762625" y="1905000"/>
            <a:ext cx="666750" cy="4286250"/>
            <a:chOff x="5762625" y="1905000"/>
            <a:chExt cx="666750" cy="4286250"/>
          </a:xfrm>
        </p:grpSpPr>
        <p:sp>
          <p:nvSpPr>
            <p:cNvPr id="9" name="Rectangle 9"/>
            <p:cNvSpPr/>
            <p:nvPr/>
          </p:nvSpPr>
          <p:spPr>
            <a:xfrm>
              <a:off x="6057900" y="1905000"/>
              <a:ext cx="19050" cy="4286250"/>
            </a:xfrm>
            <a:prstGeom prst="rect">
              <a:avLst/>
            </a:prstGeom>
            <a:gradFill>
              <a:gsLst>
                <a:gs pos="0">
                  <a:srgbClr val="21262D">
                    <a:alpha val="0"/>
                  </a:srgbClr>
                </a:gs>
                <a:gs pos="50000">
                  <a:srgbClr val="21262D"/>
                </a:gs>
                <a:gs pos="100000">
                  <a:srgbClr val="21262D">
                    <a:alpha val="0"/>
                  </a:srgbClr>
                </a:gs>
              </a:gsLst>
              <a:lin ang="5400000" scaled="1"/>
            </a:gradFill>
            <a:ln>
              <a:noFill/>
            </a:ln>
          </p:spPr>
          <p:txBody>
            <a:bodyPr/>
            <a:lstStyle/>
            <a:p>
              <a:endParaRPr lang="en-US"/>
            </a:p>
          </p:txBody>
        </p:sp>
        <p:sp>
          <p:nvSpPr>
            <p:cNvPr id="10" name="TextBox 10"/>
            <p:cNvSpPr txBox="1"/>
            <p:nvPr/>
          </p:nvSpPr>
          <p:spPr>
            <a:xfrm>
              <a:off x="5902262" y="3996690"/>
              <a:ext cx="387477" cy="365760"/>
            </a:xfrm>
            <a:prstGeom prst="rect">
              <a:avLst/>
            </a:prstGeom>
            <a:noFill/>
            <a:ln>
              <a:noFill/>
            </a:ln>
          </p:spPr>
          <p:txBody>
            <a:bodyPr wrap="none" lIns="0" tIns="0" rIns="0" bIns="0" anchor="t" anchorCtr="0">
              <a:spAutoFit/>
            </a:bodyPr>
            <a:lstStyle/>
            <a:p>
              <a:pPr algn="ctr"/>
              <a:r>
                <a:rPr lang="zh-CN" sz="1800" dirty="0">
                  <a:solidFill>
                    <a:srgbClr val="8B949E"/>
                  </a:solidFill>
                  <a:latin typeface="Arial"/>
                  <a:ea typeface="Microsoft YaHei"/>
                  <a:cs typeface="Arial"/>
                </a:rPr>
                <a:t>OR</a:t>
              </a:r>
            </a:p>
          </p:txBody>
        </p:sp>
        <p:sp>
          <p:nvSpPr>
            <p:cNvPr id="11" name="Rectangle 11"/>
            <p:cNvSpPr/>
            <p:nvPr/>
          </p:nvSpPr>
          <p:spPr>
            <a:xfrm>
              <a:off x="5762625" y="4114800"/>
              <a:ext cx="228600" cy="9525"/>
            </a:xfrm>
            <a:prstGeom prst="rect">
              <a:avLst/>
            </a:prstGeom>
            <a:solidFill>
              <a:srgbClr val="21262D"/>
            </a:solidFill>
            <a:ln>
              <a:noFill/>
            </a:ln>
          </p:spPr>
          <p:txBody>
            <a:bodyPr/>
            <a:lstStyle/>
            <a:p>
              <a:endParaRPr lang="en-US"/>
            </a:p>
          </p:txBody>
        </p:sp>
        <p:sp>
          <p:nvSpPr>
            <p:cNvPr id="12" name="Rectangle 12"/>
            <p:cNvSpPr/>
            <p:nvPr/>
          </p:nvSpPr>
          <p:spPr>
            <a:xfrm>
              <a:off x="6200775" y="4114800"/>
              <a:ext cx="228600" cy="9525"/>
            </a:xfrm>
            <a:prstGeom prst="rect">
              <a:avLst/>
            </a:prstGeom>
            <a:solidFill>
              <a:srgbClr val="21262D"/>
            </a:solidFill>
            <a:ln>
              <a:noFill/>
            </a:ln>
          </p:spPr>
          <p:txBody>
            <a:bodyPr/>
            <a:lstStyle/>
            <a:p>
              <a:endParaRPr lang="en-US"/>
            </a:p>
          </p:txBody>
        </p:sp>
      </p:grpSp>
      <p:grpSp>
        <p:nvGrpSpPr>
          <p:cNvPr id="24" name="Group 24"/>
          <p:cNvGrpSpPr/>
          <p:nvPr/>
        </p:nvGrpSpPr>
        <p:grpSpPr>
          <a:xfrm>
            <a:off x="1504950" y="2000250"/>
            <a:ext cx="2324100" cy="3257550"/>
            <a:chOff x="1504950" y="2000250"/>
            <a:chExt cx="2324100" cy="3257550"/>
          </a:xfrm>
        </p:grpSpPr>
        <p:sp>
          <p:nvSpPr>
            <p:cNvPr id="14" name="Freeform 14"/>
            <p:cNvSpPr/>
            <p:nvPr/>
          </p:nvSpPr>
          <p:spPr>
            <a:xfrm>
              <a:off x="2095500" y="2000250"/>
              <a:ext cx="1143000" cy="1143000"/>
            </a:xfrm>
            <a:custGeom>
              <a:avLst/>
              <a:gdLst/>
              <a:ahLst/>
              <a:cxnLst/>
              <a:rect l="l" t="t" r="r" b="b"/>
              <a:pathLst>
                <a:path w="1143000" h="1143000">
                  <a:moveTo>
                    <a:pt x="714375" y="250031"/>
                  </a:moveTo>
                  <a:lnTo>
                    <a:pt x="932838" y="31567"/>
                  </a:lnTo>
                  <a:cubicBezTo>
                    <a:pt x="887997" y="11289"/>
                    <a:pt x="838226" y="0"/>
                    <a:pt x="785812" y="0"/>
                  </a:cubicBezTo>
                  <a:cubicBezTo>
                    <a:pt x="588544" y="0"/>
                    <a:pt x="428625" y="159919"/>
                    <a:pt x="428625" y="357188"/>
                  </a:cubicBezTo>
                  <a:cubicBezTo>
                    <a:pt x="428625" y="389907"/>
                    <a:pt x="433024" y="421599"/>
                    <a:pt x="441264" y="451705"/>
                  </a:cubicBezTo>
                  <a:lnTo>
                    <a:pt x="0" y="892969"/>
                  </a:lnTo>
                  <a:lnTo>
                    <a:pt x="250031" y="1143000"/>
                  </a:lnTo>
                  <a:lnTo>
                    <a:pt x="691295" y="701736"/>
                  </a:lnTo>
                  <a:cubicBezTo>
                    <a:pt x="721397" y="709976"/>
                    <a:pt x="753094" y="714375"/>
                    <a:pt x="785812" y="714375"/>
                  </a:cubicBezTo>
                  <a:cubicBezTo>
                    <a:pt x="983080" y="714375"/>
                    <a:pt x="1143000" y="554456"/>
                    <a:pt x="1143000" y="357188"/>
                  </a:cubicBezTo>
                  <a:cubicBezTo>
                    <a:pt x="1143000" y="304776"/>
                    <a:pt x="1131713" y="255000"/>
                    <a:pt x="1111432" y="210161"/>
                  </a:cubicBezTo>
                  <a:lnTo>
                    <a:pt x="892969" y="428625"/>
                  </a:lnTo>
                  <a:lnTo>
                    <a:pt x="714375" y="428625"/>
                  </a:lnTo>
                  <a:lnTo>
                    <a:pt x="714375" y="250031"/>
                  </a:lnTo>
                  <a:close/>
                </a:path>
              </a:pathLst>
            </a:custGeom>
            <a:solidFill>
              <a:srgbClr val="FF6B35"/>
            </a:solidFill>
            <a:ln>
              <a:noFill/>
            </a:ln>
          </p:spPr>
          <p:txBody>
            <a:bodyPr/>
            <a:lstStyle/>
            <a:p>
              <a:endParaRPr lang="en-US"/>
            </a:p>
          </p:txBody>
        </p:sp>
        <p:sp>
          <p:nvSpPr>
            <p:cNvPr id="15" name="TextBox 15"/>
            <p:cNvSpPr txBox="1"/>
            <p:nvPr/>
          </p:nvSpPr>
          <p:spPr>
            <a:xfrm>
              <a:off x="1804511" y="3343275"/>
              <a:ext cx="1724978" cy="304800"/>
            </a:xfrm>
            <a:prstGeom prst="rect">
              <a:avLst/>
            </a:prstGeom>
            <a:noFill/>
            <a:ln>
              <a:noFill/>
            </a:ln>
          </p:spPr>
          <p:txBody>
            <a:bodyPr wrap="none" lIns="0" tIns="0" rIns="0" bIns="0" anchor="t" anchorCtr="0">
              <a:spAutoFit/>
            </a:bodyPr>
            <a:lstStyle/>
            <a:p>
              <a:pPr algn="ctr"/>
              <a:r>
                <a:rPr lang="zh-CN" sz="1500" dirty="0">
                  <a:solidFill>
                    <a:srgbClr val="FF6B35"/>
                  </a:solidFill>
                  <a:latin typeface="Impact"/>
                  <a:ea typeface="SimHei"/>
                  <a:cs typeface="Impact"/>
                </a:rPr>
                <a:t>MACHINE FAILURE</a:t>
              </a:r>
            </a:p>
          </p:txBody>
        </p:sp>
        <p:sp>
          <p:nvSpPr>
            <p:cNvPr id="16" name="Rectangle 16"/>
            <p:cNvSpPr/>
            <p:nvPr/>
          </p:nvSpPr>
          <p:spPr>
            <a:xfrm>
              <a:off x="1714500" y="3695700"/>
              <a:ext cx="1905000" cy="19050"/>
            </a:xfrm>
            <a:prstGeom prst="rect">
              <a:avLst/>
            </a:prstGeom>
            <a:solidFill>
              <a:srgbClr val="21262D"/>
            </a:solidFill>
            <a:ln>
              <a:noFill/>
            </a:ln>
          </p:spPr>
          <p:txBody>
            <a:bodyPr/>
            <a:lstStyle/>
            <a:p>
              <a:endParaRPr lang="en-US"/>
            </a:p>
          </p:txBody>
        </p:sp>
        <p:grpSp>
          <p:nvGrpSpPr>
            <p:cNvPr id="19" name="Group 19"/>
            <p:cNvGrpSpPr/>
            <p:nvPr/>
          </p:nvGrpSpPr>
          <p:grpSpPr>
            <a:xfrm>
              <a:off x="2362200" y="3857625"/>
              <a:ext cx="609600" cy="609600"/>
              <a:chOff x="2362200" y="3857625"/>
              <a:chExt cx="609600" cy="609600"/>
            </a:xfrm>
          </p:grpSpPr>
          <p:sp>
            <p:nvSpPr>
              <p:cNvPr id="17" name="Freeform 17"/>
              <p:cNvSpPr/>
              <p:nvPr/>
            </p:nvSpPr>
            <p:spPr>
              <a:xfrm>
                <a:off x="2571750" y="4010025"/>
                <a:ext cx="190500" cy="190500"/>
              </a:xfrm>
              <a:custGeom>
                <a:avLst/>
                <a:gdLst/>
                <a:ahLst/>
                <a:cxnLst/>
                <a:rect l="l" t="t" r="r" b="b"/>
                <a:pathLst>
                  <a:path w="190500" h="190500">
                    <a:moveTo>
                      <a:pt x="95250" y="190500"/>
                    </a:moveTo>
                    <a:cubicBezTo>
                      <a:pt x="147855" y="190500"/>
                      <a:pt x="190500" y="147855"/>
                      <a:pt x="190500" y="95250"/>
                    </a:cubicBezTo>
                    <a:cubicBezTo>
                      <a:pt x="190500" y="42645"/>
                      <a:pt x="147855" y="0"/>
                      <a:pt x="95250" y="0"/>
                    </a:cubicBezTo>
                    <a:cubicBezTo>
                      <a:pt x="42645" y="0"/>
                      <a:pt x="0" y="42645"/>
                      <a:pt x="0" y="95250"/>
                    </a:cubicBezTo>
                    <a:cubicBezTo>
                      <a:pt x="0" y="147855"/>
                      <a:pt x="42645" y="190500"/>
                      <a:pt x="95250" y="190500"/>
                    </a:cubicBezTo>
                    <a:close/>
                  </a:path>
                </a:pathLst>
              </a:custGeom>
              <a:solidFill>
                <a:srgbClr val="8B949E"/>
              </a:solidFill>
              <a:ln>
                <a:noFill/>
              </a:ln>
            </p:spPr>
            <p:txBody>
              <a:bodyPr/>
              <a:lstStyle/>
              <a:p>
                <a:endParaRPr lang="en-US"/>
              </a:p>
            </p:txBody>
          </p:sp>
          <p:sp>
            <p:nvSpPr>
              <p:cNvPr id="18" name="Freeform 18"/>
              <p:cNvSpPr/>
              <p:nvPr/>
            </p:nvSpPr>
            <p:spPr>
              <a:xfrm>
                <a:off x="2362200" y="3857625"/>
                <a:ext cx="609600" cy="609600"/>
              </a:xfrm>
              <a:custGeom>
                <a:avLst/>
                <a:gdLst/>
                <a:ahLst/>
                <a:cxnLst/>
                <a:rect l="l" t="t" r="r" b="b"/>
                <a:pathLst>
                  <a:path w="609600" h="609600">
                    <a:moveTo>
                      <a:pt x="304800" y="609600"/>
                    </a:moveTo>
                    <a:cubicBezTo>
                      <a:pt x="473137" y="609600"/>
                      <a:pt x="609600" y="473137"/>
                      <a:pt x="609600" y="304800"/>
                    </a:cubicBezTo>
                    <a:cubicBezTo>
                      <a:pt x="609600" y="136464"/>
                      <a:pt x="473137" y="0"/>
                      <a:pt x="304800" y="0"/>
                    </a:cubicBezTo>
                    <a:cubicBezTo>
                      <a:pt x="136464" y="0"/>
                      <a:pt x="0" y="136464"/>
                      <a:pt x="0" y="304800"/>
                    </a:cubicBezTo>
                    <a:cubicBezTo>
                      <a:pt x="0" y="473137"/>
                      <a:pt x="136464" y="609600"/>
                      <a:pt x="304800" y="609600"/>
                    </a:cubicBezTo>
                    <a:close/>
                    <a:moveTo>
                      <a:pt x="228600" y="381000"/>
                    </a:moveTo>
                    <a:cubicBezTo>
                      <a:pt x="182991" y="381000"/>
                      <a:pt x="143621" y="407716"/>
                      <a:pt x="125283" y="446349"/>
                    </a:cubicBezTo>
                    <a:cubicBezTo>
                      <a:pt x="94546" y="407419"/>
                      <a:pt x="76200" y="358252"/>
                      <a:pt x="76200" y="304800"/>
                    </a:cubicBezTo>
                    <a:cubicBezTo>
                      <a:pt x="76200" y="178548"/>
                      <a:pt x="178548" y="76200"/>
                      <a:pt x="304800" y="76200"/>
                    </a:cubicBezTo>
                    <a:cubicBezTo>
                      <a:pt x="431052" y="76200"/>
                      <a:pt x="533400" y="178548"/>
                      <a:pt x="533400" y="304800"/>
                    </a:cubicBezTo>
                    <a:cubicBezTo>
                      <a:pt x="533400" y="358252"/>
                      <a:pt x="515055" y="407419"/>
                      <a:pt x="484316" y="446349"/>
                    </a:cubicBezTo>
                    <a:cubicBezTo>
                      <a:pt x="465978" y="407716"/>
                      <a:pt x="426610" y="381000"/>
                      <a:pt x="381000" y="381000"/>
                    </a:cubicBezTo>
                    <a:lnTo>
                      <a:pt x="228600" y="381000"/>
                    </a:lnTo>
                    <a:close/>
                  </a:path>
                </a:pathLst>
              </a:custGeom>
              <a:solidFill>
                <a:srgbClr val="8B949E"/>
              </a:solidFill>
              <a:ln>
                <a:noFill/>
              </a:ln>
            </p:spPr>
            <p:txBody>
              <a:bodyPr/>
              <a:lstStyle/>
              <a:p>
                <a:endParaRPr lang="en-US"/>
              </a:p>
            </p:txBody>
          </p:sp>
        </p:grpSp>
        <p:sp>
          <p:nvSpPr>
            <p:cNvPr id="20" name="TextBox 20"/>
            <p:cNvSpPr txBox="1"/>
            <p:nvPr/>
          </p:nvSpPr>
          <p:spPr>
            <a:xfrm>
              <a:off x="1546574" y="4453890"/>
              <a:ext cx="2240851" cy="365760"/>
            </a:xfrm>
            <a:prstGeom prst="rect">
              <a:avLst/>
            </a:prstGeom>
            <a:noFill/>
            <a:ln>
              <a:noFill/>
            </a:ln>
          </p:spPr>
          <p:txBody>
            <a:bodyPr wrap="none" lIns="0" tIns="0" rIns="0" bIns="0" anchor="t" anchorCtr="0">
              <a:spAutoFit/>
            </a:bodyPr>
            <a:lstStyle/>
            <a:p>
              <a:pPr algn="ctr"/>
              <a:r>
                <a:rPr lang="zh-CN" sz="1800" dirty="0">
                  <a:solidFill>
                    <a:srgbClr val="8B949E"/>
                  </a:solidFill>
                  <a:latin typeface="Arial"/>
                  <a:ea typeface="Microsoft YaHei"/>
                  <a:cs typeface="Arial"/>
                </a:rPr>
                <a:t>Senior Technician</a:t>
              </a:r>
            </a:p>
          </p:txBody>
        </p:sp>
        <p:sp>
          <p:nvSpPr>
            <p:cNvPr id="21" name="Rectangle 21"/>
            <p:cNvSpPr/>
            <p:nvPr/>
          </p:nvSpPr>
          <p:spPr>
            <a:xfrm>
              <a:off x="1504950" y="4800600"/>
              <a:ext cx="2324100" cy="457200"/>
            </a:xfrm>
            <a:prstGeom prst="roundRect">
              <a:avLst>
                <a:gd name="adj" fmla="val 50000"/>
              </a:avLst>
            </a:prstGeom>
            <a:solidFill>
              <a:srgbClr val="F85149">
                <a:alpha val="15000"/>
              </a:srgbClr>
            </a:solidFill>
            <a:ln w="14288">
              <a:solidFill>
                <a:srgbClr val="F85149"/>
              </a:solidFill>
            </a:ln>
          </p:spPr>
          <p:txBody>
            <a:bodyPr/>
            <a:lstStyle/>
            <a:p>
              <a:endParaRPr lang="en-US"/>
            </a:p>
          </p:txBody>
        </p:sp>
        <p:sp>
          <p:nvSpPr>
            <p:cNvPr id="22" name="Freeform 22"/>
            <p:cNvSpPr/>
            <p:nvPr/>
          </p:nvSpPr>
          <p:spPr>
            <a:xfrm>
              <a:off x="1666875" y="4914900"/>
              <a:ext cx="228600" cy="228600"/>
            </a:xfrm>
            <a:custGeom>
              <a:avLst/>
              <a:gdLst/>
              <a:ahLst/>
              <a:cxnLst/>
              <a:rect l="l" t="t" r="r" b="b"/>
              <a:pathLst>
                <a:path w="228600" h="228600">
                  <a:moveTo>
                    <a:pt x="114300" y="228600"/>
                  </a:moveTo>
                  <a:cubicBezTo>
                    <a:pt x="177426" y="228600"/>
                    <a:pt x="228600" y="177426"/>
                    <a:pt x="228600" y="114300"/>
                  </a:cubicBezTo>
                  <a:cubicBezTo>
                    <a:pt x="228600" y="51174"/>
                    <a:pt x="177426" y="0"/>
                    <a:pt x="114300" y="0"/>
                  </a:cubicBezTo>
                  <a:cubicBezTo>
                    <a:pt x="51174" y="0"/>
                    <a:pt x="0" y="51174"/>
                    <a:pt x="0" y="114300"/>
                  </a:cubicBezTo>
                  <a:cubicBezTo>
                    <a:pt x="0" y="177426"/>
                    <a:pt x="51174" y="228600"/>
                    <a:pt x="114300" y="228600"/>
                  </a:cubicBezTo>
                  <a:close/>
                  <a:moveTo>
                    <a:pt x="100012" y="128588"/>
                  </a:moveTo>
                  <a:lnTo>
                    <a:pt x="100012" y="42862"/>
                  </a:lnTo>
                  <a:lnTo>
                    <a:pt x="128588" y="42862"/>
                  </a:lnTo>
                  <a:lnTo>
                    <a:pt x="128588" y="128588"/>
                  </a:lnTo>
                  <a:lnTo>
                    <a:pt x="100012" y="128588"/>
                  </a:lnTo>
                  <a:close/>
                  <a:moveTo>
                    <a:pt x="100012" y="185738"/>
                  </a:moveTo>
                  <a:lnTo>
                    <a:pt x="100012" y="157162"/>
                  </a:lnTo>
                  <a:lnTo>
                    <a:pt x="128588" y="157162"/>
                  </a:lnTo>
                  <a:lnTo>
                    <a:pt x="128588" y="185738"/>
                  </a:lnTo>
                  <a:lnTo>
                    <a:pt x="100012" y="185738"/>
                  </a:lnTo>
                  <a:close/>
                </a:path>
              </a:pathLst>
            </a:custGeom>
            <a:solidFill>
              <a:srgbClr val="F85149"/>
            </a:solidFill>
            <a:ln>
              <a:noFill/>
            </a:ln>
          </p:spPr>
          <p:txBody>
            <a:bodyPr/>
            <a:lstStyle/>
            <a:p>
              <a:endParaRPr lang="en-US"/>
            </a:p>
          </p:txBody>
        </p:sp>
        <p:sp>
          <p:nvSpPr>
            <p:cNvPr id="23" name="TextBox 23"/>
            <p:cNvSpPr txBox="1"/>
            <p:nvPr/>
          </p:nvSpPr>
          <p:spPr>
            <a:xfrm>
              <a:off x="1940612" y="4924425"/>
              <a:ext cx="1452777" cy="304800"/>
            </a:xfrm>
            <a:prstGeom prst="rect">
              <a:avLst/>
            </a:prstGeom>
            <a:noFill/>
            <a:ln>
              <a:noFill/>
            </a:ln>
          </p:spPr>
          <p:txBody>
            <a:bodyPr wrap="none" lIns="0" tIns="0" rIns="0" bIns="0" anchor="t" anchorCtr="0">
              <a:spAutoFit/>
            </a:bodyPr>
            <a:lstStyle/>
            <a:p>
              <a:pPr algn="ctr"/>
              <a:r>
                <a:rPr lang="zh-CN" sz="1500" b="1" dirty="0">
                  <a:solidFill>
                    <a:srgbClr val="F85149"/>
                  </a:solidFill>
                  <a:latin typeface="Arial"/>
                  <a:ea typeface="Microsoft YaHei"/>
                  <a:cs typeface="Arial"/>
                </a:rPr>
                <a:t>Not Available</a:t>
              </a:r>
            </a:p>
          </p:txBody>
        </p:sp>
      </p:grpSp>
      <p:grpSp>
        <p:nvGrpSpPr>
          <p:cNvPr id="33" name="Group 33"/>
          <p:cNvGrpSpPr/>
          <p:nvPr/>
        </p:nvGrpSpPr>
        <p:grpSpPr>
          <a:xfrm>
            <a:off x="7410450" y="2000250"/>
            <a:ext cx="2324100" cy="3257550"/>
            <a:chOff x="7410450" y="2000250"/>
            <a:chExt cx="2324100" cy="3257550"/>
          </a:xfrm>
        </p:grpSpPr>
        <p:sp>
          <p:nvSpPr>
            <p:cNvPr id="25" name="Freeform 25"/>
            <p:cNvSpPr/>
            <p:nvPr/>
          </p:nvSpPr>
          <p:spPr>
            <a:xfrm>
              <a:off x="8001000" y="2000250"/>
              <a:ext cx="1143000" cy="1071562"/>
            </a:xfrm>
            <a:custGeom>
              <a:avLst/>
              <a:gdLst/>
              <a:ahLst/>
              <a:cxnLst/>
              <a:rect l="l" t="t" r="r" b="b"/>
              <a:pathLst>
                <a:path w="1143000" h="1071562">
                  <a:moveTo>
                    <a:pt x="642938" y="0"/>
                  </a:moveTo>
                  <a:lnTo>
                    <a:pt x="642938" y="142875"/>
                  </a:lnTo>
                  <a:lnTo>
                    <a:pt x="928688" y="142875"/>
                  </a:lnTo>
                  <a:lnTo>
                    <a:pt x="1143000" y="607219"/>
                  </a:lnTo>
                  <a:lnTo>
                    <a:pt x="928688" y="1071562"/>
                  </a:lnTo>
                  <a:lnTo>
                    <a:pt x="214312" y="1071562"/>
                  </a:lnTo>
                  <a:lnTo>
                    <a:pt x="0" y="607219"/>
                  </a:lnTo>
                  <a:lnTo>
                    <a:pt x="214312" y="142875"/>
                  </a:lnTo>
                  <a:lnTo>
                    <a:pt x="500062" y="142875"/>
                  </a:lnTo>
                  <a:lnTo>
                    <a:pt x="500062" y="0"/>
                  </a:lnTo>
                  <a:lnTo>
                    <a:pt x="642938" y="0"/>
                  </a:lnTo>
                  <a:close/>
                  <a:moveTo>
                    <a:pt x="328465" y="838562"/>
                  </a:moveTo>
                  <a:lnTo>
                    <a:pt x="571500" y="875952"/>
                  </a:lnTo>
                  <a:lnTo>
                    <a:pt x="814538" y="838562"/>
                  </a:lnTo>
                  <a:lnTo>
                    <a:pt x="792806" y="697346"/>
                  </a:lnTo>
                  <a:lnTo>
                    <a:pt x="571500" y="731391"/>
                  </a:lnTo>
                  <a:lnTo>
                    <a:pt x="350191" y="697346"/>
                  </a:lnTo>
                  <a:lnTo>
                    <a:pt x="328465" y="838562"/>
                  </a:lnTo>
                  <a:close/>
                  <a:moveTo>
                    <a:pt x="500062" y="482203"/>
                  </a:moveTo>
                  <a:cubicBezTo>
                    <a:pt x="500062" y="531521"/>
                    <a:pt x="460083" y="571500"/>
                    <a:pt x="410766" y="571500"/>
                  </a:cubicBezTo>
                  <a:cubicBezTo>
                    <a:pt x="361448" y="571500"/>
                    <a:pt x="321469" y="531521"/>
                    <a:pt x="321469" y="482203"/>
                  </a:cubicBezTo>
                  <a:cubicBezTo>
                    <a:pt x="321469" y="432886"/>
                    <a:pt x="361448" y="392906"/>
                    <a:pt x="410766" y="392906"/>
                  </a:cubicBezTo>
                  <a:cubicBezTo>
                    <a:pt x="460083" y="392906"/>
                    <a:pt x="500062" y="432886"/>
                    <a:pt x="500062" y="482203"/>
                  </a:cubicBezTo>
                  <a:close/>
                  <a:moveTo>
                    <a:pt x="732234" y="571500"/>
                  </a:moveTo>
                  <a:cubicBezTo>
                    <a:pt x="781555" y="571500"/>
                    <a:pt x="821531" y="531521"/>
                    <a:pt x="821531" y="482203"/>
                  </a:cubicBezTo>
                  <a:cubicBezTo>
                    <a:pt x="821531" y="432886"/>
                    <a:pt x="781555" y="392906"/>
                    <a:pt x="732234" y="392906"/>
                  </a:cubicBezTo>
                  <a:cubicBezTo>
                    <a:pt x="682917" y="392906"/>
                    <a:pt x="642938" y="432886"/>
                    <a:pt x="642938" y="482203"/>
                  </a:cubicBezTo>
                  <a:cubicBezTo>
                    <a:pt x="642938" y="531521"/>
                    <a:pt x="682917" y="571500"/>
                    <a:pt x="732234" y="571500"/>
                  </a:cubicBezTo>
                  <a:close/>
                </a:path>
              </a:pathLst>
            </a:custGeom>
            <a:solidFill>
              <a:srgbClr val="00BCD4"/>
            </a:solidFill>
            <a:ln>
              <a:noFill/>
            </a:ln>
          </p:spPr>
          <p:txBody>
            <a:bodyPr/>
            <a:lstStyle/>
            <a:p>
              <a:endParaRPr lang="en-US"/>
            </a:p>
          </p:txBody>
        </p:sp>
        <p:sp>
          <p:nvSpPr>
            <p:cNvPr id="26" name="TextBox 26"/>
            <p:cNvSpPr txBox="1"/>
            <p:nvPr/>
          </p:nvSpPr>
          <p:spPr>
            <a:xfrm>
              <a:off x="7912656" y="3343275"/>
              <a:ext cx="1319689" cy="304800"/>
            </a:xfrm>
            <a:prstGeom prst="rect">
              <a:avLst/>
            </a:prstGeom>
            <a:noFill/>
            <a:ln>
              <a:noFill/>
            </a:ln>
          </p:spPr>
          <p:txBody>
            <a:bodyPr wrap="none" lIns="0" tIns="0" rIns="0" bIns="0" anchor="t" anchorCtr="0">
              <a:spAutoFit/>
            </a:bodyPr>
            <a:lstStyle/>
            <a:p>
              <a:pPr algn="ctr"/>
              <a:r>
                <a:rPr lang="zh-CN" sz="1500" dirty="0">
                  <a:solidFill>
                    <a:srgbClr val="00BCD4"/>
                  </a:solidFill>
                  <a:latin typeface="Impact"/>
                  <a:ea typeface="SimHei"/>
                  <a:cs typeface="Impact"/>
                </a:rPr>
                <a:t>AI ASSISTANT</a:t>
              </a:r>
            </a:p>
          </p:txBody>
        </p:sp>
        <p:sp>
          <p:nvSpPr>
            <p:cNvPr id="27" name="Rectangle 27"/>
            <p:cNvSpPr/>
            <p:nvPr/>
          </p:nvSpPr>
          <p:spPr>
            <a:xfrm>
              <a:off x="7620000" y="3695700"/>
              <a:ext cx="1905000" cy="19050"/>
            </a:xfrm>
            <a:prstGeom prst="rect">
              <a:avLst/>
            </a:prstGeom>
            <a:solidFill>
              <a:srgbClr val="21262D"/>
            </a:solidFill>
            <a:ln>
              <a:noFill/>
            </a:ln>
          </p:spPr>
          <p:txBody>
            <a:bodyPr/>
            <a:lstStyle/>
            <a:p>
              <a:endParaRPr lang="en-US"/>
            </a:p>
          </p:txBody>
        </p:sp>
        <p:sp>
          <p:nvSpPr>
            <p:cNvPr id="28" name="Freeform 28"/>
            <p:cNvSpPr/>
            <p:nvPr/>
          </p:nvSpPr>
          <p:spPr>
            <a:xfrm>
              <a:off x="8267700" y="3857625"/>
              <a:ext cx="609600" cy="571500"/>
            </a:xfrm>
            <a:custGeom>
              <a:avLst/>
              <a:gdLst/>
              <a:ahLst/>
              <a:cxnLst/>
              <a:rect l="l" t="t" r="r" b="b"/>
              <a:pathLst>
                <a:path w="609600" h="571500">
                  <a:moveTo>
                    <a:pt x="342900" y="0"/>
                  </a:moveTo>
                  <a:lnTo>
                    <a:pt x="342900" y="76200"/>
                  </a:lnTo>
                  <a:lnTo>
                    <a:pt x="495300" y="76200"/>
                  </a:lnTo>
                  <a:lnTo>
                    <a:pt x="609600" y="323850"/>
                  </a:lnTo>
                  <a:lnTo>
                    <a:pt x="495300" y="571500"/>
                  </a:lnTo>
                  <a:lnTo>
                    <a:pt x="114300" y="571500"/>
                  </a:lnTo>
                  <a:lnTo>
                    <a:pt x="0" y="323850"/>
                  </a:lnTo>
                  <a:lnTo>
                    <a:pt x="114300" y="76200"/>
                  </a:lnTo>
                  <a:lnTo>
                    <a:pt x="266700" y="76200"/>
                  </a:lnTo>
                  <a:lnTo>
                    <a:pt x="266700" y="0"/>
                  </a:lnTo>
                  <a:lnTo>
                    <a:pt x="342900" y="0"/>
                  </a:lnTo>
                  <a:close/>
                  <a:moveTo>
                    <a:pt x="175182" y="447233"/>
                  </a:moveTo>
                  <a:lnTo>
                    <a:pt x="304800" y="467175"/>
                  </a:lnTo>
                  <a:lnTo>
                    <a:pt x="434420" y="447233"/>
                  </a:lnTo>
                  <a:lnTo>
                    <a:pt x="422830" y="371918"/>
                  </a:lnTo>
                  <a:lnTo>
                    <a:pt x="304800" y="390075"/>
                  </a:lnTo>
                  <a:lnTo>
                    <a:pt x="186768" y="371918"/>
                  </a:lnTo>
                  <a:lnTo>
                    <a:pt x="175182" y="447233"/>
                  </a:lnTo>
                  <a:close/>
                  <a:moveTo>
                    <a:pt x="266700" y="257175"/>
                  </a:moveTo>
                  <a:cubicBezTo>
                    <a:pt x="266700" y="283478"/>
                    <a:pt x="245378" y="304800"/>
                    <a:pt x="219075" y="304800"/>
                  </a:cubicBezTo>
                  <a:cubicBezTo>
                    <a:pt x="192772" y="304800"/>
                    <a:pt x="171450" y="283478"/>
                    <a:pt x="171450" y="257175"/>
                  </a:cubicBezTo>
                  <a:cubicBezTo>
                    <a:pt x="171450" y="230872"/>
                    <a:pt x="192772" y="209550"/>
                    <a:pt x="219075" y="209550"/>
                  </a:cubicBezTo>
                  <a:cubicBezTo>
                    <a:pt x="245378" y="209550"/>
                    <a:pt x="266700" y="230872"/>
                    <a:pt x="266700" y="257175"/>
                  </a:cubicBezTo>
                  <a:close/>
                  <a:moveTo>
                    <a:pt x="390525" y="304800"/>
                  </a:moveTo>
                  <a:cubicBezTo>
                    <a:pt x="416829" y="304800"/>
                    <a:pt x="438150" y="283478"/>
                    <a:pt x="438150" y="257175"/>
                  </a:cubicBezTo>
                  <a:cubicBezTo>
                    <a:pt x="438150" y="230872"/>
                    <a:pt x="416829" y="209550"/>
                    <a:pt x="390525" y="209550"/>
                  </a:cubicBezTo>
                  <a:cubicBezTo>
                    <a:pt x="364222" y="209550"/>
                    <a:pt x="342900" y="230872"/>
                    <a:pt x="342900" y="257175"/>
                  </a:cubicBezTo>
                  <a:cubicBezTo>
                    <a:pt x="342900" y="283478"/>
                    <a:pt x="364222" y="304800"/>
                    <a:pt x="390525" y="304800"/>
                  </a:cubicBezTo>
                  <a:close/>
                </a:path>
              </a:pathLst>
            </a:custGeom>
            <a:solidFill>
              <a:srgbClr val="00BCD4"/>
            </a:solidFill>
            <a:ln>
              <a:noFill/>
            </a:ln>
          </p:spPr>
          <p:txBody>
            <a:bodyPr/>
            <a:lstStyle/>
            <a:p>
              <a:endParaRPr lang="en-US"/>
            </a:p>
          </p:txBody>
        </p:sp>
        <p:sp>
          <p:nvSpPr>
            <p:cNvPr id="29" name="TextBox 29"/>
            <p:cNvSpPr txBox="1"/>
            <p:nvPr/>
          </p:nvSpPr>
          <p:spPr>
            <a:xfrm>
              <a:off x="7780687" y="4453890"/>
              <a:ext cx="1583627" cy="365760"/>
            </a:xfrm>
            <a:prstGeom prst="rect">
              <a:avLst/>
            </a:prstGeom>
            <a:noFill/>
            <a:ln>
              <a:noFill/>
            </a:ln>
          </p:spPr>
          <p:txBody>
            <a:bodyPr wrap="none" lIns="0" tIns="0" rIns="0" bIns="0" anchor="t" anchorCtr="0">
              <a:spAutoFit/>
            </a:bodyPr>
            <a:lstStyle/>
            <a:p>
              <a:pPr algn="ctr"/>
              <a:r>
                <a:rPr lang="zh-CN" sz="1800" dirty="0">
                  <a:solidFill>
                    <a:srgbClr val="E8EDF2"/>
                  </a:solidFill>
                  <a:latin typeface="Arial"/>
                  <a:ea typeface="Microsoft YaHei"/>
                  <a:cs typeface="Arial"/>
                </a:rPr>
                <a:t>AI Assistant</a:t>
              </a:r>
            </a:p>
          </p:txBody>
        </p:sp>
        <p:sp>
          <p:nvSpPr>
            <p:cNvPr id="30" name="Rectangle 30"/>
            <p:cNvSpPr/>
            <p:nvPr/>
          </p:nvSpPr>
          <p:spPr>
            <a:xfrm>
              <a:off x="7410450" y="4800600"/>
              <a:ext cx="2324100" cy="457200"/>
            </a:xfrm>
            <a:prstGeom prst="roundRect">
              <a:avLst>
                <a:gd name="adj" fmla="val 50000"/>
              </a:avLst>
            </a:prstGeom>
            <a:solidFill>
              <a:srgbClr val="2EA043">
                <a:alpha val="15000"/>
              </a:srgbClr>
            </a:solidFill>
            <a:ln w="14288">
              <a:solidFill>
                <a:srgbClr val="2EA043"/>
              </a:solidFill>
            </a:ln>
          </p:spPr>
          <p:txBody>
            <a:bodyPr/>
            <a:lstStyle/>
            <a:p>
              <a:endParaRPr lang="en-US"/>
            </a:p>
          </p:txBody>
        </p:sp>
        <p:sp>
          <p:nvSpPr>
            <p:cNvPr id="31" name="Freeform 31"/>
            <p:cNvSpPr/>
            <p:nvPr/>
          </p:nvSpPr>
          <p:spPr>
            <a:xfrm>
              <a:off x="7572375" y="4914900"/>
              <a:ext cx="228600" cy="228600"/>
            </a:xfrm>
            <a:custGeom>
              <a:avLst/>
              <a:gdLst/>
              <a:ahLst/>
              <a:cxnLst/>
              <a:rect l="l" t="t" r="r" b="b"/>
              <a:pathLst>
                <a:path w="228600" h="228600">
                  <a:moveTo>
                    <a:pt x="114300" y="228600"/>
                  </a:moveTo>
                  <a:cubicBezTo>
                    <a:pt x="177426" y="228600"/>
                    <a:pt x="228600" y="177426"/>
                    <a:pt x="228600" y="114300"/>
                  </a:cubicBezTo>
                  <a:cubicBezTo>
                    <a:pt x="228600" y="51174"/>
                    <a:pt x="177426" y="0"/>
                    <a:pt x="114300" y="0"/>
                  </a:cubicBezTo>
                  <a:cubicBezTo>
                    <a:pt x="51174" y="0"/>
                    <a:pt x="0" y="51174"/>
                    <a:pt x="0" y="114300"/>
                  </a:cubicBezTo>
                  <a:cubicBezTo>
                    <a:pt x="0" y="177426"/>
                    <a:pt x="51174" y="228600"/>
                    <a:pt x="114300" y="228600"/>
                  </a:cubicBezTo>
                  <a:close/>
                  <a:moveTo>
                    <a:pt x="181553" y="81540"/>
                  </a:moveTo>
                  <a:lnTo>
                    <a:pt x="161347" y="61335"/>
                  </a:lnTo>
                  <a:lnTo>
                    <a:pt x="92869" y="129813"/>
                  </a:lnTo>
                  <a:lnTo>
                    <a:pt x="67253" y="104197"/>
                  </a:lnTo>
                  <a:lnTo>
                    <a:pt x="47047" y="124403"/>
                  </a:lnTo>
                  <a:lnTo>
                    <a:pt x="92869" y="170224"/>
                  </a:lnTo>
                  <a:lnTo>
                    <a:pt x="181553" y="81540"/>
                  </a:lnTo>
                  <a:close/>
                </a:path>
              </a:pathLst>
            </a:custGeom>
            <a:solidFill>
              <a:srgbClr val="2EA043"/>
            </a:solidFill>
            <a:ln>
              <a:noFill/>
            </a:ln>
          </p:spPr>
          <p:txBody>
            <a:bodyPr/>
            <a:lstStyle/>
            <a:p>
              <a:endParaRPr lang="en-US"/>
            </a:p>
          </p:txBody>
        </p:sp>
        <p:sp>
          <p:nvSpPr>
            <p:cNvPr id="32" name="TextBox 32"/>
            <p:cNvSpPr txBox="1"/>
            <p:nvPr/>
          </p:nvSpPr>
          <p:spPr>
            <a:xfrm>
              <a:off x="7782854" y="4924425"/>
              <a:ext cx="1579293" cy="304800"/>
            </a:xfrm>
            <a:prstGeom prst="rect">
              <a:avLst/>
            </a:prstGeom>
            <a:noFill/>
            <a:ln>
              <a:noFill/>
            </a:ln>
          </p:spPr>
          <p:txBody>
            <a:bodyPr wrap="none" lIns="0" tIns="0" rIns="0" bIns="0" anchor="t" anchorCtr="0">
              <a:spAutoFit/>
            </a:bodyPr>
            <a:lstStyle/>
            <a:p>
              <a:pPr algn="ctr"/>
              <a:r>
                <a:rPr lang="zh-CN" sz="1500" b="1" dirty="0">
                  <a:solidFill>
                    <a:srgbClr val="2EA043"/>
                  </a:solidFill>
                  <a:latin typeface="Arial"/>
                  <a:ea typeface="Microsoft YaHei"/>
                  <a:cs typeface="Arial"/>
                </a:rPr>
                <a:t>Available 24/7</a:t>
              </a:r>
            </a:p>
          </p:txBody>
        </p:sp>
      </p:grpSp>
      <p:grpSp>
        <p:nvGrpSpPr>
          <p:cNvPr id="37" name="Group 37"/>
          <p:cNvGrpSpPr/>
          <p:nvPr/>
        </p:nvGrpSpPr>
        <p:grpSpPr>
          <a:xfrm>
            <a:off x="0" y="6096000"/>
            <a:ext cx="12192000" cy="762000"/>
            <a:chOff x="0" y="6096000"/>
            <a:chExt cx="12192000" cy="762000"/>
          </a:xfrm>
        </p:grpSpPr>
        <p:sp>
          <p:nvSpPr>
            <p:cNvPr id="34" name="Rectangle 34"/>
            <p:cNvSpPr/>
            <p:nvPr/>
          </p:nvSpPr>
          <p:spPr>
            <a:xfrm>
              <a:off x="0" y="6096000"/>
              <a:ext cx="12192000" cy="762000"/>
            </a:xfrm>
            <a:prstGeom prst="rect">
              <a:avLst/>
            </a:prstGeom>
            <a:solidFill>
              <a:srgbClr val="161B22"/>
            </a:solidFill>
            <a:ln>
              <a:noFill/>
            </a:ln>
          </p:spPr>
          <p:txBody>
            <a:bodyPr/>
            <a:lstStyle/>
            <a:p>
              <a:endParaRPr lang="en-US"/>
            </a:p>
          </p:txBody>
        </p:sp>
        <p:sp>
          <p:nvSpPr>
            <p:cNvPr id="35" name="Rectangle 35"/>
            <p:cNvSpPr/>
            <p:nvPr/>
          </p:nvSpPr>
          <p:spPr>
            <a:xfrm>
              <a:off x="0" y="6096000"/>
              <a:ext cx="38100" cy="762000"/>
            </a:xfrm>
            <a:prstGeom prst="rect">
              <a:avLst/>
            </a:prstGeom>
            <a:solidFill>
              <a:srgbClr val="1565C0"/>
            </a:solidFill>
            <a:ln>
              <a:noFill/>
            </a:ln>
          </p:spPr>
          <p:txBody>
            <a:bodyPr/>
            <a:lstStyle/>
            <a:p>
              <a:endParaRPr lang="en-US"/>
            </a:p>
          </p:txBody>
        </p:sp>
        <p:sp>
          <p:nvSpPr>
            <p:cNvPr id="36" name="TextBox 36"/>
            <p:cNvSpPr txBox="1"/>
            <p:nvPr/>
          </p:nvSpPr>
          <p:spPr>
            <a:xfrm>
              <a:off x="3796641" y="6407468"/>
              <a:ext cx="4598718" cy="274320"/>
            </a:xfrm>
            <a:prstGeom prst="rect">
              <a:avLst/>
            </a:prstGeom>
            <a:noFill/>
            <a:ln>
              <a:noFill/>
            </a:ln>
          </p:spPr>
          <p:txBody>
            <a:bodyPr wrap="none" lIns="0" tIns="0" rIns="0" bIns="0" anchor="t" anchorCtr="0">
              <a:spAutoFit/>
            </a:bodyPr>
            <a:lstStyle/>
            <a:p>
              <a:pPr algn="ctr"/>
              <a:r>
                <a:rPr lang="zh-CN" sz="1350" dirty="0">
                  <a:solidFill>
                    <a:srgbClr val="8B949E"/>
                  </a:solidFill>
                  <a:latin typeface="Arial"/>
                  <a:ea typeface="Microsoft YaHei"/>
                  <a:cs typeface="Arial"/>
                </a:rPr>
                <a:t>Historical Cases + SOP + Maintenance Knowledge</a:t>
              </a:r>
            </a:p>
          </p:txBody>
        </p:sp>
      </p:grpSp>
      <p:sp>
        <p:nvSpPr>
          <p:cNvPr id="38" name="TextBox 38"/>
          <p:cNvSpPr txBox="1"/>
          <p:nvPr/>
        </p:nvSpPr>
        <p:spPr>
          <a:xfrm>
            <a:off x="11300460" y="6649402"/>
            <a:ext cx="333375" cy="213360"/>
          </a:xfrm>
          <a:prstGeom prst="rect">
            <a:avLst/>
          </a:prstGeom>
          <a:noFill/>
          <a:ln>
            <a:noFill/>
          </a:ln>
        </p:spPr>
        <p:txBody>
          <a:bodyPr wrap="none" lIns="0" tIns="0" rIns="0" bIns="0" anchor="t" anchorCtr="0">
            <a:spAutoFit/>
          </a:bodyPr>
          <a:lstStyle/>
          <a:p>
            <a:pPr algn="r"/>
            <a:r>
              <a:rPr lang="zh-CN" sz="1050" dirty="0">
                <a:solidFill>
                  <a:srgbClr val="58636D"/>
                </a:solidFill>
                <a:latin typeface="Arial"/>
                <a:ea typeface="Microsoft YaHei"/>
                <a:cs typeface="Arial"/>
              </a:rPr>
              <a:t>1 / 6</a:t>
            </a:r>
          </a:p>
        </p:txBody>
      </p:sp>
    </p:spTree>
  </p:cSld>
  <p:clrMapOvr>
    <a:masterClrMapping/>
  </p:clrMapOvr>
  <mc:AlternateContent xmlns:mc="http://schemas.openxmlformats.org/markup-compatibility/2006">
    <mc:Choice xmlns:p14="http://schemas.microsoft.com/office/powerpoint/2010/main" Requires="p14">
      <p:transition p14:dur="400" advTm="6000">
        <p:fade/>
      </p:transition>
    </mc:Choice>
    <mc:Fallback>
      <p:transition advTm="6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par>
                          <p:cTn id="8" fill="hold">
                            <p:stCondLst>
                              <p:cond delay="900"/>
                            </p:stCondLst>
                            <p:childTnLst>
                              <p:par>
                                <p:cTn id="9" presetID="3" presetClass="entr" presetSubtype="10"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blinds(horizontal)">
                                      <p:cBhvr>
                                        <p:cTn id="11" dur="400"/>
                                        <p:tgtEl>
                                          <p:spTgt spid="24"/>
                                        </p:tgtEl>
                                      </p:cBhvr>
                                    </p:animEffect>
                                  </p:childTnLst>
                                </p:cTn>
                              </p:par>
                            </p:childTnLst>
                          </p:cTn>
                        </p:par>
                        <p:par>
                          <p:cTn id="12" fill="hold">
                            <p:stCondLst>
                              <p:cond delay="1800"/>
                            </p:stCondLst>
                            <p:childTnLst>
                              <p:par>
                                <p:cTn id="13" presetID="5" presetClass="entr" presetSubtype="6"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checkerboard(across)">
                                      <p:cBhvr>
                                        <p:cTn id="15" dur="400"/>
                                        <p:tgtEl>
                                          <p:spTgt spid="33"/>
                                        </p:tgtEl>
                                      </p:cBhvr>
                                    </p:animEffect>
                                  </p:childTnLst>
                                </p:cTn>
                              </p:par>
                            </p:childTnLst>
                          </p:cTn>
                        </p:par>
                        <p:par>
                          <p:cTn id="16" fill="hold">
                            <p:stCondLst>
                              <p:cond delay="2700"/>
                            </p:stCondLst>
                            <p:childTnLst>
                              <p:par>
                                <p:cTn id="17" presetID="9" presetClass="entr" presetSubtype="0" fill="hold" nodeType="after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dissolve">
                                      <p:cBhvr>
                                        <p:cTn id="19"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4" grpId="0"/>
      <p:bldP spid="33" grpId="0"/>
      <p:bldP spid="3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D1117"/>
          </a:solidFill>
          <a:ln>
            <a:noFill/>
          </a:ln>
        </p:spPr>
        <p:txBody>
          <a:bodyPr/>
          <a:lstStyle/>
          <a:p>
            <a:endParaRPr lang="en-US"/>
          </a:p>
        </p:txBody>
      </p:sp>
      <p:grpSp>
        <p:nvGrpSpPr>
          <p:cNvPr id="6" name="Group 6"/>
          <p:cNvGrpSpPr/>
          <p:nvPr/>
        </p:nvGrpSpPr>
        <p:grpSpPr>
          <a:xfrm>
            <a:off x="0" y="0"/>
            <a:ext cx="12192000" cy="4000500"/>
            <a:chOff x="0" y="0"/>
            <a:chExt cx="12192000" cy="4000500"/>
          </a:xfrm>
        </p:grpSpPr>
        <p:pic>
          <p:nvPicPr>
            <p:cNvPr id="3" name="Image 3"/>
            <p:cNvPicPr>
              <a:picLocks noChangeAspect="1"/>
            </p:cNvPicPr>
            <p:nvPr/>
          </p:nvPicPr>
          <p:blipFill>
            <a:blip r:embed="rId3"/>
            <a:stretch>
              <a:fillRect/>
            </a:stretch>
          </p:blipFill>
          <p:spPr>
            <a:xfrm>
              <a:off x="1917156" y="0"/>
              <a:ext cx="8357688" cy="4000500"/>
            </a:xfrm>
            <a:prstGeom prst="rect">
              <a:avLst/>
            </a:prstGeom>
          </p:spPr>
        </p:pic>
        <p:sp>
          <p:nvSpPr>
            <p:cNvPr id="4" name="Rectangle 4"/>
            <p:cNvSpPr/>
            <p:nvPr/>
          </p:nvSpPr>
          <p:spPr>
            <a:xfrm>
              <a:off x="0" y="0"/>
              <a:ext cx="12192000" cy="4000500"/>
            </a:xfrm>
            <a:prstGeom prst="rect">
              <a:avLst/>
            </a:prstGeom>
            <a:gradFill>
              <a:gsLst>
                <a:gs pos="0">
                  <a:srgbClr val="0D1117">
                    <a:alpha val="70000"/>
                  </a:srgbClr>
                </a:gs>
                <a:gs pos="30000">
                  <a:srgbClr val="0D1117">
                    <a:alpha val="0"/>
                  </a:srgbClr>
                </a:gs>
              </a:gsLst>
              <a:lin ang="5400000" scaled="1"/>
            </a:gradFill>
            <a:ln>
              <a:noFill/>
            </a:ln>
          </p:spPr>
          <p:txBody>
            <a:bodyPr/>
            <a:lstStyle/>
            <a:p>
              <a:endParaRPr lang="en-US"/>
            </a:p>
          </p:txBody>
        </p:sp>
        <p:sp>
          <p:nvSpPr>
            <p:cNvPr id="5" name="Rectangle 5"/>
            <p:cNvSpPr/>
            <p:nvPr/>
          </p:nvSpPr>
          <p:spPr>
            <a:xfrm>
              <a:off x="0" y="0"/>
              <a:ext cx="12192000" cy="4000500"/>
            </a:xfrm>
            <a:prstGeom prst="rect">
              <a:avLst/>
            </a:prstGeom>
            <a:gradFill>
              <a:gsLst>
                <a:gs pos="0">
                  <a:srgbClr val="0D1117">
                    <a:alpha val="0"/>
                  </a:srgbClr>
                </a:gs>
                <a:gs pos="70000">
                  <a:srgbClr val="0D1117">
                    <a:alpha val="55000"/>
                  </a:srgbClr>
                </a:gs>
                <a:gs pos="100000">
                  <a:srgbClr val="0D1117">
                    <a:alpha val="95000"/>
                  </a:srgbClr>
                </a:gs>
              </a:gsLst>
              <a:lin ang="5400000" scaled="1"/>
            </a:gradFill>
            <a:ln>
              <a:noFill/>
            </a:ln>
          </p:spPr>
          <p:txBody>
            <a:bodyPr/>
            <a:lstStyle/>
            <a:p>
              <a:endParaRPr lang="en-US"/>
            </a:p>
          </p:txBody>
        </p:sp>
      </p:grpSp>
      <p:grpSp>
        <p:nvGrpSpPr>
          <p:cNvPr id="9" name="Group 9"/>
          <p:cNvGrpSpPr/>
          <p:nvPr/>
        </p:nvGrpSpPr>
        <p:grpSpPr>
          <a:xfrm>
            <a:off x="712470" y="226695"/>
            <a:ext cx="1773669" cy="792480"/>
            <a:chOff x="712470" y="226695"/>
            <a:chExt cx="1773669" cy="792480"/>
          </a:xfrm>
        </p:grpSpPr>
        <p:sp>
          <p:nvSpPr>
            <p:cNvPr id="7" name="TextBox 7"/>
            <p:cNvSpPr txBox="1"/>
            <p:nvPr/>
          </p:nvSpPr>
          <p:spPr>
            <a:xfrm>
              <a:off x="712470" y="226695"/>
              <a:ext cx="1773669" cy="792480"/>
            </a:xfrm>
            <a:prstGeom prst="rect">
              <a:avLst/>
            </a:prstGeom>
            <a:noFill/>
            <a:ln>
              <a:noFill/>
            </a:ln>
          </p:spPr>
          <p:txBody>
            <a:bodyPr wrap="none" lIns="0" tIns="0" rIns="0" bIns="0" anchor="t" anchorCtr="0">
              <a:spAutoFit/>
            </a:bodyPr>
            <a:lstStyle/>
            <a:p>
              <a:pPr algn="l"/>
              <a:r>
                <a:rPr lang="zh-CN" sz="3900" b="1" dirty="0">
                  <a:solidFill>
                    <a:srgbClr val="E8EDF2"/>
                  </a:solidFill>
                  <a:latin typeface="Impact"/>
                  <a:ea typeface="SimHei"/>
                  <a:cs typeface="Impact"/>
                </a:rPr>
                <a:t>ASK AI</a:t>
              </a:r>
            </a:p>
          </p:txBody>
        </p:sp>
        <p:sp>
          <p:nvSpPr>
            <p:cNvPr id="8" name="Rectangle 8"/>
            <p:cNvSpPr/>
            <p:nvPr/>
          </p:nvSpPr>
          <p:spPr>
            <a:xfrm>
              <a:off x="762000" y="723900"/>
              <a:ext cx="1143000" cy="38100"/>
            </a:xfrm>
            <a:prstGeom prst="rect">
              <a:avLst/>
            </a:prstGeom>
            <a:solidFill>
              <a:srgbClr val="00BCD4"/>
            </a:solidFill>
            <a:ln>
              <a:noFill/>
            </a:ln>
          </p:spPr>
          <p:txBody>
            <a:bodyPr/>
            <a:lstStyle/>
            <a:p>
              <a:endParaRPr lang="en-US"/>
            </a:p>
          </p:txBody>
        </p:sp>
      </p:grpSp>
      <p:grpSp>
        <p:nvGrpSpPr>
          <p:cNvPr id="38" name="Group 38"/>
          <p:cNvGrpSpPr/>
          <p:nvPr/>
        </p:nvGrpSpPr>
        <p:grpSpPr>
          <a:xfrm>
            <a:off x="0" y="3905250"/>
            <a:ext cx="12192000" cy="2952750"/>
            <a:chOff x="0" y="3905250"/>
            <a:chExt cx="12192000" cy="2952750"/>
          </a:xfrm>
        </p:grpSpPr>
        <p:sp>
          <p:nvSpPr>
            <p:cNvPr id="10" name="Rectangle 10"/>
            <p:cNvSpPr/>
            <p:nvPr/>
          </p:nvSpPr>
          <p:spPr>
            <a:xfrm>
              <a:off x="0" y="3905250"/>
              <a:ext cx="12192000" cy="2952750"/>
            </a:xfrm>
            <a:prstGeom prst="rect">
              <a:avLst/>
            </a:prstGeom>
            <a:solidFill>
              <a:srgbClr val="0D1117"/>
            </a:solidFill>
            <a:ln>
              <a:noFill/>
            </a:ln>
          </p:spPr>
          <p:txBody>
            <a:bodyPr/>
            <a:lstStyle/>
            <a:p>
              <a:endParaRPr lang="en-US"/>
            </a:p>
          </p:txBody>
        </p:sp>
        <p:sp>
          <p:nvSpPr>
            <p:cNvPr id="11" name="Rectangle 11"/>
            <p:cNvSpPr/>
            <p:nvPr/>
          </p:nvSpPr>
          <p:spPr>
            <a:xfrm>
              <a:off x="0" y="3905250"/>
              <a:ext cx="12192000" cy="9525"/>
            </a:xfrm>
            <a:prstGeom prst="rect">
              <a:avLst/>
            </a:prstGeom>
            <a:solidFill>
              <a:srgbClr val="21262D"/>
            </a:solidFill>
            <a:ln>
              <a:noFill/>
            </a:ln>
          </p:spPr>
          <p:txBody>
            <a:bodyPr/>
            <a:lstStyle/>
            <a:p>
              <a:endParaRPr lang="en-US"/>
            </a:p>
          </p:txBody>
        </p:sp>
        <p:sp>
          <p:nvSpPr>
            <p:cNvPr id="12" name="TextBox 12"/>
            <p:cNvSpPr txBox="1"/>
            <p:nvPr/>
          </p:nvSpPr>
          <p:spPr>
            <a:xfrm>
              <a:off x="3495961" y="4197668"/>
              <a:ext cx="5200078" cy="274320"/>
            </a:xfrm>
            <a:prstGeom prst="rect">
              <a:avLst/>
            </a:prstGeom>
            <a:noFill/>
            <a:ln>
              <a:noFill/>
            </a:ln>
          </p:spPr>
          <p:txBody>
            <a:bodyPr wrap="none" lIns="0" tIns="0" rIns="0" bIns="0" anchor="t" anchorCtr="0">
              <a:spAutoFit/>
            </a:bodyPr>
            <a:lstStyle/>
            <a:p>
              <a:pPr algn="ctr"/>
              <a:r>
                <a:rPr lang="zh-CN" sz="1350" dirty="0">
                  <a:solidFill>
                    <a:srgbClr val="8B949E"/>
                  </a:solidFill>
                  <a:latin typeface="Arial"/>
                  <a:ea typeface="Microsoft YaHei"/>
                  <a:cs typeface="Arial"/>
                </a:rPr>
                <a:t>REAL-TIME DIAGNOSIS — INSTANT HISTORICAL CASE SEARCH</a:t>
              </a:r>
            </a:p>
          </p:txBody>
        </p:sp>
        <p:grpSp>
          <p:nvGrpSpPr>
            <p:cNvPr id="18" name="Group 18"/>
            <p:cNvGrpSpPr/>
            <p:nvPr/>
          </p:nvGrpSpPr>
          <p:grpSpPr>
            <a:xfrm>
              <a:off x="762000" y="4533900"/>
              <a:ext cx="2857500" cy="893891"/>
              <a:chOff x="762000" y="4533900"/>
              <a:chExt cx="2857500" cy="893891"/>
            </a:xfrm>
          </p:grpSpPr>
          <p:sp>
            <p:nvSpPr>
              <p:cNvPr id="13" name="Rectangle 13"/>
              <p:cNvSpPr/>
              <p:nvPr/>
            </p:nvSpPr>
            <p:spPr>
              <a:xfrm>
                <a:off x="762000" y="4533900"/>
                <a:ext cx="2857500" cy="857250"/>
              </a:xfrm>
              <a:prstGeom prst="roundRect">
                <a:avLst>
                  <a:gd name="adj" fmla="val 13333"/>
                </a:avLst>
              </a:prstGeom>
              <a:solidFill>
                <a:srgbClr val="161B22"/>
              </a:solidFill>
              <a:ln w="9525">
                <a:solidFill>
                  <a:srgbClr val="21262D"/>
                </a:solidFill>
              </a:ln>
            </p:spPr>
            <p:txBody>
              <a:bodyPr/>
              <a:lstStyle/>
              <a:p>
                <a:endParaRPr lang="en-US"/>
              </a:p>
            </p:txBody>
          </p:sp>
          <p:sp>
            <p:nvSpPr>
              <p:cNvPr id="14" name="Freeform 14"/>
              <p:cNvSpPr/>
              <p:nvPr/>
            </p:nvSpPr>
            <p:spPr>
              <a:xfrm>
                <a:off x="990600" y="4743450"/>
                <a:ext cx="342900" cy="342900"/>
              </a:xfrm>
              <a:custGeom>
                <a:avLst/>
                <a:gdLst/>
                <a:ahLst/>
                <a:cxnLst/>
                <a:rect l="l" t="t" r="r" b="b"/>
                <a:pathLst>
                  <a:path w="342900" h="342900">
                    <a:moveTo>
                      <a:pt x="214312" y="75009"/>
                    </a:moveTo>
                    <a:lnTo>
                      <a:pt x="279851" y="9470"/>
                    </a:lnTo>
                    <a:cubicBezTo>
                      <a:pt x="266399" y="3387"/>
                      <a:pt x="251468" y="0"/>
                      <a:pt x="235744" y="0"/>
                    </a:cubicBezTo>
                    <a:cubicBezTo>
                      <a:pt x="176563" y="0"/>
                      <a:pt x="128588" y="47976"/>
                      <a:pt x="128588" y="107156"/>
                    </a:cubicBezTo>
                    <a:cubicBezTo>
                      <a:pt x="128588" y="116972"/>
                      <a:pt x="129907" y="126480"/>
                      <a:pt x="132379" y="135512"/>
                    </a:cubicBezTo>
                    <a:lnTo>
                      <a:pt x="0" y="267891"/>
                    </a:lnTo>
                    <a:lnTo>
                      <a:pt x="75009" y="342900"/>
                    </a:lnTo>
                    <a:lnTo>
                      <a:pt x="207388" y="210521"/>
                    </a:lnTo>
                    <a:cubicBezTo>
                      <a:pt x="216419" y="212993"/>
                      <a:pt x="225928" y="214312"/>
                      <a:pt x="235744" y="214312"/>
                    </a:cubicBezTo>
                    <a:cubicBezTo>
                      <a:pt x="294924" y="214312"/>
                      <a:pt x="342900" y="166337"/>
                      <a:pt x="342900" y="107156"/>
                    </a:cubicBezTo>
                    <a:cubicBezTo>
                      <a:pt x="342900" y="91433"/>
                      <a:pt x="339514" y="76500"/>
                      <a:pt x="333430" y="63048"/>
                    </a:cubicBezTo>
                    <a:lnTo>
                      <a:pt x="267891" y="128588"/>
                    </a:lnTo>
                    <a:lnTo>
                      <a:pt x="214312" y="128588"/>
                    </a:lnTo>
                    <a:lnTo>
                      <a:pt x="214312" y="75009"/>
                    </a:lnTo>
                    <a:close/>
                  </a:path>
                </a:pathLst>
              </a:custGeom>
              <a:solidFill>
                <a:srgbClr val="FF6B35"/>
              </a:solidFill>
              <a:ln>
                <a:noFill/>
              </a:ln>
            </p:spPr>
            <p:txBody>
              <a:bodyPr/>
              <a:lstStyle/>
              <a:p>
                <a:endParaRPr lang="en-US"/>
              </a:p>
            </p:txBody>
          </p:sp>
          <p:sp>
            <p:nvSpPr>
              <p:cNvPr id="15" name="TextBox 15"/>
              <p:cNvSpPr txBox="1"/>
              <p:nvPr/>
            </p:nvSpPr>
            <p:spPr>
              <a:xfrm>
                <a:off x="1432560" y="4766310"/>
                <a:ext cx="1603877" cy="243840"/>
              </a:xfrm>
              <a:prstGeom prst="rect">
                <a:avLst/>
              </a:prstGeom>
              <a:noFill/>
              <a:ln>
                <a:noFill/>
              </a:ln>
            </p:spPr>
            <p:txBody>
              <a:bodyPr wrap="none" lIns="0" tIns="0" rIns="0" bIns="0" anchor="t" anchorCtr="0">
                <a:spAutoFit/>
              </a:bodyPr>
              <a:lstStyle/>
              <a:p>
                <a:pPr algn="l"/>
                <a:r>
                  <a:rPr lang="zh-CN" sz="1200" b="1" dirty="0">
                    <a:solidFill>
                      <a:srgbClr val="E8EDF2"/>
                    </a:solidFill>
                    <a:latin typeface="Arial"/>
                    <a:ea typeface="Microsoft YaHei"/>
                    <a:cs typeface="Arial"/>
                  </a:rPr>
                  <a:t>Machine vibration</a:t>
                </a:r>
              </a:p>
            </p:txBody>
          </p:sp>
          <p:sp>
            <p:nvSpPr>
              <p:cNvPr id="16" name="TextBox 16"/>
              <p:cNvSpPr txBox="1"/>
              <p:nvPr/>
            </p:nvSpPr>
            <p:spPr>
              <a:xfrm>
                <a:off x="1432560" y="4975860"/>
                <a:ext cx="1625346" cy="243840"/>
              </a:xfrm>
              <a:prstGeom prst="rect">
                <a:avLst/>
              </a:prstGeom>
              <a:noFill/>
              <a:ln>
                <a:noFill/>
              </a:ln>
            </p:spPr>
            <p:txBody>
              <a:bodyPr wrap="none" lIns="0" tIns="0" rIns="0" bIns="0" anchor="t" anchorCtr="0">
                <a:spAutoFit/>
              </a:bodyPr>
              <a:lstStyle/>
              <a:p>
                <a:pPr algn="l"/>
                <a:r>
                  <a:rPr lang="zh-CN" sz="1200" dirty="0">
                    <a:solidFill>
                      <a:srgbClr val="8B949E"/>
                    </a:solidFill>
                    <a:latin typeface="Arial"/>
                    <a:ea typeface="Microsoft YaHei"/>
                    <a:cs typeface="Arial"/>
                  </a:rPr>
                  <a:t>and abnormal noise</a:t>
                </a:r>
              </a:p>
            </p:txBody>
          </p:sp>
          <p:sp>
            <p:nvSpPr>
              <p:cNvPr id="17" name="TextBox 17"/>
              <p:cNvSpPr txBox="1"/>
              <p:nvPr/>
            </p:nvSpPr>
            <p:spPr>
              <a:xfrm>
                <a:off x="2177415" y="5214431"/>
                <a:ext cx="877776" cy="213360"/>
              </a:xfrm>
              <a:prstGeom prst="rect">
                <a:avLst/>
              </a:prstGeom>
              <a:noFill/>
              <a:ln>
                <a:noFill/>
              </a:ln>
            </p:spPr>
            <p:txBody>
              <a:bodyPr wrap="none" lIns="0" tIns="0" rIns="0" bIns="0" anchor="t" anchorCtr="0">
                <a:spAutoFit/>
              </a:bodyPr>
              <a:lstStyle/>
              <a:p>
                <a:pPr algn="l"/>
                <a:r>
                  <a:rPr lang="zh-CN" sz="1050" dirty="0">
                    <a:solidFill>
                      <a:srgbClr val="58636D"/>
                    </a:solidFill>
                    <a:latin typeface="Arial"/>
                    <a:ea typeface="Microsoft YaHei"/>
                    <a:cs typeface="Arial"/>
                  </a:rPr>
                  <a:t>Input query</a:t>
                </a:r>
              </a:p>
            </p:txBody>
          </p:sp>
        </p:grpSp>
        <p:grpSp>
          <p:nvGrpSpPr>
            <p:cNvPr id="21" name="Group 21"/>
            <p:cNvGrpSpPr/>
            <p:nvPr/>
          </p:nvGrpSpPr>
          <p:grpSpPr>
            <a:xfrm>
              <a:off x="3621536" y="4752499"/>
              <a:ext cx="815078" cy="210027"/>
              <a:chOff x="3621536" y="4752499"/>
              <a:chExt cx="815078" cy="210027"/>
            </a:xfrm>
          </p:grpSpPr>
          <p:sp>
            <p:nvSpPr>
              <p:cNvPr id="19" name="Line 19"/>
              <p:cNvSpPr/>
              <p:nvPr/>
            </p:nvSpPr>
            <p:spPr>
              <a:xfrm>
                <a:off x="3657600" y="4962525"/>
                <a:ext cx="742950" cy="1"/>
              </a:xfrm>
              <a:prstGeom prst="line">
                <a:avLst/>
              </a:prstGeom>
              <a:noFill/>
              <a:ln w="19050">
                <a:solidFill>
                  <a:srgbClr val="1565C0"/>
                </a:solidFill>
                <a:tailEnd type="triangle" w="lg" len="lg"/>
              </a:ln>
            </p:spPr>
            <p:txBody>
              <a:bodyPr/>
              <a:lstStyle/>
              <a:p>
                <a:endParaRPr lang="en-US"/>
              </a:p>
            </p:txBody>
          </p:sp>
          <p:sp>
            <p:nvSpPr>
              <p:cNvPr id="20" name="TextBox 20"/>
              <p:cNvSpPr txBox="1"/>
              <p:nvPr/>
            </p:nvSpPr>
            <p:spPr>
              <a:xfrm>
                <a:off x="3621536" y="4752499"/>
                <a:ext cx="815078" cy="198120"/>
              </a:xfrm>
              <a:prstGeom prst="rect">
                <a:avLst/>
              </a:prstGeom>
              <a:noFill/>
              <a:ln>
                <a:noFill/>
              </a:ln>
            </p:spPr>
            <p:txBody>
              <a:bodyPr wrap="none" lIns="0" tIns="0" rIns="0" bIns="0" anchor="t" anchorCtr="0">
                <a:spAutoFit/>
              </a:bodyPr>
              <a:lstStyle/>
              <a:p>
                <a:pPr algn="ctr"/>
                <a:r>
                  <a:rPr lang="zh-CN" sz="975" dirty="0">
                    <a:solidFill>
                      <a:srgbClr val="8B949E"/>
                    </a:solidFill>
                    <a:latin typeface="Arial"/>
                    <a:ea typeface="Microsoft YaHei"/>
                    <a:cs typeface="Arial"/>
                  </a:rPr>
                  <a:t>AI searches</a:t>
                </a:r>
              </a:p>
            </p:txBody>
          </p:sp>
        </p:grpSp>
        <p:grpSp>
          <p:nvGrpSpPr>
            <p:cNvPr id="27" name="Group 27"/>
            <p:cNvGrpSpPr/>
            <p:nvPr/>
          </p:nvGrpSpPr>
          <p:grpSpPr>
            <a:xfrm>
              <a:off x="4438650" y="4533900"/>
              <a:ext cx="2857500" cy="857675"/>
              <a:chOff x="4438650" y="4533900"/>
              <a:chExt cx="2857500" cy="857675"/>
            </a:xfrm>
          </p:grpSpPr>
          <p:sp>
            <p:nvSpPr>
              <p:cNvPr id="22" name="Rectangle 22"/>
              <p:cNvSpPr/>
              <p:nvPr/>
            </p:nvSpPr>
            <p:spPr>
              <a:xfrm>
                <a:off x="4438650" y="4533900"/>
                <a:ext cx="2857500" cy="857250"/>
              </a:xfrm>
              <a:prstGeom prst="roundRect">
                <a:avLst>
                  <a:gd name="adj" fmla="val 13333"/>
                </a:avLst>
              </a:prstGeom>
              <a:solidFill>
                <a:srgbClr val="161B22"/>
              </a:solidFill>
              <a:ln w="14288">
                <a:solidFill>
                  <a:srgbClr val="1565C0"/>
                </a:solidFill>
              </a:ln>
            </p:spPr>
            <p:txBody>
              <a:bodyPr/>
              <a:lstStyle/>
              <a:p>
                <a:endParaRPr lang="en-US"/>
              </a:p>
            </p:txBody>
          </p:sp>
          <p:sp>
            <p:nvSpPr>
              <p:cNvPr id="23" name="Freeform 23"/>
              <p:cNvSpPr/>
              <p:nvPr/>
            </p:nvSpPr>
            <p:spPr>
              <a:xfrm>
                <a:off x="4667250" y="4743450"/>
                <a:ext cx="336623" cy="336623"/>
              </a:xfrm>
              <a:custGeom>
                <a:avLst/>
                <a:gdLst/>
                <a:ahLst/>
                <a:cxnLst/>
                <a:rect l="l" t="t" r="r" b="b"/>
                <a:pathLst>
                  <a:path w="336623" h="336623">
                    <a:moveTo>
                      <a:pt x="239863" y="270171"/>
                    </a:moveTo>
                    <a:cubicBezTo>
                      <a:pt x="214818" y="288928"/>
                      <a:pt x="183716" y="300038"/>
                      <a:pt x="150019" y="300038"/>
                    </a:cubicBezTo>
                    <a:cubicBezTo>
                      <a:pt x="67166" y="300038"/>
                      <a:pt x="0" y="232872"/>
                      <a:pt x="0" y="150019"/>
                    </a:cubicBezTo>
                    <a:cubicBezTo>
                      <a:pt x="0" y="67166"/>
                      <a:pt x="67166" y="0"/>
                      <a:pt x="150019" y="0"/>
                    </a:cubicBezTo>
                    <a:cubicBezTo>
                      <a:pt x="232872" y="0"/>
                      <a:pt x="300038" y="67166"/>
                      <a:pt x="300038" y="150019"/>
                    </a:cubicBezTo>
                    <a:cubicBezTo>
                      <a:pt x="300038" y="183716"/>
                      <a:pt x="288928" y="214818"/>
                      <a:pt x="270171" y="239863"/>
                    </a:cubicBezTo>
                    <a:lnTo>
                      <a:pt x="336623" y="306315"/>
                    </a:lnTo>
                    <a:lnTo>
                      <a:pt x="306315" y="336623"/>
                    </a:lnTo>
                    <a:lnTo>
                      <a:pt x="239863" y="270171"/>
                    </a:lnTo>
                    <a:close/>
                    <a:moveTo>
                      <a:pt x="119710" y="180327"/>
                    </a:moveTo>
                    <a:lnTo>
                      <a:pt x="89402" y="210636"/>
                    </a:lnTo>
                    <a:cubicBezTo>
                      <a:pt x="55924" y="177158"/>
                      <a:pt x="55924" y="122880"/>
                      <a:pt x="89402" y="89402"/>
                    </a:cubicBezTo>
                    <a:cubicBezTo>
                      <a:pt x="122880" y="55924"/>
                      <a:pt x="177158" y="55924"/>
                      <a:pt x="210636" y="89402"/>
                    </a:cubicBezTo>
                    <a:lnTo>
                      <a:pt x="180327" y="119710"/>
                    </a:lnTo>
                    <a:cubicBezTo>
                      <a:pt x="163588" y="102972"/>
                      <a:pt x="136449" y="102972"/>
                      <a:pt x="119710" y="119710"/>
                    </a:cubicBezTo>
                    <a:cubicBezTo>
                      <a:pt x="102972" y="136449"/>
                      <a:pt x="102972" y="163588"/>
                      <a:pt x="119710" y="180327"/>
                    </a:cubicBezTo>
                    <a:close/>
                  </a:path>
                </a:pathLst>
              </a:custGeom>
              <a:solidFill>
                <a:srgbClr val="1565C0"/>
              </a:solidFill>
              <a:ln>
                <a:noFill/>
              </a:ln>
            </p:spPr>
            <p:txBody>
              <a:bodyPr/>
              <a:lstStyle/>
              <a:p>
                <a:endParaRPr lang="en-US"/>
              </a:p>
            </p:txBody>
          </p:sp>
          <p:sp>
            <p:nvSpPr>
              <p:cNvPr id="24" name="TextBox 24"/>
              <p:cNvSpPr txBox="1"/>
              <p:nvPr/>
            </p:nvSpPr>
            <p:spPr>
              <a:xfrm>
                <a:off x="5128260" y="4766310"/>
                <a:ext cx="1355446" cy="243840"/>
              </a:xfrm>
              <a:prstGeom prst="rect">
                <a:avLst/>
              </a:prstGeom>
              <a:noFill/>
              <a:ln>
                <a:noFill/>
              </a:ln>
            </p:spPr>
            <p:txBody>
              <a:bodyPr wrap="none" lIns="0" tIns="0" rIns="0" bIns="0" anchor="t" anchorCtr="0">
                <a:spAutoFit/>
              </a:bodyPr>
              <a:lstStyle/>
              <a:p>
                <a:pPr algn="l"/>
                <a:r>
                  <a:rPr lang="zh-CN" sz="1200" b="1" dirty="0">
                    <a:solidFill>
                      <a:srgbClr val="E8EDF2"/>
                    </a:solidFill>
                    <a:latin typeface="Arial"/>
                    <a:ea typeface="Microsoft YaHei"/>
                    <a:cs typeface="Arial"/>
                  </a:rPr>
                  <a:t>6 Similar Cases</a:t>
                </a:r>
              </a:p>
            </p:txBody>
          </p:sp>
          <p:sp>
            <p:nvSpPr>
              <p:cNvPr id="25" name="TextBox 25"/>
              <p:cNvSpPr txBox="1"/>
              <p:nvPr/>
            </p:nvSpPr>
            <p:spPr>
              <a:xfrm>
                <a:off x="5128260" y="4975860"/>
                <a:ext cx="536543" cy="243840"/>
              </a:xfrm>
              <a:prstGeom prst="rect">
                <a:avLst/>
              </a:prstGeom>
              <a:noFill/>
              <a:ln>
                <a:noFill/>
              </a:ln>
            </p:spPr>
            <p:txBody>
              <a:bodyPr wrap="none" lIns="0" tIns="0" rIns="0" bIns="0" anchor="t" anchorCtr="0">
                <a:spAutoFit/>
              </a:bodyPr>
              <a:lstStyle/>
              <a:p>
                <a:pPr algn="l"/>
                <a:r>
                  <a:rPr lang="zh-CN" sz="1200" b="1" dirty="0">
                    <a:solidFill>
                      <a:srgbClr val="00BCD4"/>
                    </a:solidFill>
                    <a:latin typeface="Arial"/>
                    <a:ea typeface="Microsoft YaHei"/>
                    <a:cs typeface="Arial"/>
                  </a:rPr>
                  <a:t>Found</a:t>
                </a:r>
              </a:p>
            </p:txBody>
          </p:sp>
          <p:sp>
            <p:nvSpPr>
              <p:cNvPr id="26" name="TextBox 26"/>
              <p:cNvSpPr txBox="1"/>
              <p:nvPr/>
            </p:nvSpPr>
            <p:spPr>
              <a:xfrm>
                <a:off x="5854065" y="5178215"/>
                <a:ext cx="992791" cy="213360"/>
              </a:xfrm>
              <a:prstGeom prst="rect">
                <a:avLst/>
              </a:prstGeom>
              <a:noFill/>
              <a:ln>
                <a:noFill/>
              </a:ln>
            </p:spPr>
            <p:txBody>
              <a:bodyPr wrap="none" lIns="0" tIns="0" rIns="0" bIns="0" anchor="t" anchorCtr="0">
                <a:spAutoFit/>
              </a:bodyPr>
              <a:lstStyle/>
              <a:p>
                <a:pPr algn="l"/>
                <a:r>
                  <a:rPr lang="zh-CN" sz="1050" dirty="0">
                    <a:solidFill>
                      <a:srgbClr val="58636D"/>
                    </a:solidFill>
                    <a:latin typeface="Arial"/>
                    <a:ea typeface="Microsoft YaHei"/>
                    <a:cs typeface="Arial"/>
                  </a:rPr>
                  <a:t>From history</a:t>
                </a:r>
              </a:p>
            </p:txBody>
          </p:sp>
        </p:grpSp>
        <p:grpSp>
          <p:nvGrpSpPr>
            <p:cNvPr id="30" name="Group 30"/>
            <p:cNvGrpSpPr/>
            <p:nvPr/>
          </p:nvGrpSpPr>
          <p:grpSpPr>
            <a:xfrm>
              <a:off x="7334250" y="4752499"/>
              <a:ext cx="742950" cy="210027"/>
              <a:chOff x="7334250" y="4752499"/>
              <a:chExt cx="742950" cy="210027"/>
            </a:xfrm>
          </p:grpSpPr>
          <p:sp>
            <p:nvSpPr>
              <p:cNvPr id="28" name="Line 28"/>
              <p:cNvSpPr/>
              <p:nvPr/>
            </p:nvSpPr>
            <p:spPr>
              <a:xfrm>
                <a:off x="7334250" y="4962525"/>
                <a:ext cx="742950" cy="1"/>
              </a:xfrm>
              <a:prstGeom prst="line">
                <a:avLst/>
              </a:prstGeom>
              <a:noFill/>
              <a:ln w="19050">
                <a:solidFill>
                  <a:srgbClr val="00BCD4"/>
                </a:solidFill>
                <a:tailEnd type="triangle" w="lg" len="lg"/>
              </a:ln>
            </p:spPr>
            <p:txBody>
              <a:bodyPr/>
              <a:lstStyle/>
              <a:p>
                <a:endParaRPr lang="en-US"/>
              </a:p>
            </p:txBody>
          </p:sp>
          <p:sp>
            <p:nvSpPr>
              <p:cNvPr id="29" name="TextBox 29"/>
              <p:cNvSpPr txBox="1"/>
              <p:nvPr/>
            </p:nvSpPr>
            <p:spPr>
              <a:xfrm>
                <a:off x="7376505" y="4752499"/>
                <a:ext cx="658439" cy="198120"/>
              </a:xfrm>
              <a:prstGeom prst="rect">
                <a:avLst/>
              </a:prstGeom>
              <a:noFill/>
              <a:ln>
                <a:noFill/>
              </a:ln>
            </p:spPr>
            <p:txBody>
              <a:bodyPr wrap="none" lIns="0" tIns="0" rIns="0" bIns="0" anchor="t" anchorCtr="0">
                <a:spAutoFit/>
              </a:bodyPr>
              <a:lstStyle/>
              <a:p>
                <a:pPr algn="ctr"/>
                <a:r>
                  <a:rPr lang="zh-CN" sz="975" dirty="0">
                    <a:solidFill>
                      <a:srgbClr val="8B949E"/>
                    </a:solidFill>
                    <a:latin typeface="Arial"/>
                    <a:ea typeface="Microsoft YaHei"/>
                    <a:cs typeface="Arial"/>
                  </a:rPr>
                  <a:t>Diagnosis</a:t>
                </a:r>
              </a:p>
            </p:txBody>
          </p:sp>
        </p:grpSp>
        <p:grpSp>
          <p:nvGrpSpPr>
            <p:cNvPr id="36" name="Group 36"/>
            <p:cNvGrpSpPr/>
            <p:nvPr/>
          </p:nvGrpSpPr>
          <p:grpSpPr>
            <a:xfrm>
              <a:off x="8115300" y="4533900"/>
              <a:ext cx="2857500" cy="875784"/>
              <a:chOff x="8115300" y="4533900"/>
              <a:chExt cx="2857500" cy="875784"/>
            </a:xfrm>
          </p:grpSpPr>
          <p:sp>
            <p:nvSpPr>
              <p:cNvPr id="31" name="Rectangle 31"/>
              <p:cNvSpPr/>
              <p:nvPr/>
            </p:nvSpPr>
            <p:spPr>
              <a:xfrm>
                <a:off x="8115300" y="4533900"/>
                <a:ext cx="2857500" cy="857250"/>
              </a:xfrm>
              <a:prstGeom prst="roundRect">
                <a:avLst>
                  <a:gd name="adj" fmla="val 13333"/>
                </a:avLst>
              </a:prstGeom>
              <a:solidFill>
                <a:srgbClr val="161B22"/>
              </a:solidFill>
              <a:ln w="14288">
                <a:solidFill>
                  <a:srgbClr val="00BCD4"/>
                </a:solidFill>
              </a:ln>
            </p:spPr>
            <p:txBody>
              <a:bodyPr/>
              <a:lstStyle/>
              <a:p>
                <a:endParaRPr lang="en-US"/>
              </a:p>
            </p:txBody>
          </p:sp>
          <p:sp>
            <p:nvSpPr>
              <p:cNvPr id="32" name="Freeform 32"/>
              <p:cNvSpPr/>
              <p:nvPr/>
            </p:nvSpPr>
            <p:spPr>
              <a:xfrm>
                <a:off x="8386762" y="4743450"/>
                <a:ext cx="257175" cy="342900"/>
              </a:xfrm>
              <a:custGeom>
                <a:avLst/>
                <a:gdLst/>
                <a:ahLst/>
                <a:cxnLst/>
                <a:rect l="l" t="t" r="r" b="b"/>
                <a:pathLst>
                  <a:path w="257175" h="342900">
                    <a:moveTo>
                      <a:pt x="64294" y="246459"/>
                    </a:moveTo>
                    <a:lnTo>
                      <a:pt x="64294" y="310753"/>
                    </a:lnTo>
                    <a:lnTo>
                      <a:pt x="96441" y="342900"/>
                    </a:lnTo>
                    <a:lnTo>
                      <a:pt x="160734" y="342900"/>
                    </a:lnTo>
                    <a:lnTo>
                      <a:pt x="192881" y="310753"/>
                    </a:lnTo>
                    <a:lnTo>
                      <a:pt x="192881" y="246459"/>
                    </a:lnTo>
                    <a:lnTo>
                      <a:pt x="219447" y="219893"/>
                    </a:lnTo>
                    <a:cubicBezTo>
                      <a:pt x="243605" y="195737"/>
                      <a:pt x="257175" y="162908"/>
                      <a:pt x="257175" y="128745"/>
                    </a:cubicBezTo>
                    <a:cubicBezTo>
                      <a:pt x="257175" y="57728"/>
                      <a:pt x="199604" y="0"/>
                      <a:pt x="128588" y="0"/>
                    </a:cubicBezTo>
                    <a:cubicBezTo>
                      <a:pt x="57571" y="0"/>
                      <a:pt x="0" y="57728"/>
                      <a:pt x="0" y="128745"/>
                    </a:cubicBezTo>
                    <a:cubicBezTo>
                      <a:pt x="0" y="162908"/>
                      <a:pt x="13571" y="195737"/>
                      <a:pt x="37728" y="219893"/>
                    </a:cubicBezTo>
                    <a:lnTo>
                      <a:pt x="64294" y="246459"/>
                    </a:lnTo>
                    <a:close/>
                    <a:moveTo>
                      <a:pt x="107156" y="211612"/>
                    </a:moveTo>
                    <a:lnTo>
                      <a:pt x="107156" y="128588"/>
                    </a:lnTo>
                    <a:lnTo>
                      <a:pt x="150019" y="128588"/>
                    </a:lnTo>
                    <a:lnTo>
                      <a:pt x="150019" y="211612"/>
                    </a:lnTo>
                    <a:cubicBezTo>
                      <a:pt x="186992" y="202095"/>
                      <a:pt x="214312" y="168532"/>
                      <a:pt x="214312" y="128588"/>
                    </a:cubicBezTo>
                    <a:cubicBezTo>
                      <a:pt x="214312" y="81243"/>
                      <a:pt x="175931" y="42862"/>
                      <a:pt x="128588" y="42862"/>
                    </a:cubicBezTo>
                    <a:cubicBezTo>
                      <a:pt x="81243" y="42862"/>
                      <a:pt x="42862" y="81243"/>
                      <a:pt x="42862" y="128588"/>
                    </a:cubicBezTo>
                    <a:cubicBezTo>
                      <a:pt x="42862" y="168532"/>
                      <a:pt x="70182" y="202095"/>
                      <a:pt x="107156" y="211612"/>
                    </a:cubicBezTo>
                    <a:close/>
                  </a:path>
                </a:pathLst>
              </a:custGeom>
              <a:solidFill>
                <a:srgbClr val="00BCD4"/>
              </a:solidFill>
              <a:ln>
                <a:noFill/>
              </a:ln>
            </p:spPr>
            <p:txBody>
              <a:bodyPr/>
              <a:lstStyle/>
              <a:p>
                <a:endParaRPr lang="en-US"/>
              </a:p>
            </p:txBody>
          </p:sp>
          <p:sp>
            <p:nvSpPr>
              <p:cNvPr id="33" name="TextBox 33"/>
              <p:cNvSpPr txBox="1"/>
              <p:nvPr/>
            </p:nvSpPr>
            <p:spPr>
              <a:xfrm>
                <a:off x="8804910" y="4766310"/>
                <a:ext cx="1189825" cy="243840"/>
              </a:xfrm>
              <a:prstGeom prst="rect">
                <a:avLst/>
              </a:prstGeom>
              <a:noFill/>
              <a:ln>
                <a:noFill/>
              </a:ln>
            </p:spPr>
            <p:txBody>
              <a:bodyPr wrap="none" lIns="0" tIns="0" rIns="0" bIns="0" anchor="t" anchorCtr="0">
                <a:spAutoFit/>
              </a:bodyPr>
              <a:lstStyle/>
              <a:p>
                <a:pPr algn="l"/>
                <a:r>
                  <a:rPr lang="zh-CN" sz="1200" b="1" dirty="0">
                    <a:solidFill>
                      <a:srgbClr val="00BCD4"/>
                    </a:solidFill>
                    <a:latin typeface="Arial"/>
                    <a:ea typeface="Microsoft YaHei"/>
                    <a:cs typeface="Arial"/>
                  </a:rPr>
                  <a:t>Bearing Wear</a:t>
                </a:r>
              </a:p>
            </p:txBody>
          </p:sp>
          <p:sp>
            <p:nvSpPr>
              <p:cNvPr id="34" name="TextBox 34"/>
              <p:cNvSpPr txBox="1"/>
              <p:nvPr/>
            </p:nvSpPr>
            <p:spPr>
              <a:xfrm>
                <a:off x="8804910" y="4975860"/>
                <a:ext cx="1835658" cy="243840"/>
              </a:xfrm>
              <a:prstGeom prst="rect">
                <a:avLst/>
              </a:prstGeom>
              <a:noFill/>
              <a:ln>
                <a:noFill/>
              </a:ln>
            </p:spPr>
            <p:txBody>
              <a:bodyPr wrap="none" lIns="0" tIns="0" rIns="0" bIns="0" anchor="t" anchorCtr="0">
                <a:spAutoFit/>
              </a:bodyPr>
              <a:lstStyle/>
              <a:p>
                <a:pPr algn="l"/>
                <a:r>
                  <a:rPr lang="zh-CN" sz="1200" dirty="0">
                    <a:solidFill>
                      <a:srgbClr val="8B949E"/>
                    </a:solidFill>
                    <a:latin typeface="Arial"/>
                    <a:ea typeface="Microsoft YaHei"/>
                    <a:cs typeface="Arial"/>
                  </a:rPr>
                  <a:t>Root cause identified</a:t>
                </a:r>
              </a:p>
            </p:txBody>
          </p:sp>
          <p:sp>
            <p:nvSpPr>
              <p:cNvPr id="35" name="TextBox 35"/>
              <p:cNvSpPr txBox="1"/>
              <p:nvPr/>
            </p:nvSpPr>
            <p:spPr>
              <a:xfrm>
                <a:off x="9530715" y="5196324"/>
                <a:ext cx="494395" cy="213360"/>
              </a:xfrm>
              <a:prstGeom prst="rect">
                <a:avLst/>
              </a:prstGeom>
              <a:noFill/>
              <a:ln>
                <a:noFill/>
              </a:ln>
            </p:spPr>
            <p:txBody>
              <a:bodyPr wrap="none" lIns="0" tIns="0" rIns="0" bIns="0" anchor="t" anchorCtr="0">
                <a:spAutoFit/>
              </a:bodyPr>
              <a:lstStyle/>
              <a:p>
                <a:pPr algn="l"/>
                <a:r>
                  <a:rPr lang="zh-CN" sz="1050" dirty="0">
                    <a:solidFill>
                      <a:srgbClr val="2EA043"/>
                    </a:solidFill>
                    <a:latin typeface="Arial"/>
                    <a:ea typeface="Microsoft YaHei"/>
                    <a:cs typeface="Arial"/>
                  </a:rPr>
                  <a:t>Result</a:t>
                </a:r>
              </a:p>
            </p:txBody>
          </p:sp>
        </p:grpSp>
        <p:sp>
          <p:nvSpPr>
            <p:cNvPr id="37" name="TextBox 37"/>
            <p:cNvSpPr txBox="1"/>
            <p:nvPr/>
          </p:nvSpPr>
          <p:spPr>
            <a:xfrm>
              <a:off x="3555111" y="5835968"/>
              <a:ext cx="5081778" cy="274320"/>
            </a:xfrm>
            <a:prstGeom prst="rect">
              <a:avLst/>
            </a:prstGeom>
            <a:noFill/>
            <a:ln>
              <a:noFill/>
            </a:ln>
          </p:spPr>
          <p:txBody>
            <a:bodyPr wrap="none" lIns="0" tIns="0" rIns="0" bIns="0" anchor="t" anchorCtr="0">
              <a:spAutoFit/>
            </a:bodyPr>
            <a:lstStyle/>
            <a:p>
              <a:pPr algn="ctr"/>
              <a:r>
                <a:rPr lang="zh-CN" sz="1350" dirty="0">
                  <a:solidFill>
                    <a:srgbClr val="8B949E"/>
                  </a:solidFill>
                  <a:latin typeface="Arial"/>
                  <a:ea typeface="Microsoft YaHei"/>
                  <a:cs typeface="Arial"/>
                </a:rPr>
                <a:t>From symptom to root cause — in seconds, not hours</a:t>
              </a:r>
            </a:p>
          </p:txBody>
        </p:sp>
      </p:grpSp>
      <p:grpSp>
        <p:nvGrpSpPr>
          <p:cNvPr id="41" name="Group 41"/>
          <p:cNvGrpSpPr/>
          <p:nvPr/>
        </p:nvGrpSpPr>
        <p:grpSpPr>
          <a:xfrm>
            <a:off x="0" y="6629400"/>
            <a:ext cx="12192000" cy="252412"/>
            <a:chOff x="0" y="6629400"/>
            <a:chExt cx="12192000" cy="252412"/>
          </a:xfrm>
        </p:grpSpPr>
        <p:sp>
          <p:nvSpPr>
            <p:cNvPr id="39" name="Rectangle 39"/>
            <p:cNvSpPr/>
            <p:nvPr/>
          </p:nvSpPr>
          <p:spPr>
            <a:xfrm>
              <a:off x="0" y="6629400"/>
              <a:ext cx="12192000" cy="228600"/>
            </a:xfrm>
            <a:prstGeom prst="rect">
              <a:avLst/>
            </a:prstGeom>
            <a:solidFill>
              <a:srgbClr val="161B22"/>
            </a:solidFill>
            <a:ln>
              <a:noFill/>
            </a:ln>
          </p:spPr>
          <p:txBody>
            <a:bodyPr/>
            <a:lstStyle/>
            <a:p>
              <a:endParaRPr lang="en-US"/>
            </a:p>
          </p:txBody>
        </p:sp>
        <p:sp>
          <p:nvSpPr>
            <p:cNvPr id="40" name="TextBox 40"/>
            <p:cNvSpPr txBox="1"/>
            <p:nvPr/>
          </p:nvSpPr>
          <p:spPr>
            <a:xfrm>
              <a:off x="11262122" y="6668452"/>
              <a:ext cx="371713" cy="213360"/>
            </a:xfrm>
            <a:prstGeom prst="rect">
              <a:avLst/>
            </a:prstGeom>
            <a:noFill/>
            <a:ln>
              <a:noFill/>
            </a:ln>
          </p:spPr>
          <p:txBody>
            <a:bodyPr wrap="none" lIns="0" tIns="0" rIns="0" bIns="0" anchor="t" anchorCtr="0">
              <a:spAutoFit/>
            </a:bodyPr>
            <a:lstStyle/>
            <a:p>
              <a:pPr algn="r"/>
              <a:r>
                <a:rPr lang="zh-CN" sz="1050" dirty="0">
                  <a:solidFill>
                    <a:srgbClr val="58636D"/>
                  </a:solidFill>
                  <a:latin typeface="Arial"/>
                  <a:ea typeface="Microsoft YaHei"/>
                  <a:cs typeface="Arial"/>
                </a:rPr>
                <a:t>2 / 6</a:t>
              </a:r>
            </a:p>
          </p:txBody>
        </p:sp>
      </p:grpSp>
    </p:spTree>
  </p:cSld>
  <p:clrMapOvr>
    <a:masterClrMapping/>
  </p:clrMapOvr>
  <mc:AlternateContent xmlns:mc="http://schemas.openxmlformats.org/markup-compatibility/2006">
    <mc:Choice xmlns:p14="http://schemas.microsoft.com/office/powerpoint/2010/main" Requires="p14">
      <p:transition p14:dur="400" advTm="6000">
        <p:fade/>
      </p:transition>
    </mc:Choice>
    <mc:Fallback>
      <p:transition advTm="6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slide(fromBottom)">
                                      <p:cBhvr>
                                        <p:cTn id="11" dur="400"/>
                                        <p:tgtEl>
                                          <p:spTgt spid="9"/>
                                        </p:tgtEl>
                                      </p:cBhvr>
                                    </p:animEffect>
                                  </p:childTnLst>
                                </p:cTn>
                              </p:par>
                            </p:childTnLst>
                          </p:cTn>
                        </p:par>
                        <p:par>
                          <p:cTn id="12" fill="hold">
                            <p:stCondLst>
                              <p:cond delay="1800"/>
                            </p:stCondLst>
                            <p:childTnLst>
                              <p:par>
                                <p:cTn id="13" presetID="42" presetClass="entr" presetSubtype="8" fill="hold" nodeType="after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slide(fromLeft)">
                                      <p:cBhvr>
                                        <p:cTn id="15"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3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D1117"/>
            </a:solidFill>
            <a:ln>
              <a:noFill/>
            </a:ln>
          </p:spPr>
          <p:txBody>
            <a:bodyPr/>
            <a:lstStyle/>
            <a:p>
              <a:endParaRPr lang="en-US"/>
            </a:p>
          </p:txBody>
        </p:sp>
        <p:sp>
          <p:nvSpPr>
            <p:cNvPr id="3" name="Rectangle 3"/>
            <p:cNvSpPr/>
            <p:nvPr/>
          </p:nvSpPr>
          <p:spPr>
            <a:xfrm>
              <a:off x="0" y="0"/>
              <a:ext cx="12192000" cy="6858000"/>
            </a:xfrm>
            <a:prstGeom prst="rect">
              <a:avLst/>
            </a:prstGeom>
            <a:gradFill>
              <a:gsLst>
                <a:gs pos="0">
                  <a:srgbClr val="00BCD4">
                    <a:alpha val="12000"/>
                  </a:srgbClr>
                </a:gs>
                <a:gs pos="100000">
                  <a:srgbClr val="00BCD4">
                    <a:alpha val="0"/>
                  </a:srgbClr>
                </a:gs>
              </a:gsLst>
              <a:path path="circle">
                <a:fillToRect l="50000" t="50000" r="50000" b="50000"/>
              </a:path>
            </a:gradFill>
            <a:ln>
              <a:noFill/>
            </a:ln>
          </p:spPr>
          <p:txBody>
            <a:bodyPr/>
            <a:lstStyle/>
            <a:p>
              <a:endParaRPr lang="en-US"/>
            </a:p>
          </p:txBody>
        </p:sp>
      </p:grpSp>
      <p:grpSp>
        <p:nvGrpSpPr>
          <p:cNvPr id="7" name="Group 7"/>
          <p:cNvGrpSpPr/>
          <p:nvPr/>
        </p:nvGrpSpPr>
        <p:grpSpPr>
          <a:xfrm>
            <a:off x="3927348" y="598170"/>
            <a:ext cx="4337304" cy="487680"/>
            <a:chOff x="3927348" y="598170"/>
            <a:chExt cx="4337304" cy="487680"/>
          </a:xfrm>
        </p:grpSpPr>
        <p:sp>
          <p:nvSpPr>
            <p:cNvPr id="5" name="TextBox 5"/>
            <p:cNvSpPr txBox="1"/>
            <p:nvPr/>
          </p:nvSpPr>
          <p:spPr>
            <a:xfrm>
              <a:off x="3927348" y="598170"/>
              <a:ext cx="4337304" cy="487680"/>
            </a:xfrm>
            <a:prstGeom prst="rect">
              <a:avLst/>
            </a:prstGeom>
            <a:noFill/>
            <a:ln>
              <a:noFill/>
            </a:ln>
          </p:spPr>
          <p:txBody>
            <a:bodyPr wrap="none" lIns="0" tIns="0" rIns="0" bIns="0" anchor="t" anchorCtr="0">
              <a:spAutoFit/>
            </a:bodyPr>
            <a:lstStyle/>
            <a:p>
              <a:pPr algn="ctr"/>
              <a:r>
                <a:rPr lang="zh-CN" sz="2400" dirty="0">
                  <a:solidFill>
                    <a:srgbClr val="8B949E"/>
                  </a:solidFill>
                  <a:latin typeface="Impact"/>
                  <a:ea typeface="SimHei"/>
                  <a:cs typeface="Impact"/>
                </a:rPr>
                <a:t>FASTER TROUBLESHOOTING</a:t>
              </a:r>
            </a:p>
          </p:txBody>
        </p:sp>
        <p:sp>
          <p:nvSpPr>
            <p:cNvPr id="6" name="Rectangle 6"/>
            <p:cNvSpPr/>
            <p:nvPr/>
          </p:nvSpPr>
          <p:spPr>
            <a:xfrm>
              <a:off x="5143500" y="952500"/>
              <a:ext cx="1905000" cy="28575"/>
            </a:xfrm>
            <a:prstGeom prst="rect">
              <a:avLst/>
            </a:prstGeom>
            <a:solidFill>
              <a:srgbClr val="1565C0"/>
            </a:solidFill>
            <a:ln>
              <a:noFill/>
            </a:ln>
          </p:spPr>
          <p:txBody>
            <a:bodyPr/>
            <a:lstStyle/>
            <a:p>
              <a:endParaRPr lang="en-US"/>
            </a:p>
          </p:txBody>
        </p:sp>
      </p:grpSp>
      <p:grpSp>
        <p:nvGrpSpPr>
          <p:cNvPr id="12" name="Group 12"/>
          <p:cNvGrpSpPr/>
          <p:nvPr/>
        </p:nvGrpSpPr>
        <p:grpSpPr>
          <a:xfrm>
            <a:off x="4077891" y="2205990"/>
            <a:ext cx="4036219" cy="2270760"/>
            <a:chOff x="4077891" y="2205990"/>
            <a:chExt cx="4036219" cy="2270760"/>
          </a:xfrm>
        </p:grpSpPr>
        <p:sp>
          <p:nvSpPr>
            <p:cNvPr id="8" name="TextBox 8"/>
            <p:cNvSpPr txBox="1"/>
            <p:nvPr/>
          </p:nvSpPr>
          <p:spPr>
            <a:xfrm>
              <a:off x="5296148" y="2205990"/>
              <a:ext cx="761238" cy="1463040"/>
            </a:xfrm>
            <a:prstGeom prst="rect">
              <a:avLst/>
            </a:prstGeom>
            <a:noFill/>
            <a:ln>
              <a:noFill/>
            </a:ln>
          </p:spPr>
          <p:txBody>
            <a:bodyPr wrap="none" lIns="0" tIns="0" rIns="0" bIns="0" anchor="t" anchorCtr="0">
              <a:spAutoFit/>
            </a:bodyPr>
            <a:lstStyle/>
            <a:p>
              <a:pPr algn="ctr"/>
              <a:r>
                <a:rPr lang="zh-CN" sz="7200" dirty="0">
                  <a:solidFill>
                    <a:srgbClr val="00BCD4"/>
                  </a:solidFill>
                  <a:effectLst>
                    <a:glow rad="190500">
                      <a:srgbClr val="00BCD4">
                        <a:alpha val="50000"/>
                      </a:srgbClr>
                    </a:glow>
                  </a:effectLst>
                  <a:latin typeface="Impact"/>
                  <a:ea typeface="SimHei"/>
                  <a:cs typeface="Impact"/>
                </a:rPr>
                <a:t>↓</a:t>
              </a:r>
            </a:p>
          </p:txBody>
        </p:sp>
        <p:sp>
          <p:nvSpPr>
            <p:cNvPr id="9" name="TextBox 9"/>
            <p:cNvSpPr txBox="1"/>
            <p:nvPr/>
          </p:nvSpPr>
          <p:spPr>
            <a:xfrm>
              <a:off x="6134616" y="2325053"/>
              <a:ext cx="1917954" cy="1463040"/>
            </a:xfrm>
            <a:prstGeom prst="rect">
              <a:avLst/>
            </a:prstGeom>
            <a:noFill/>
            <a:ln>
              <a:noFill/>
            </a:ln>
          </p:spPr>
          <p:txBody>
            <a:bodyPr wrap="none" lIns="0" tIns="0" rIns="0" bIns="0" anchor="t" anchorCtr="0">
              <a:spAutoFit/>
            </a:bodyPr>
            <a:lstStyle/>
            <a:p>
              <a:pPr algn="ctr"/>
              <a:r>
                <a:rPr lang="zh-CN" sz="7200" dirty="0">
                  <a:solidFill>
                    <a:srgbClr val="00BCD4"/>
                  </a:solidFill>
                  <a:effectLst>
                    <a:glow rad="190500">
                      <a:srgbClr val="00BCD4">
                        <a:alpha val="50000"/>
                      </a:srgbClr>
                    </a:glow>
                  </a:effectLst>
                  <a:latin typeface="Impact"/>
                  <a:ea typeface="SimHei"/>
                  <a:cs typeface="Impact"/>
                </a:rPr>
                <a:t>50%</a:t>
              </a:r>
            </a:p>
          </p:txBody>
        </p:sp>
        <p:sp>
          <p:nvSpPr>
            <p:cNvPr id="10" name="TextBox 10"/>
            <p:cNvSpPr txBox="1"/>
            <p:nvPr/>
          </p:nvSpPr>
          <p:spPr>
            <a:xfrm>
              <a:off x="5362956" y="3531870"/>
              <a:ext cx="1466088" cy="792480"/>
            </a:xfrm>
            <a:prstGeom prst="rect">
              <a:avLst/>
            </a:prstGeom>
            <a:noFill/>
            <a:ln>
              <a:noFill/>
            </a:ln>
          </p:spPr>
          <p:txBody>
            <a:bodyPr wrap="none" lIns="0" tIns="0" rIns="0" bIns="0" anchor="t" anchorCtr="0">
              <a:spAutoFit/>
            </a:bodyPr>
            <a:lstStyle/>
            <a:p>
              <a:pPr algn="ctr"/>
              <a:r>
                <a:rPr lang="zh-CN" sz="3900" dirty="0">
                  <a:solidFill>
                    <a:srgbClr val="E8EDF2"/>
                  </a:solidFill>
                  <a:latin typeface="Impact"/>
                  <a:ea typeface="SimHei"/>
                  <a:cs typeface="Impact"/>
                </a:rPr>
                <a:t>MTTR</a:t>
              </a:r>
            </a:p>
          </p:txBody>
        </p:sp>
        <p:sp>
          <p:nvSpPr>
            <p:cNvPr id="11" name="TextBox 11"/>
            <p:cNvSpPr txBox="1"/>
            <p:nvPr/>
          </p:nvSpPr>
          <p:spPr>
            <a:xfrm>
              <a:off x="4077891" y="4171950"/>
              <a:ext cx="4036219" cy="304800"/>
            </a:xfrm>
            <a:prstGeom prst="rect">
              <a:avLst/>
            </a:prstGeom>
            <a:noFill/>
            <a:ln>
              <a:noFill/>
            </a:ln>
          </p:spPr>
          <p:txBody>
            <a:bodyPr wrap="none" lIns="0" tIns="0" rIns="0" bIns="0" anchor="t" anchorCtr="0">
              <a:spAutoFit/>
            </a:bodyPr>
            <a:lstStyle/>
            <a:p>
              <a:pPr algn="ctr"/>
              <a:r>
                <a:rPr lang="zh-CN" sz="1500" dirty="0">
                  <a:solidFill>
                    <a:srgbClr val="8B949E"/>
                  </a:solidFill>
                  <a:latin typeface="Arial"/>
                  <a:ea typeface="Microsoft YaHei"/>
                  <a:cs typeface="Arial"/>
                </a:rPr>
                <a:t>Mean Time To Repair — reduced by half</a:t>
              </a:r>
            </a:p>
          </p:txBody>
        </p:sp>
      </p:grpSp>
      <p:grpSp>
        <p:nvGrpSpPr>
          <p:cNvPr id="14" name="Group 14"/>
          <p:cNvGrpSpPr/>
          <p:nvPr/>
        </p:nvGrpSpPr>
        <p:grpSpPr>
          <a:xfrm>
            <a:off x="4381500" y="4667250"/>
            <a:ext cx="3429000" cy="9525"/>
            <a:chOff x="4381500" y="4667250"/>
            <a:chExt cx="3429000" cy="9525"/>
          </a:xfrm>
        </p:grpSpPr>
        <p:sp>
          <p:nvSpPr>
            <p:cNvPr id="13" name="Line 13"/>
            <p:cNvSpPr/>
            <p:nvPr/>
          </p:nvSpPr>
          <p:spPr>
            <a:xfrm>
              <a:off x="4381500" y="4667250"/>
              <a:ext cx="3429000" cy="9525"/>
            </a:xfrm>
            <a:custGeom>
              <a:avLst/>
              <a:gdLst/>
              <a:ahLst/>
              <a:cxnLst/>
              <a:rect l="l" t="t" r="r" b="b"/>
              <a:pathLst>
                <a:path w="3429000" h="9525">
                  <a:moveTo>
                    <a:pt x="0" y="0"/>
                  </a:moveTo>
                  <a:lnTo>
                    <a:pt x="3429000" y="0"/>
                  </a:lnTo>
                </a:path>
              </a:pathLst>
            </a:custGeom>
            <a:noFill/>
            <a:ln w="9525">
              <a:solidFill>
                <a:srgbClr val="21262D"/>
              </a:solidFill>
            </a:ln>
          </p:spPr>
          <p:txBody>
            <a:bodyPr/>
            <a:lstStyle/>
            <a:p>
              <a:endParaRPr lang="en-US"/>
            </a:p>
          </p:txBody>
        </p:sp>
      </p:grpSp>
      <p:grpSp>
        <p:nvGrpSpPr>
          <p:cNvPr id="24" name="Group 24"/>
          <p:cNvGrpSpPr/>
          <p:nvPr/>
        </p:nvGrpSpPr>
        <p:grpSpPr>
          <a:xfrm>
            <a:off x="1645884" y="4914900"/>
            <a:ext cx="8908852" cy="790575"/>
            <a:chOff x="1645884" y="4914900"/>
            <a:chExt cx="8908852" cy="790575"/>
          </a:xfrm>
        </p:grpSpPr>
        <p:grpSp>
          <p:nvGrpSpPr>
            <p:cNvPr id="17" name="Group 17"/>
            <p:cNvGrpSpPr/>
            <p:nvPr/>
          </p:nvGrpSpPr>
          <p:grpSpPr>
            <a:xfrm>
              <a:off x="1645884" y="4914900"/>
              <a:ext cx="1889831" cy="790575"/>
              <a:chOff x="1645884" y="4914900"/>
              <a:chExt cx="1889831" cy="790575"/>
            </a:xfrm>
          </p:grpSpPr>
          <p:sp>
            <p:nvSpPr>
              <p:cNvPr id="15" name="Freeform 15"/>
              <p:cNvSpPr/>
              <p:nvPr/>
            </p:nvSpPr>
            <p:spPr>
              <a:xfrm>
                <a:off x="2419350" y="4914900"/>
                <a:ext cx="342900" cy="457200"/>
              </a:xfrm>
              <a:custGeom>
                <a:avLst/>
                <a:gdLst/>
                <a:ahLst/>
                <a:cxnLst/>
                <a:rect l="l" t="t" r="r" b="b"/>
                <a:pathLst>
                  <a:path w="342900" h="457200">
                    <a:moveTo>
                      <a:pt x="200025" y="200025"/>
                    </a:moveTo>
                    <a:lnTo>
                      <a:pt x="228600" y="0"/>
                    </a:lnTo>
                    <a:lnTo>
                      <a:pt x="171450" y="0"/>
                    </a:lnTo>
                    <a:lnTo>
                      <a:pt x="0" y="200025"/>
                    </a:lnTo>
                    <a:lnTo>
                      <a:pt x="0" y="257175"/>
                    </a:lnTo>
                    <a:lnTo>
                      <a:pt x="142875" y="257175"/>
                    </a:lnTo>
                    <a:lnTo>
                      <a:pt x="114300" y="457200"/>
                    </a:lnTo>
                    <a:lnTo>
                      <a:pt x="171450" y="457200"/>
                    </a:lnTo>
                    <a:lnTo>
                      <a:pt x="342900" y="257175"/>
                    </a:lnTo>
                    <a:lnTo>
                      <a:pt x="342900" y="200025"/>
                    </a:lnTo>
                    <a:lnTo>
                      <a:pt x="200025" y="200025"/>
                    </a:lnTo>
                    <a:close/>
                  </a:path>
                </a:pathLst>
              </a:custGeom>
              <a:solidFill>
                <a:srgbClr val="FF6B35"/>
              </a:solidFill>
              <a:ln>
                <a:noFill/>
              </a:ln>
            </p:spPr>
            <p:txBody>
              <a:bodyPr/>
              <a:lstStyle/>
              <a:p>
                <a:endParaRPr lang="en-US"/>
              </a:p>
            </p:txBody>
          </p:sp>
          <p:sp>
            <p:nvSpPr>
              <p:cNvPr id="16" name="TextBox 16"/>
              <p:cNvSpPr txBox="1"/>
              <p:nvPr/>
            </p:nvSpPr>
            <p:spPr>
              <a:xfrm>
                <a:off x="1645884" y="5400675"/>
                <a:ext cx="1889831" cy="304800"/>
              </a:xfrm>
              <a:prstGeom prst="rect">
                <a:avLst/>
              </a:prstGeom>
              <a:noFill/>
              <a:ln>
                <a:noFill/>
              </a:ln>
            </p:spPr>
            <p:txBody>
              <a:bodyPr wrap="none" lIns="0" tIns="0" rIns="0" bIns="0" anchor="t" anchorCtr="0">
                <a:spAutoFit/>
              </a:bodyPr>
              <a:lstStyle/>
              <a:p>
                <a:pPr algn="ctr"/>
                <a:r>
                  <a:rPr lang="zh-CN" sz="1500" b="1" dirty="0">
                    <a:solidFill>
                      <a:srgbClr val="E8EDF2"/>
                    </a:solidFill>
                    <a:latin typeface="Arial"/>
                    <a:ea typeface="Microsoft YaHei"/>
                    <a:cs typeface="Arial"/>
                  </a:rPr>
                  <a:t>Faster Diagnosis</a:t>
                </a:r>
              </a:p>
            </p:txBody>
          </p:sp>
        </p:grpSp>
        <p:grpSp>
          <p:nvGrpSpPr>
            <p:cNvPr id="20" name="Group 20"/>
            <p:cNvGrpSpPr/>
            <p:nvPr/>
          </p:nvGrpSpPr>
          <p:grpSpPr>
            <a:xfrm>
              <a:off x="5276159" y="4972050"/>
              <a:ext cx="1487281" cy="733425"/>
              <a:chOff x="5276159" y="4972050"/>
              <a:chExt cx="1487281" cy="733425"/>
            </a:xfrm>
          </p:grpSpPr>
          <p:sp>
            <p:nvSpPr>
              <p:cNvPr id="18" name="Freeform 18"/>
              <p:cNvSpPr/>
              <p:nvPr/>
            </p:nvSpPr>
            <p:spPr>
              <a:xfrm>
                <a:off x="5791200" y="4972050"/>
                <a:ext cx="457200" cy="371475"/>
              </a:xfrm>
              <a:custGeom>
                <a:avLst/>
                <a:gdLst/>
                <a:ahLst/>
                <a:cxnLst/>
                <a:rect l="l" t="t" r="r" b="b"/>
                <a:pathLst>
                  <a:path w="457200" h="371475">
                    <a:moveTo>
                      <a:pt x="0" y="0"/>
                    </a:moveTo>
                    <a:lnTo>
                      <a:pt x="102464" y="0"/>
                    </a:lnTo>
                    <a:cubicBezTo>
                      <a:pt x="128339" y="0"/>
                      <a:pt x="153154" y="10279"/>
                      <a:pt x="171450" y="28575"/>
                    </a:cubicBezTo>
                    <a:cubicBezTo>
                      <a:pt x="189746" y="46871"/>
                      <a:pt x="200025" y="71686"/>
                      <a:pt x="200025" y="97561"/>
                    </a:cubicBezTo>
                    <a:lnTo>
                      <a:pt x="200025" y="257175"/>
                    </a:lnTo>
                    <a:lnTo>
                      <a:pt x="257175" y="257175"/>
                    </a:lnTo>
                    <a:lnTo>
                      <a:pt x="257175" y="97561"/>
                    </a:lnTo>
                    <a:cubicBezTo>
                      <a:pt x="257175" y="71686"/>
                      <a:pt x="267454" y="46871"/>
                      <a:pt x="285750" y="28575"/>
                    </a:cubicBezTo>
                    <a:cubicBezTo>
                      <a:pt x="304047" y="10279"/>
                      <a:pt x="328861" y="0"/>
                      <a:pt x="354736" y="0"/>
                    </a:cubicBezTo>
                    <a:lnTo>
                      <a:pt x="457200" y="0"/>
                    </a:lnTo>
                    <a:lnTo>
                      <a:pt x="457200" y="314325"/>
                    </a:lnTo>
                    <a:lnTo>
                      <a:pt x="314325" y="314325"/>
                    </a:lnTo>
                    <a:lnTo>
                      <a:pt x="257175" y="371475"/>
                    </a:lnTo>
                    <a:lnTo>
                      <a:pt x="200025" y="371475"/>
                    </a:lnTo>
                    <a:lnTo>
                      <a:pt x="142875" y="314325"/>
                    </a:lnTo>
                    <a:lnTo>
                      <a:pt x="0" y="314325"/>
                    </a:lnTo>
                    <a:lnTo>
                      <a:pt x="0" y="0"/>
                    </a:lnTo>
                    <a:close/>
                  </a:path>
                </a:pathLst>
              </a:custGeom>
              <a:solidFill>
                <a:srgbClr val="1565C0"/>
              </a:solidFill>
              <a:ln>
                <a:noFill/>
              </a:ln>
            </p:spPr>
            <p:txBody>
              <a:bodyPr/>
              <a:lstStyle/>
              <a:p>
                <a:endParaRPr lang="en-US"/>
              </a:p>
            </p:txBody>
          </p:sp>
          <p:sp>
            <p:nvSpPr>
              <p:cNvPr id="19" name="TextBox 19"/>
              <p:cNvSpPr txBox="1"/>
              <p:nvPr/>
            </p:nvSpPr>
            <p:spPr>
              <a:xfrm>
                <a:off x="5276159" y="5400675"/>
                <a:ext cx="1487281" cy="304800"/>
              </a:xfrm>
              <a:prstGeom prst="rect">
                <a:avLst/>
              </a:prstGeom>
              <a:noFill/>
              <a:ln>
                <a:noFill/>
              </a:ln>
            </p:spPr>
            <p:txBody>
              <a:bodyPr wrap="none" lIns="0" tIns="0" rIns="0" bIns="0" anchor="t" anchorCtr="0">
                <a:spAutoFit/>
              </a:bodyPr>
              <a:lstStyle/>
              <a:p>
                <a:pPr algn="ctr"/>
                <a:r>
                  <a:rPr lang="zh-CN" sz="1500" b="1" dirty="0">
                    <a:solidFill>
                      <a:srgbClr val="E8EDF2"/>
                    </a:solidFill>
                    <a:latin typeface="Arial"/>
                    <a:ea typeface="Microsoft YaHei"/>
                    <a:cs typeface="Arial"/>
                  </a:rPr>
                  <a:t>SOP Guidance</a:t>
                </a:r>
              </a:p>
            </p:txBody>
          </p:sp>
        </p:grpSp>
        <p:grpSp>
          <p:nvGrpSpPr>
            <p:cNvPr id="23" name="Group 23"/>
            <p:cNvGrpSpPr/>
            <p:nvPr/>
          </p:nvGrpSpPr>
          <p:grpSpPr>
            <a:xfrm>
              <a:off x="8342864" y="4914900"/>
              <a:ext cx="2211872" cy="790575"/>
              <a:chOff x="8342864" y="4914900"/>
              <a:chExt cx="2211872" cy="790575"/>
            </a:xfrm>
          </p:grpSpPr>
          <p:sp>
            <p:nvSpPr>
              <p:cNvPr id="21" name="Freeform 21"/>
              <p:cNvSpPr/>
              <p:nvPr/>
            </p:nvSpPr>
            <p:spPr>
              <a:xfrm>
                <a:off x="9220200" y="4914900"/>
                <a:ext cx="448830" cy="448830"/>
              </a:xfrm>
              <a:custGeom>
                <a:avLst/>
                <a:gdLst/>
                <a:ahLst/>
                <a:cxnLst/>
                <a:rect l="l" t="t" r="r" b="b"/>
                <a:pathLst>
                  <a:path w="448830" h="448830">
                    <a:moveTo>
                      <a:pt x="319817" y="360228"/>
                    </a:moveTo>
                    <a:cubicBezTo>
                      <a:pt x="286424" y="385237"/>
                      <a:pt x="244955" y="400050"/>
                      <a:pt x="200025" y="400050"/>
                    </a:cubicBezTo>
                    <a:cubicBezTo>
                      <a:pt x="89554" y="400050"/>
                      <a:pt x="0" y="310496"/>
                      <a:pt x="0" y="200025"/>
                    </a:cubicBezTo>
                    <a:cubicBezTo>
                      <a:pt x="0" y="89554"/>
                      <a:pt x="89554" y="0"/>
                      <a:pt x="200025" y="0"/>
                    </a:cubicBezTo>
                    <a:cubicBezTo>
                      <a:pt x="310496" y="0"/>
                      <a:pt x="400050" y="89554"/>
                      <a:pt x="400050" y="200025"/>
                    </a:cubicBezTo>
                    <a:cubicBezTo>
                      <a:pt x="400050" y="244955"/>
                      <a:pt x="385237" y="286424"/>
                      <a:pt x="360228" y="319817"/>
                    </a:cubicBezTo>
                    <a:lnTo>
                      <a:pt x="448830" y="408420"/>
                    </a:lnTo>
                    <a:lnTo>
                      <a:pt x="408420" y="448830"/>
                    </a:lnTo>
                    <a:lnTo>
                      <a:pt x="319817" y="360228"/>
                    </a:lnTo>
                    <a:close/>
                    <a:moveTo>
                      <a:pt x="159614" y="240436"/>
                    </a:moveTo>
                    <a:lnTo>
                      <a:pt x="119203" y="280847"/>
                    </a:lnTo>
                    <a:cubicBezTo>
                      <a:pt x="74566" y="236210"/>
                      <a:pt x="74566" y="163840"/>
                      <a:pt x="119203" y="119203"/>
                    </a:cubicBezTo>
                    <a:cubicBezTo>
                      <a:pt x="163840" y="74566"/>
                      <a:pt x="236210" y="74566"/>
                      <a:pt x="280847" y="119203"/>
                    </a:cubicBezTo>
                    <a:lnTo>
                      <a:pt x="240436" y="159614"/>
                    </a:lnTo>
                    <a:cubicBezTo>
                      <a:pt x="218118" y="137295"/>
                      <a:pt x="181932" y="137295"/>
                      <a:pt x="159614" y="159614"/>
                    </a:cubicBezTo>
                    <a:cubicBezTo>
                      <a:pt x="137295" y="181932"/>
                      <a:pt x="137295" y="218118"/>
                      <a:pt x="159614" y="240436"/>
                    </a:cubicBezTo>
                    <a:close/>
                  </a:path>
                </a:pathLst>
              </a:custGeom>
              <a:solidFill>
                <a:srgbClr val="00BCD4"/>
              </a:solidFill>
              <a:ln>
                <a:noFill/>
              </a:ln>
            </p:spPr>
            <p:txBody>
              <a:bodyPr/>
              <a:lstStyle/>
              <a:p>
                <a:endParaRPr lang="en-US"/>
              </a:p>
            </p:txBody>
          </p:sp>
          <p:sp>
            <p:nvSpPr>
              <p:cNvPr id="22" name="TextBox 22"/>
              <p:cNvSpPr txBox="1"/>
              <p:nvPr/>
            </p:nvSpPr>
            <p:spPr>
              <a:xfrm>
                <a:off x="8342864" y="5400675"/>
                <a:ext cx="2211872" cy="304800"/>
              </a:xfrm>
              <a:prstGeom prst="rect">
                <a:avLst/>
              </a:prstGeom>
              <a:noFill/>
              <a:ln>
                <a:noFill/>
              </a:ln>
            </p:spPr>
            <p:txBody>
              <a:bodyPr wrap="none" lIns="0" tIns="0" rIns="0" bIns="0" anchor="t" anchorCtr="0">
                <a:spAutoFit/>
              </a:bodyPr>
              <a:lstStyle/>
              <a:p>
                <a:pPr algn="ctr"/>
                <a:r>
                  <a:rPr lang="zh-CN" sz="1500" b="1" dirty="0">
                    <a:solidFill>
                      <a:srgbClr val="E8EDF2"/>
                    </a:solidFill>
                    <a:latin typeface="Arial"/>
                    <a:ea typeface="Microsoft YaHei"/>
                    <a:cs typeface="Arial"/>
                  </a:rPr>
                  <a:t>Root Cause Analysis</a:t>
                </a:r>
              </a:p>
            </p:txBody>
          </p:sp>
        </p:grpSp>
      </p:grpSp>
      <p:grpSp>
        <p:nvGrpSpPr>
          <p:cNvPr id="27" name="Group 27"/>
          <p:cNvGrpSpPr/>
          <p:nvPr/>
        </p:nvGrpSpPr>
        <p:grpSpPr>
          <a:xfrm>
            <a:off x="0" y="6629400"/>
            <a:ext cx="12192000" cy="252412"/>
            <a:chOff x="0" y="6629400"/>
            <a:chExt cx="12192000" cy="252412"/>
          </a:xfrm>
        </p:grpSpPr>
        <p:sp>
          <p:nvSpPr>
            <p:cNvPr id="25" name="Rectangle 25"/>
            <p:cNvSpPr/>
            <p:nvPr/>
          </p:nvSpPr>
          <p:spPr>
            <a:xfrm>
              <a:off x="0" y="6629400"/>
              <a:ext cx="12192000" cy="228600"/>
            </a:xfrm>
            <a:prstGeom prst="rect">
              <a:avLst/>
            </a:prstGeom>
            <a:solidFill>
              <a:srgbClr val="161B22"/>
            </a:solidFill>
            <a:ln>
              <a:noFill/>
            </a:ln>
          </p:spPr>
          <p:txBody>
            <a:bodyPr/>
            <a:lstStyle/>
            <a:p>
              <a:endParaRPr lang="en-US"/>
            </a:p>
          </p:txBody>
        </p:sp>
        <p:sp>
          <p:nvSpPr>
            <p:cNvPr id="26" name="TextBox 26"/>
            <p:cNvSpPr txBox="1"/>
            <p:nvPr/>
          </p:nvSpPr>
          <p:spPr>
            <a:xfrm>
              <a:off x="11262122" y="6668452"/>
              <a:ext cx="371713" cy="213360"/>
            </a:xfrm>
            <a:prstGeom prst="rect">
              <a:avLst/>
            </a:prstGeom>
            <a:noFill/>
            <a:ln>
              <a:noFill/>
            </a:ln>
          </p:spPr>
          <p:txBody>
            <a:bodyPr wrap="none" lIns="0" tIns="0" rIns="0" bIns="0" anchor="t" anchorCtr="0">
              <a:spAutoFit/>
            </a:bodyPr>
            <a:lstStyle/>
            <a:p>
              <a:pPr algn="r"/>
              <a:r>
                <a:rPr lang="zh-CN" sz="1050" dirty="0">
                  <a:solidFill>
                    <a:srgbClr val="58636D"/>
                  </a:solidFill>
                  <a:latin typeface="Arial"/>
                  <a:ea typeface="Microsoft YaHei"/>
                  <a:cs typeface="Arial"/>
                </a:rPr>
                <a:t>3 / 6</a:t>
              </a:r>
            </a:p>
          </p:txBody>
        </p:sp>
      </p:grpSp>
    </p:spTree>
  </p:cSld>
  <p:clrMapOvr>
    <a:masterClrMapping/>
  </p:clrMapOvr>
  <mc:AlternateContent xmlns:mc="http://schemas.openxmlformats.org/markup-compatibility/2006">
    <mc:Choice xmlns:p14="http://schemas.microsoft.com/office/powerpoint/2010/main" Requires="p14">
      <p:transition p14:dur="400" advTm="6000">
        <p:fade/>
      </p:transition>
    </mc:Choice>
    <mc:Fallback>
      <p:transition advTm="6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14" presetClass="entr" presetSubtype="1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400"/>
                                        <p:tgtEl>
                                          <p:spTgt spid="12"/>
                                        </p:tgtEl>
                                      </p:cBhvr>
                                    </p:animEffect>
                                  </p:childTnLst>
                                </p:cTn>
                              </p:par>
                            </p:childTnLst>
                          </p:cTn>
                        </p:par>
                        <p:par>
                          <p:cTn id="12" fill="hold">
                            <p:stCondLst>
                              <p:cond delay="1800"/>
                            </p:stCondLst>
                            <p:childTnLst>
                              <p:par>
                                <p:cTn id="13" presetID="4"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box(in)">
                                      <p:cBhvr>
                                        <p:cTn id="15" dur="400"/>
                                        <p:tgtEl>
                                          <p:spTgt spid="14"/>
                                        </p:tgtEl>
                                      </p:cBhvr>
                                    </p:animEffect>
                                  </p:childTnLst>
                                </p:cTn>
                              </p:par>
                            </p:childTnLst>
                          </p:cTn>
                        </p:par>
                        <p:par>
                          <p:cTn id="16" fill="hold">
                            <p:stCondLst>
                              <p:cond delay="2700"/>
                            </p:stCondLst>
                            <p:childTnLst>
                              <p:par>
                                <p:cTn id="17" presetID="16" presetClass="entr" presetSubtype="21" fill="hold" nodeType="after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barn(inVertical)">
                                      <p:cBhvr>
                                        <p:cTn id="1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P spid="14" grpId="0"/>
      <p:bldP spid="2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D1117"/>
            </a:solidFill>
            <a:ln>
              <a:noFill/>
            </a:ln>
          </p:spPr>
          <p:txBody>
            <a:bodyPr/>
            <a:lstStyle/>
            <a:p>
              <a:endParaRPr lang="en-US"/>
            </a:p>
          </p:txBody>
        </p:sp>
        <p:sp>
          <p:nvSpPr>
            <p:cNvPr id="3" name="Rectangle 3"/>
            <p:cNvSpPr/>
            <p:nvPr/>
          </p:nvSpPr>
          <p:spPr>
            <a:xfrm>
              <a:off x="0" y="0"/>
              <a:ext cx="12192000" cy="6858000"/>
            </a:xfrm>
            <a:prstGeom prst="rect">
              <a:avLst/>
            </a:prstGeom>
            <a:gradFill>
              <a:gsLst>
                <a:gs pos="0">
                  <a:srgbClr val="1565C0">
                    <a:alpha val="7000"/>
                  </a:srgbClr>
                </a:gs>
                <a:gs pos="100000">
                  <a:srgbClr val="1565C0">
                    <a:alpha val="0"/>
                  </a:srgbClr>
                </a:gs>
              </a:gsLst>
              <a:path path="circle">
                <a:fillToRect l="50000" t="50000" r="50000" b="50000"/>
              </a:path>
            </a:gradFill>
            <a:ln>
              <a:noFill/>
            </a:ln>
          </p:spPr>
          <p:txBody>
            <a:bodyPr/>
            <a:lstStyle/>
            <a:p>
              <a:endParaRPr lang="en-US"/>
            </a:p>
          </p:txBody>
        </p:sp>
      </p:grpSp>
      <p:grpSp>
        <p:nvGrpSpPr>
          <p:cNvPr id="7" name="Group 7"/>
          <p:cNvGrpSpPr/>
          <p:nvPr/>
        </p:nvGrpSpPr>
        <p:grpSpPr>
          <a:xfrm>
            <a:off x="2804636" y="361950"/>
            <a:ext cx="6582727" cy="609600"/>
            <a:chOff x="2804636" y="361950"/>
            <a:chExt cx="6582727" cy="609600"/>
          </a:xfrm>
        </p:grpSpPr>
        <p:sp>
          <p:nvSpPr>
            <p:cNvPr id="5" name="TextBox 5"/>
            <p:cNvSpPr txBox="1"/>
            <p:nvPr/>
          </p:nvSpPr>
          <p:spPr>
            <a:xfrm>
              <a:off x="2804636" y="361950"/>
              <a:ext cx="6582727" cy="609600"/>
            </a:xfrm>
            <a:prstGeom prst="rect">
              <a:avLst/>
            </a:prstGeom>
            <a:noFill/>
            <a:ln>
              <a:noFill/>
            </a:ln>
          </p:spPr>
          <p:txBody>
            <a:bodyPr wrap="none" lIns="0" tIns="0" rIns="0" bIns="0" anchor="t" anchorCtr="0">
              <a:spAutoFit/>
            </a:bodyPr>
            <a:lstStyle/>
            <a:p>
              <a:pPr algn="ctr"/>
              <a:r>
                <a:rPr lang="zh-CN" sz="3000" dirty="0">
                  <a:solidFill>
                    <a:srgbClr val="E8EDF2"/>
                  </a:solidFill>
                  <a:latin typeface="Impact"/>
                  <a:ea typeface="SimHei"/>
                  <a:cs typeface="Impact"/>
                </a:rPr>
                <a:t>EVERY REPAIR MAKES AI SMARTER</a:t>
              </a:r>
            </a:p>
          </p:txBody>
        </p:sp>
        <p:sp>
          <p:nvSpPr>
            <p:cNvPr id="6" name="Rectangle 6"/>
            <p:cNvSpPr/>
            <p:nvPr/>
          </p:nvSpPr>
          <p:spPr>
            <a:xfrm>
              <a:off x="4667250" y="781050"/>
              <a:ext cx="2857500" cy="28575"/>
            </a:xfrm>
            <a:prstGeom prst="rect">
              <a:avLst/>
            </a:prstGeom>
            <a:solidFill>
              <a:srgbClr val="1565C0"/>
            </a:solidFill>
            <a:ln>
              <a:noFill/>
            </a:ln>
          </p:spPr>
          <p:txBody>
            <a:bodyPr/>
            <a:lstStyle/>
            <a:p>
              <a:endParaRPr lang="en-US"/>
            </a:p>
          </p:txBody>
        </p:sp>
      </p:grpSp>
      <p:grpSp>
        <p:nvGrpSpPr>
          <p:cNvPr id="19" name="Group 19"/>
          <p:cNvGrpSpPr/>
          <p:nvPr/>
        </p:nvGrpSpPr>
        <p:grpSpPr>
          <a:xfrm>
            <a:off x="2787658" y="1554019"/>
            <a:ext cx="4315713" cy="4333788"/>
            <a:chOff x="2787658" y="1554019"/>
            <a:chExt cx="4315713" cy="4333788"/>
          </a:xfrm>
        </p:grpSpPr>
        <p:sp>
          <p:nvSpPr>
            <p:cNvPr id="8" name="Ellipse 8"/>
            <p:cNvSpPr/>
            <p:nvPr/>
          </p:nvSpPr>
          <p:spPr>
            <a:xfrm>
              <a:off x="3429000" y="2190750"/>
              <a:ext cx="3048000" cy="3048000"/>
            </a:xfrm>
            <a:prstGeom prst="ellipse">
              <a:avLst/>
            </a:prstGeom>
            <a:gradFill>
              <a:gsLst>
                <a:gs pos="0">
                  <a:srgbClr val="1565C0">
                    <a:alpha val="20000"/>
                  </a:srgbClr>
                </a:gs>
                <a:gs pos="100000">
                  <a:srgbClr val="1565C0">
                    <a:alpha val="0"/>
                  </a:srgbClr>
                </a:gs>
              </a:gsLst>
              <a:path path="circle">
                <a:fillToRect l="50000" t="50000" r="50000" b="50000"/>
              </a:path>
            </a:gradFill>
            <a:ln>
              <a:noFill/>
            </a:ln>
          </p:spPr>
          <p:txBody>
            <a:bodyPr/>
            <a:lstStyle/>
            <a:p>
              <a:endParaRPr lang="en-US"/>
            </a:p>
          </p:txBody>
        </p:sp>
        <p:sp>
          <p:nvSpPr>
            <p:cNvPr id="9" name="Freeform 9"/>
            <p:cNvSpPr/>
            <p:nvPr/>
          </p:nvSpPr>
          <p:spPr>
            <a:xfrm>
              <a:off x="4953000" y="1714500"/>
              <a:ext cx="1902143" cy="1603058"/>
            </a:xfrm>
            <a:custGeom>
              <a:avLst/>
              <a:gdLst/>
              <a:ahLst/>
              <a:cxnLst/>
              <a:rect l="l" t="t" r="r" b="b"/>
              <a:pathLst>
                <a:path w="1902143" h="1603058">
                  <a:moveTo>
                    <a:pt x="0" y="0"/>
                  </a:moveTo>
                  <a:cubicBezTo>
                    <a:pt x="866468" y="82"/>
                    <a:pt x="1634363" y="558026"/>
                    <a:pt x="1902143" y="1382078"/>
                  </a:cubicBezTo>
                  <a:lnTo>
                    <a:pt x="1223010" y="1603058"/>
                  </a:lnTo>
                  <a:cubicBezTo>
                    <a:pt x="1050914" y="1073158"/>
                    <a:pt x="557145" y="714368"/>
                    <a:pt x="0" y="714375"/>
                  </a:cubicBezTo>
                  <a:close/>
                </a:path>
              </a:pathLst>
            </a:custGeom>
            <a:solidFill>
              <a:srgbClr val="1565C0"/>
            </a:solidFill>
            <a:ln>
              <a:noFill/>
            </a:ln>
          </p:spPr>
          <p:txBody>
            <a:bodyPr/>
            <a:lstStyle/>
            <a:p>
              <a:endParaRPr lang="en-US"/>
            </a:p>
          </p:txBody>
        </p:sp>
        <p:sp>
          <p:nvSpPr>
            <p:cNvPr id="10" name="Freeform 10"/>
            <p:cNvSpPr/>
            <p:nvPr/>
          </p:nvSpPr>
          <p:spPr>
            <a:xfrm>
              <a:off x="5634038" y="3231832"/>
              <a:ext cx="1469333" cy="2179320"/>
            </a:xfrm>
            <a:custGeom>
              <a:avLst/>
              <a:gdLst/>
              <a:ahLst/>
              <a:cxnLst/>
              <a:rect l="l" t="t" r="r" b="b"/>
              <a:pathLst>
                <a:path w="1469333" h="2179320">
                  <a:moveTo>
                    <a:pt x="1260157" y="0"/>
                  </a:moveTo>
                  <a:cubicBezTo>
                    <a:pt x="1469333" y="840583"/>
                    <a:pt x="1113684" y="1720286"/>
                    <a:pt x="379095" y="2179320"/>
                  </a:cubicBezTo>
                  <a:lnTo>
                    <a:pt x="0" y="1573530"/>
                  </a:lnTo>
                  <a:cubicBezTo>
                    <a:pt x="472421" y="1278516"/>
                    <a:pt x="701207" y="712896"/>
                    <a:pt x="566738" y="172402"/>
                  </a:cubicBezTo>
                  <a:close/>
                </a:path>
              </a:pathLst>
            </a:custGeom>
            <a:solidFill>
              <a:srgbClr val="00BCD4"/>
            </a:solidFill>
            <a:ln>
              <a:noFill/>
            </a:ln>
          </p:spPr>
          <p:txBody>
            <a:bodyPr/>
            <a:lstStyle/>
            <a:p>
              <a:endParaRPr lang="en-US"/>
            </a:p>
          </p:txBody>
        </p:sp>
        <p:sp>
          <p:nvSpPr>
            <p:cNvPr id="11" name="Freeform 11"/>
            <p:cNvSpPr/>
            <p:nvPr/>
          </p:nvSpPr>
          <p:spPr>
            <a:xfrm>
              <a:off x="3562350" y="4639628"/>
              <a:ext cx="2328862" cy="1248179"/>
            </a:xfrm>
            <a:custGeom>
              <a:avLst/>
              <a:gdLst/>
              <a:ahLst/>
              <a:cxnLst/>
              <a:rect l="l" t="t" r="r" b="b"/>
              <a:pathLst>
                <a:path w="2328862" h="1248179">
                  <a:moveTo>
                    <a:pt x="2328862" y="841057"/>
                  </a:moveTo>
                  <a:cubicBezTo>
                    <a:pt x="1563772" y="1248179"/>
                    <a:pt x="623535" y="1116276"/>
                    <a:pt x="0" y="514350"/>
                  </a:cubicBezTo>
                  <a:lnTo>
                    <a:pt x="497205" y="0"/>
                  </a:lnTo>
                  <a:cubicBezTo>
                    <a:pt x="897806" y="386762"/>
                    <a:pt x="1501826" y="471732"/>
                    <a:pt x="1993582" y="210502"/>
                  </a:cubicBezTo>
                  <a:close/>
                </a:path>
              </a:pathLst>
            </a:custGeom>
            <a:solidFill>
              <a:srgbClr val="0288D1"/>
            </a:solidFill>
            <a:ln>
              <a:noFill/>
            </a:ln>
          </p:spPr>
          <p:txBody>
            <a:bodyPr/>
            <a:lstStyle/>
            <a:p>
              <a:endParaRPr lang="en-US"/>
            </a:p>
          </p:txBody>
        </p:sp>
        <p:sp>
          <p:nvSpPr>
            <p:cNvPr id="12" name="Freeform 12"/>
            <p:cNvSpPr/>
            <p:nvPr/>
          </p:nvSpPr>
          <p:spPr>
            <a:xfrm>
              <a:off x="2787658" y="2714625"/>
              <a:ext cx="1209032" cy="2337435"/>
            </a:xfrm>
            <a:custGeom>
              <a:avLst/>
              <a:gdLst/>
              <a:ahLst/>
              <a:cxnLst/>
              <a:rect l="l" t="t" r="r" b="b"/>
              <a:pathLst>
                <a:path w="1209032" h="2337435">
                  <a:moveTo>
                    <a:pt x="678490" y="2337435"/>
                  </a:moveTo>
                  <a:cubicBezTo>
                    <a:pt x="99191" y="1693650"/>
                    <a:pt x="0" y="750185"/>
                    <a:pt x="432745" y="0"/>
                  </a:cubicBezTo>
                  <a:lnTo>
                    <a:pt x="1051870" y="357188"/>
                  </a:lnTo>
                  <a:cubicBezTo>
                    <a:pt x="773257" y="839376"/>
                    <a:pt x="836698" y="1446109"/>
                    <a:pt x="1209032" y="1860233"/>
                  </a:cubicBezTo>
                  <a:close/>
                </a:path>
              </a:pathLst>
            </a:custGeom>
            <a:solidFill>
              <a:srgbClr val="007B9E"/>
            </a:solidFill>
            <a:ln>
              <a:noFill/>
            </a:ln>
          </p:spPr>
          <p:txBody>
            <a:bodyPr/>
            <a:lstStyle/>
            <a:p>
              <a:endParaRPr lang="en-US"/>
            </a:p>
          </p:txBody>
        </p:sp>
        <p:sp>
          <p:nvSpPr>
            <p:cNvPr id="13" name="Freeform 13"/>
            <p:cNvSpPr/>
            <p:nvPr/>
          </p:nvSpPr>
          <p:spPr>
            <a:xfrm>
              <a:off x="3296602" y="1554019"/>
              <a:ext cx="2206942" cy="1440641"/>
            </a:xfrm>
            <a:custGeom>
              <a:avLst/>
              <a:gdLst/>
              <a:ahLst/>
              <a:cxnLst/>
              <a:rect l="l" t="t" r="r" b="b"/>
              <a:pathLst>
                <a:path w="2206942" h="1440641">
                  <a:moveTo>
                    <a:pt x="0" y="1041543"/>
                  </a:moveTo>
                  <a:cubicBezTo>
                    <a:pt x="484301" y="324394"/>
                    <a:pt x="1374848" y="0"/>
                    <a:pt x="2206942" y="237633"/>
                  </a:cubicBezTo>
                  <a:lnTo>
                    <a:pt x="2010728" y="924386"/>
                  </a:lnTo>
                  <a:cubicBezTo>
                    <a:pt x="1475783" y="771283"/>
                    <a:pt x="903054" y="979618"/>
                    <a:pt x="591503" y="1440641"/>
                  </a:cubicBezTo>
                  <a:close/>
                </a:path>
              </a:pathLst>
            </a:custGeom>
            <a:solidFill>
              <a:srgbClr val="1976D2"/>
            </a:solidFill>
            <a:ln>
              <a:noFill/>
            </a:ln>
          </p:spPr>
          <p:txBody>
            <a:bodyPr/>
            <a:lstStyle/>
            <a:p>
              <a:endParaRPr lang="en-US"/>
            </a:p>
          </p:txBody>
        </p:sp>
        <p:sp>
          <p:nvSpPr>
            <p:cNvPr id="14" name="Ellipse 14"/>
            <p:cNvSpPr/>
            <p:nvPr/>
          </p:nvSpPr>
          <p:spPr>
            <a:xfrm>
              <a:off x="3829050" y="2590800"/>
              <a:ext cx="2247900" cy="2247900"/>
            </a:xfrm>
            <a:prstGeom prst="ellipse">
              <a:avLst/>
            </a:prstGeom>
            <a:solidFill>
              <a:srgbClr val="161B22"/>
            </a:solidFill>
            <a:ln>
              <a:noFill/>
            </a:ln>
            <a:effectLst>
              <a:outerShdw blurRad="190500" dist="47625" dir="5400000" algn="ctr" rotWithShape="0">
                <a:srgbClr val="000000">
                  <a:alpha val="18750"/>
                </a:srgbClr>
              </a:outerShdw>
            </a:effectLst>
          </p:spPr>
          <p:txBody>
            <a:bodyPr/>
            <a:lstStyle/>
            <a:p>
              <a:endParaRPr lang="en-US"/>
            </a:p>
          </p:txBody>
        </p:sp>
        <p:sp>
          <p:nvSpPr>
            <p:cNvPr id="15" name="Ellipse 15"/>
            <p:cNvSpPr/>
            <p:nvPr/>
          </p:nvSpPr>
          <p:spPr>
            <a:xfrm>
              <a:off x="3886200" y="2647950"/>
              <a:ext cx="2133600" cy="2133600"/>
            </a:xfrm>
            <a:prstGeom prst="ellipse">
              <a:avLst/>
            </a:prstGeom>
            <a:solidFill>
              <a:srgbClr val="0D1117"/>
            </a:solidFill>
            <a:ln>
              <a:noFill/>
            </a:ln>
          </p:spPr>
          <p:txBody>
            <a:bodyPr/>
            <a:lstStyle/>
            <a:p>
              <a:endParaRPr lang="en-US"/>
            </a:p>
          </p:txBody>
        </p:sp>
        <p:sp>
          <p:nvSpPr>
            <p:cNvPr id="16" name="Freeform 16"/>
            <p:cNvSpPr/>
            <p:nvPr/>
          </p:nvSpPr>
          <p:spPr>
            <a:xfrm>
              <a:off x="4752975" y="3314700"/>
              <a:ext cx="400050" cy="533400"/>
            </a:xfrm>
            <a:custGeom>
              <a:avLst/>
              <a:gdLst/>
              <a:ahLst/>
              <a:cxnLst/>
              <a:rect l="l" t="t" r="r" b="b"/>
              <a:pathLst>
                <a:path w="400050" h="533400">
                  <a:moveTo>
                    <a:pt x="100012" y="383381"/>
                  </a:moveTo>
                  <a:lnTo>
                    <a:pt x="100012" y="483394"/>
                  </a:lnTo>
                  <a:lnTo>
                    <a:pt x="150019" y="533400"/>
                  </a:lnTo>
                  <a:lnTo>
                    <a:pt x="250031" y="533400"/>
                  </a:lnTo>
                  <a:lnTo>
                    <a:pt x="300038" y="483394"/>
                  </a:lnTo>
                  <a:lnTo>
                    <a:pt x="300038" y="383381"/>
                  </a:lnTo>
                  <a:lnTo>
                    <a:pt x="341363" y="342056"/>
                  </a:lnTo>
                  <a:cubicBezTo>
                    <a:pt x="378941" y="304479"/>
                    <a:pt x="400050" y="253412"/>
                    <a:pt x="400050" y="200270"/>
                  </a:cubicBezTo>
                  <a:cubicBezTo>
                    <a:pt x="400050" y="89800"/>
                    <a:pt x="310495" y="0"/>
                    <a:pt x="200025" y="0"/>
                  </a:cubicBezTo>
                  <a:cubicBezTo>
                    <a:pt x="89554" y="0"/>
                    <a:pt x="0" y="89800"/>
                    <a:pt x="0" y="200270"/>
                  </a:cubicBezTo>
                  <a:cubicBezTo>
                    <a:pt x="0" y="253412"/>
                    <a:pt x="21111" y="304479"/>
                    <a:pt x="58688" y="342056"/>
                  </a:cubicBezTo>
                  <a:lnTo>
                    <a:pt x="100012" y="383381"/>
                  </a:lnTo>
                  <a:close/>
                  <a:moveTo>
                    <a:pt x="166688" y="329174"/>
                  </a:moveTo>
                  <a:lnTo>
                    <a:pt x="166688" y="200025"/>
                  </a:lnTo>
                  <a:lnTo>
                    <a:pt x="233362" y="200025"/>
                  </a:lnTo>
                  <a:lnTo>
                    <a:pt x="233362" y="329174"/>
                  </a:lnTo>
                  <a:cubicBezTo>
                    <a:pt x="290876" y="314371"/>
                    <a:pt x="333375" y="262161"/>
                    <a:pt x="333375" y="200025"/>
                  </a:cubicBezTo>
                  <a:cubicBezTo>
                    <a:pt x="333375" y="126378"/>
                    <a:pt x="273671" y="66675"/>
                    <a:pt x="200025" y="66675"/>
                  </a:cubicBezTo>
                  <a:cubicBezTo>
                    <a:pt x="126378" y="66675"/>
                    <a:pt x="66675" y="126378"/>
                    <a:pt x="66675" y="200025"/>
                  </a:cubicBezTo>
                  <a:cubicBezTo>
                    <a:pt x="66675" y="262161"/>
                    <a:pt x="109173" y="314371"/>
                    <a:pt x="166688" y="329174"/>
                  </a:cubicBezTo>
                  <a:close/>
                </a:path>
              </a:pathLst>
            </a:custGeom>
            <a:solidFill>
              <a:srgbClr val="00BCD4"/>
            </a:solidFill>
            <a:ln>
              <a:noFill/>
            </a:ln>
          </p:spPr>
          <p:txBody>
            <a:bodyPr/>
            <a:lstStyle/>
            <a:p>
              <a:endParaRPr lang="en-US"/>
            </a:p>
          </p:txBody>
        </p:sp>
        <p:sp>
          <p:nvSpPr>
            <p:cNvPr id="17" name="TextBox 17"/>
            <p:cNvSpPr txBox="1"/>
            <p:nvPr/>
          </p:nvSpPr>
          <p:spPr>
            <a:xfrm>
              <a:off x="4418290" y="3930968"/>
              <a:ext cx="1069419" cy="274320"/>
            </a:xfrm>
            <a:prstGeom prst="rect">
              <a:avLst/>
            </a:prstGeom>
            <a:noFill/>
            <a:ln>
              <a:noFill/>
            </a:ln>
          </p:spPr>
          <p:txBody>
            <a:bodyPr wrap="none" lIns="0" tIns="0" rIns="0" bIns="0" anchor="t" anchorCtr="0">
              <a:spAutoFit/>
            </a:bodyPr>
            <a:lstStyle/>
            <a:p>
              <a:pPr algn="ctr"/>
              <a:r>
                <a:rPr lang="zh-CN" sz="1350" dirty="0">
                  <a:solidFill>
                    <a:srgbClr val="E8EDF2"/>
                  </a:solidFill>
                  <a:latin typeface="Impact"/>
                  <a:ea typeface="SimHei"/>
                  <a:cs typeface="Impact"/>
                </a:rPr>
                <a:t>Continuous</a:t>
              </a:r>
            </a:p>
          </p:txBody>
        </p:sp>
        <p:sp>
          <p:nvSpPr>
            <p:cNvPr id="18" name="TextBox 18"/>
            <p:cNvSpPr txBox="1"/>
            <p:nvPr/>
          </p:nvSpPr>
          <p:spPr>
            <a:xfrm>
              <a:off x="4526732" y="4121468"/>
              <a:ext cx="852535" cy="274320"/>
            </a:xfrm>
            <a:prstGeom prst="rect">
              <a:avLst/>
            </a:prstGeom>
            <a:noFill/>
            <a:ln>
              <a:noFill/>
            </a:ln>
          </p:spPr>
          <p:txBody>
            <a:bodyPr wrap="none" lIns="0" tIns="0" rIns="0" bIns="0" anchor="t" anchorCtr="0">
              <a:spAutoFit/>
            </a:bodyPr>
            <a:lstStyle/>
            <a:p>
              <a:pPr algn="ctr"/>
              <a:r>
                <a:rPr lang="zh-CN" sz="1350" dirty="0">
                  <a:solidFill>
                    <a:srgbClr val="E8EDF2"/>
                  </a:solidFill>
                  <a:latin typeface="Impact"/>
                  <a:ea typeface="SimHei"/>
                  <a:cs typeface="Impact"/>
                </a:rPr>
                <a:t>Learning</a:t>
              </a:r>
            </a:p>
          </p:txBody>
        </p:sp>
      </p:grpSp>
      <p:grpSp>
        <p:nvGrpSpPr>
          <p:cNvPr id="22" name="Group 22"/>
          <p:cNvGrpSpPr/>
          <p:nvPr/>
        </p:nvGrpSpPr>
        <p:grpSpPr>
          <a:xfrm>
            <a:off x="5700522" y="1533525"/>
            <a:ext cx="1362456" cy="485775"/>
            <a:chOff x="5700522" y="1533525"/>
            <a:chExt cx="1362456" cy="485775"/>
          </a:xfrm>
        </p:grpSpPr>
        <p:sp>
          <p:nvSpPr>
            <p:cNvPr id="20" name="TextBox 20"/>
            <p:cNvSpPr txBox="1"/>
            <p:nvPr/>
          </p:nvSpPr>
          <p:spPr>
            <a:xfrm>
              <a:off x="6011906" y="1533525"/>
              <a:ext cx="739688" cy="304800"/>
            </a:xfrm>
            <a:prstGeom prst="rect">
              <a:avLst/>
            </a:prstGeom>
            <a:noFill/>
            <a:ln>
              <a:noFill/>
            </a:ln>
          </p:spPr>
          <p:txBody>
            <a:bodyPr wrap="none" lIns="0" tIns="0" rIns="0" bIns="0" anchor="t" anchorCtr="0">
              <a:spAutoFit/>
            </a:bodyPr>
            <a:lstStyle/>
            <a:p>
              <a:pPr algn="ctr"/>
              <a:r>
                <a:rPr lang="zh-CN" sz="1500" b="1" dirty="0">
                  <a:solidFill>
                    <a:srgbClr val="E8EDF2"/>
                  </a:solidFill>
                  <a:latin typeface="Arial"/>
                  <a:ea typeface="Microsoft YaHei"/>
                  <a:cs typeface="Arial"/>
                </a:rPr>
                <a:t>Ticket</a:t>
              </a:r>
            </a:p>
          </p:txBody>
        </p:sp>
        <p:sp>
          <p:nvSpPr>
            <p:cNvPr id="21" name="TextBox 21"/>
            <p:cNvSpPr txBox="1"/>
            <p:nvPr/>
          </p:nvSpPr>
          <p:spPr>
            <a:xfrm>
              <a:off x="5700522" y="1775460"/>
              <a:ext cx="1362456" cy="243840"/>
            </a:xfrm>
            <a:prstGeom prst="rect">
              <a:avLst/>
            </a:prstGeom>
            <a:noFill/>
            <a:ln>
              <a:noFill/>
            </a:ln>
          </p:spPr>
          <p:txBody>
            <a:bodyPr wrap="none" lIns="0" tIns="0" rIns="0" bIns="0" anchor="t" anchorCtr="0">
              <a:spAutoFit/>
            </a:bodyPr>
            <a:lstStyle/>
            <a:p>
              <a:pPr algn="ctr"/>
              <a:r>
                <a:rPr lang="zh-CN" sz="1200" dirty="0">
                  <a:solidFill>
                    <a:srgbClr val="8B949E"/>
                  </a:solidFill>
                  <a:latin typeface="Arial"/>
                  <a:ea typeface="Microsoft YaHei"/>
                  <a:cs typeface="Arial"/>
                </a:rPr>
                <a:t>New work order</a:t>
              </a:r>
            </a:p>
          </p:txBody>
        </p:sp>
      </p:grpSp>
      <p:grpSp>
        <p:nvGrpSpPr>
          <p:cNvPr id="25" name="Group 25"/>
          <p:cNvGrpSpPr/>
          <p:nvPr/>
        </p:nvGrpSpPr>
        <p:grpSpPr>
          <a:xfrm>
            <a:off x="6830936" y="4438650"/>
            <a:ext cx="1245751" cy="485775"/>
            <a:chOff x="7092375" y="4352925"/>
            <a:chExt cx="1245751" cy="485775"/>
          </a:xfrm>
        </p:grpSpPr>
        <p:sp>
          <p:nvSpPr>
            <p:cNvPr id="23" name="TextBox 23"/>
            <p:cNvSpPr txBox="1"/>
            <p:nvPr/>
          </p:nvSpPr>
          <p:spPr>
            <a:xfrm>
              <a:off x="7092375" y="4352925"/>
              <a:ext cx="1245751" cy="304800"/>
            </a:xfrm>
            <a:prstGeom prst="rect">
              <a:avLst/>
            </a:prstGeom>
            <a:noFill/>
            <a:ln>
              <a:noFill/>
            </a:ln>
          </p:spPr>
          <p:txBody>
            <a:bodyPr wrap="none" lIns="0" tIns="0" rIns="0" bIns="0" anchor="t" anchorCtr="0">
              <a:spAutoFit/>
            </a:bodyPr>
            <a:lstStyle/>
            <a:p>
              <a:pPr algn="ctr"/>
              <a:r>
                <a:rPr lang="zh-CN" sz="1500" b="1" dirty="0">
                  <a:solidFill>
                    <a:srgbClr val="E8EDF2"/>
                  </a:solidFill>
                  <a:latin typeface="Arial"/>
                  <a:ea typeface="Microsoft YaHei"/>
                  <a:cs typeface="Arial"/>
                </a:rPr>
                <a:t>Root Cause</a:t>
              </a:r>
            </a:p>
          </p:txBody>
        </p:sp>
        <p:sp>
          <p:nvSpPr>
            <p:cNvPr id="24" name="TextBox 24"/>
            <p:cNvSpPr txBox="1"/>
            <p:nvPr/>
          </p:nvSpPr>
          <p:spPr>
            <a:xfrm>
              <a:off x="7161086" y="4594860"/>
              <a:ext cx="1108329" cy="243840"/>
            </a:xfrm>
            <a:prstGeom prst="rect">
              <a:avLst/>
            </a:prstGeom>
            <a:noFill/>
            <a:ln>
              <a:noFill/>
            </a:ln>
          </p:spPr>
          <p:txBody>
            <a:bodyPr wrap="none" lIns="0" tIns="0" rIns="0" bIns="0" anchor="t" anchorCtr="0">
              <a:spAutoFit/>
            </a:bodyPr>
            <a:lstStyle/>
            <a:p>
              <a:pPr algn="ctr"/>
              <a:r>
                <a:rPr lang="zh-CN" sz="1200" dirty="0">
                  <a:solidFill>
                    <a:srgbClr val="8B949E"/>
                  </a:solidFill>
                  <a:latin typeface="Arial"/>
                  <a:ea typeface="Microsoft YaHei"/>
                  <a:cs typeface="Arial"/>
                </a:rPr>
                <a:t>AI-identified</a:t>
              </a:r>
            </a:p>
          </p:txBody>
        </p:sp>
      </p:grpSp>
      <p:grpSp>
        <p:nvGrpSpPr>
          <p:cNvPr id="28" name="Group 28"/>
          <p:cNvGrpSpPr/>
          <p:nvPr/>
        </p:nvGrpSpPr>
        <p:grpSpPr>
          <a:xfrm>
            <a:off x="3833812" y="6010275"/>
            <a:ext cx="1476375" cy="485775"/>
            <a:chOff x="3833812" y="6010275"/>
            <a:chExt cx="1476375" cy="485775"/>
          </a:xfrm>
        </p:grpSpPr>
        <p:sp>
          <p:nvSpPr>
            <p:cNvPr id="26" name="TextBox 26"/>
            <p:cNvSpPr txBox="1"/>
            <p:nvPr/>
          </p:nvSpPr>
          <p:spPr>
            <a:xfrm>
              <a:off x="3977878" y="6010275"/>
              <a:ext cx="1188244" cy="304800"/>
            </a:xfrm>
            <a:prstGeom prst="rect">
              <a:avLst/>
            </a:prstGeom>
            <a:noFill/>
            <a:ln>
              <a:noFill/>
            </a:ln>
          </p:spPr>
          <p:txBody>
            <a:bodyPr wrap="none" lIns="0" tIns="0" rIns="0" bIns="0" anchor="t" anchorCtr="0">
              <a:spAutoFit/>
            </a:bodyPr>
            <a:lstStyle/>
            <a:p>
              <a:pPr algn="ctr"/>
              <a:r>
                <a:rPr lang="zh-CN" sz="1500" b="1" dirty="0">
                  <a:solidFill>
                    <a:srgbClr val="E8EDF2"/>
                  </a:solidFill>
                  <a:latin typeface="Arial"/>
                  <a:ea typeface="Microsoft YaHei"/>
                  <a:cs typeface="Arial"/>
                </a:rPr>
                <a:t>Resolution</a:t>
              </a:r>
            </a:p>
          </p:txBody>
        </p:sp>
        <p:sp>
          <p:nvSpPr>
            <p:cNvPr id="27" name="TextBox 27"/>
            <p:cNvSpPr txBox="1"/>
            <p:nvPr/>
          </p:nvSpPr>
          <p:spPr>
            <a:xfrm>
              <a:off x="3833812" y="6252210"/>
              <a:ext cx="1476375" cy="243840"/>
            </a:xfrm>
            <a:prstGeom prst="rect">
              <a:avLst/>
            </a:prstGeom>
            <a:noFill/>
            <a:ln>
              <a:noFill/>
            </a:ln>
          </p:spPr>
          <p:txBody>
            <a:bodyPr wrap="none" lIns="0" tIns="0" rIns="0" bIns="0" anchor="t" anchorCtr="0">
              <a:spAutoFit/>
            </a:bodyPr>
            <a:lstStyle/>
            <a:p>
              <a:pPr algn="ctr"/>
              <a:r>
                <a:rPr lang="zh-CN" sz="1200" dirty="0">
                  <a:solidFill>
                    <a:srgbClr val="8B949E"/>
                  </a:solidFill>
                  <a:latin typeface="Arial"/>
                  <a:ea typeface="Microsoft YaHei"/>
                  <a:cs typeface="Arial"/>
                </a:rPr>
                <a:t>Repair completed</a:t>
              </a:r>
            </a:p>
          </p:txBody>
        </p:sp>
      </p:grpSp>
      <p:grpSp>
        <p:nvGrpSpPr>
          <p:cNvPr id="32" name="Group 32"/>
          <p:cNvGrpSpPr/>
          <p:nvPr/>
        </p:nvGrpSpPr>
        <p:grpSpPr>
          <a:xfrm>
            <a:off x="904494" y="3743325"/>
            <a:ext cx="1191006" cy="695325"/>
            <a:chOff x="904494" y="3743325"/>
            <a:chExt cx="1191006" cy="695325"/>
          </a:xfrm>
        </p:grpSpPr>
        <p:sp>
          <p:nvSpPr>
            <p:cNvPr id="29" name="TextBox 29"/>
            <p:cNvSpPr txBox="1"/>
            <p:nvPr/>
          </p:nvSpPr>
          <p:spPr>
            <a:xfrm>
              <a:off x="930259" y="3743325"/>
              <a:ext cx="1165241" cy="304800"/>
            </a:xfrm>
            <a:prstGeom prst="rect">
              <a:avLst/>
            </a:prstGeom>
            <a:noFill/>
            <a:ln>
              <a:noFill/>
            </a:ln>
          </p:spPr>
          <p:txBody>
            <a:bodyPr wrap="none" lIns="0" tIns="0" rIns="0" bIns="0" anchor="t" anchorCtr="0">
              <a:spAutoFit/>
            </a:bodyPr>
            <a:lstStyle/>
            <a:p>
              <a:pPr algn="r"/>
              <a:r>
                <a:rPr lang="zh-CN" sz="1500" b="1" dirty="0">
                  <a:solidFill>
                    <a:srgbClr val="E8EDF2"/>
                  </a:solidFill>
                  <a:latin typeface="Arial"/>
                  <a:ea typeface="Microsoft YaHei"/>
                  <a:cs typeface="Arial"/>
                </a:rPr>
                <a:t>Knowledge</a:t>
              </a:r>
            </a:p>
          </p:txBody>
        </p:sp>
        <p:sp>
          <p:nvSpPr>
            <p:cNvPr id="30" name="TextBox 30"/>
            <p:cNvSpPr txBox="1"/>
            <p:nvPr/>
          </p:nvSpPr>
          <p:spPr>
            <a:xfrm>
              <a:off x="1551337" y="3952875"/>
              <a:ext cx="544163" cy="304800"/>
            </a:xfrm>
            <a:prstGeom prst="rect">
              <a:avLst/>
            </a:prstGeom>
            <a:noFill/>
            <a:ln>
              <a:noFill/>
            </a:ln>
          </p:spPr>
          <p:txBody>
            <a:bodyPr wrap="none" lIns="0" tIns="0" rIns="0" bIns="0" anchor="t" anchorCtr="0">
              <a:spAutoFit/>
            </a:bodyPr>
            <a:lstStyle/>
            <a:p>
              <a:pPr algn="r"/>
              <a:r>
                <a:rPr lang="zh-CN" sz="1500" b="1" dirty="0">
                  <a:solidFill>
                    <a:srgbClr val="E8EDF2"/>
                  </a:solidFill>
                  <a:latin typeface="Arial"/>
                  <a:ea typeface="Microsoft YaHei"/>
                  <a:cs typeface="Arial"/>
                </a:rPr>
                <a:t>Base</a:t>
              </a:r>
            </a:p>
          </p:txBody>
        </p:sp>
        <p:sp>
          <p:nvSpPr>
            <p:cNvPr id="31" name="TextBox 31"/>
            <p:cNvSpPr txBox="1"/>
            <p:nvPr/>
          </p:nvSpPr>
          <p:spPr>
            <a:xfrm>
              <a:off x="904494" y="4194810"/>
              <a:ext cx="1187196" cy="243840"/>
            </a:xfrm>
            <a:prstGeom prst="rect">
              <a:avLst/>
            </a:prstGeom>
            <a:noFill/>
            <a:ln>
              <a:noFill/>
            </a:ln>
          </p:spPr>
          <p:txBody>
            <a:bodyPr wrap="none" lIns="0" tIns="0" rIns="0" bIns="0" anchor="t" anchorCtr="0">
              <a:spAutoFit/>
            </a:bodyPr>
            <a:lstStyle/>
            <a:p>
              <a:pPr algn="r"/>
              <a:r>
                <a:rPr lang="zh-CN" sz="1200" dirty="0">
                  <a:solidFill>
                    <a:srgbClr val="8B949E"/>
                  </a:solidFill>
                  <a:latin typeface="Arial"/>
                  <a:ea typeface="Microsoft YaHei"/>
                  <a:cs typeface="Arial"/>
                </a:rPr>
                <a:t>Auto-updated</a:t>
              </a:r>
            </a:p>
          </p:txBody>
        </p:sp>
      </p:grpSp>
      <p:grpSp>
        <p:nvGrpSpPr>
          <p:cNvPr id="35" name="Group 35"/>
          <p:cNvGrpSpPr/>
          <p:nvPr/>
        </p:nvGrpSpPr>
        <p:grpSpPr>
          <a:xfrm>
            <a:off x="2813316" y="1285875"/>
            <a:ext cx="1383768" cy="485775"/>
            <a:chOff x="2813316" y="1285875"/>
            <a:chExt cx="1383768" cy="485775"/>
          </a:xfrm>
        </p:grpSpPr>
        <p:sp>
          <p:nvSpPr>
            <p:cNvPr id="33" name="TextBox 33"/>
            <p:cNvSpPr txBox="1"/>
            <p:nvPr/>
          </p:nvSpPr>
          <p:spPr>
            <a:xfrm>
              <a:off x="2813316" y="1285875"/>
              <a:ext cx="1383768" cy="304800"/>
            </a:xfrm>
            <a:prstGeom prst="rect">
              <a:avLst/>
            </a:prstGeom>
            <a:noFill/>
            <a:ln>
              <a:noFill/>
            </a:ln>
          </p:spPr>
          <p:txBody>
            <a:bodyPr wrap="none" lIns="0" tIns="0" rIns="0" bIns="0" anchor="t" anchorCtr="0">
              <a:spAutoFit/>
            </a:bodyPr>
            <a:lstStyle/>
            <a:p>
              <a:pPr algn="ctr"/>
              <a:r>
                <a:rPr lang="zh-CN" sz="1500" b="1" dirty="0">
                  <a:solidFill>
                    <a:srgbClr val="00BCD4"/>
                  </a:solidFill>
                  <a:latin typeface="Arial"/>
                  <a:ea typeface="Microsoft YaHei"/>
                  <a:cs typeface="Arial"/>
                </a:rPr>
                <a:t>AI Assistant</a:t>
              </a:r>
            </a:p>
          </p:txBody>
        </p:sp>
        <p:sp>
          <p:nvSpPr>
            <p:cNvPr id="34" name="TextBox 34"/>
            <p:cNvSpPr txBox="1"/>
            <p:nvPr/>
          </p:nvSpPr>
          <p:spPr>
            <a:xfrm>
              <a:off x="2915984" y="1527810"/>
              <a:ext cx="1178433" cy="243840"/>
            </a:xfrm>
            <a:prstGeom prst="rect">
              <a:avLst/>
            </a:prstGeom>
            <a:noFill/>
            <a:ln>
              <a:noFill/>
            </a:ln>
          </p:spPr>
          <p:txBody>
            <a:bodyPr wrap="none" lIns="0" tIns="0" rIns="0" bIns="0" anchor="t" anchorCtr="0">
              <a:spAutoFit/>
            </a:bodyPr>
            <a:lstStyle/>
            <a:p>
              <a:pPr algn="ctr"/>
              <a:r>
                <a:rPr lang="zh-CN" sz="1200" dirty="0">
                  <a:solidFill>
                    <a:srgbClr val="8B949E"/>
                  </a:solidFill>
                  <a:latin typeface="Arial"/>
                  <a:ea typeface="Microsoft YaHei"/>
                  <a:cs typeface="Arial"/>
                </a:rPr>
                <a:t>Gets smarter</a:t>
              </a:r>
            </a:p>
          </p:txBody>
        </p:sp>
      </p:grpSp>
      <p:grpSp>
        <p:nvGrpSpPr>
          <p:cNvPr id="48" name="Group 48"/>
          <p:cNvGrpSpPr/>
          <p:nvPr/>
        </p:nvGrpSpPr>
        <p:grpSpPr>
          <a:xfrm>
            <a:off x="8096250" y="1714500"/>
            <a:ext cx="3803285" cy="3143250"/>
            <a:chOff x="8096250" y="1714500"/>
            <a:chExt cx="3803285" cy="3143250"/>
          </a:xfrm>
        </p:grpSpPr>
        <p:sp>
          <p:nvSpPr>
            <p:cNvPr id="36" name="Rectangle 36"/>
            <p:cNvSpPr/>
            <p:nvPr/>
          </p:nvSpPr>
          <p:spPr>
            <a:xfrm>
              <a:off x="8096250" y="1714500"/>
              <a:ext cx="3619500" cy="3143250"/>
            </a:xfrm>
            <a:prstGeom prst="roundRect">
              <a:avLst>
                <a:gd name="adj" fmla="val 3636"/>
              </a:avLst>
            </a:prstGeom>
            <a:solidFill>
              <a:srgbClr val="161B22"/>
            </a:solidFill>
            <a:ln w="9525">
              <a:solidFill>
                <a:srgbClr val="21262D"/>
              </a:solidFill>
            </a:ln>
          </p:spPr>
          <p:txBody>
            <a:bodyPr/>
            <a:lstStyle/>
            <a:p>
              <a:endParaRPr lang="en-US"/>
            </a:p>
          </p:txBody>
        </p:sp>
        <p:sp>
          <p:nvSpPr>
            <p:cNvPr id="37" name="Rectangle 37"/>
            <p:cNvSpPr/>
            <p:nvPr/>
          </p:nvSpPr>
          <p:spPr>
            <a:xfrm>
              <a:off x="8096250" y="1714500"/>
              <a:ext cx="38100" cy="3143250"/>
            </a:xfrm>
            <a:prstGeom prst="rect">
              <a:avLst/>
            </a:prstGeom>
            <a:solidFill>
              <a:srgbClr val="1565C0"/>
            </a:solidFill>
            <a:ln>
              <a:noFill/>
            </a:ln>
          </p:spPr>
          <p:txBody>
            <a:bodyPr/>
            <a:lstStyle/>
            <a:p>
              <a:endParaRPr lang="en-US"/>
            </a:p>
          </p:txBody>
        </p:sp>
        <p:sp>
          <p:nvSpPr>
            <p:cNvPr id="38" name="TextBox 38"/>
            <p:cNvSpPr txBox="1"/>
            <p:nvPr/>
          </p:nvSpPr>
          <p:spPr>
            <a:xfrm>
              <a:off x="8341995" y="1974532"/>
              <a:ext cx="2536079" cy="335280"/>
            </a:xfrm>
            <a:prstGeom prst="rect">
              <a:avLst/>
            </a:prstGeom>
            <a:noFill/>
            <a:ln>
              <a:noFill/>
            </a:ln>
          </p:spPr>
          <p:txBody>
            <a:bodyPr wrap="none" lIns="0" tIns="0" rIns="0" bIns="0" anchor="t" anchorCtr="0">
              <a:spAutoFit/>
            </a:bodyPr>
            <a:lstStyle/>
            <a:p>
              <a:pPr algn="l"/>
              <a:r>
                <a:rPr lang="zh-CN" sz="1650" dirty="0">
                  <a:solidFill>
                    <a:srgbClr val="E8EDF2"/>
                  </a:solidFill>
                  <a:latin typeface="Impact"/>
                  <a:ea typeface="SimHei"/>
                  <a:cs typeface="Impact"/>
                </a:rPr>
                <a:t>HOW THE LOOP WORKS</a:t>
              </a:r>
            </a:p>
          </p:txBody>
        </p:sp>
        <p:sp>
          <p:nvSpPr>
            <p:cNvPr id="39" name="Rectangle 39"/>
            <p:cNvSpPr/>
            <p:nvPr/>
          </p:nvSpPr>
          <p:spPr>
            <a:xfrm>
              <a:off x="8286750" y="2247900"/>
              <a:ext cx="3238500" cy="9525"/>
            </a:xfrm>
            <a:prstGeom prst="rect">
              <a:avLst/>
            </a:prstGeom>
            <a:solidFill>
              <a:srgbClr val="21262D"/>
            </a:solidFill>
            <a:ln>
              <a:noFill/>
            </a:ln>
          </p:spPr>
          <p:txBody>
            <a:bodyPr/>
            <a:lstStyle/>
            <a:p>
              <a:endParaRPr lang="en-US"/>
            </a:p>
          </p:txBody>
        </p:sp>
        <p:sp>
          <p:nvSpPr>
            <p:cNvPr id="40" name="TextBox 40"/>
            <p:cNvSpPr txBox="1"/>
            <p:nvPr/>
          </p:nvSpPr>
          <p:spPr>
            <a:xfrm>
              <a:off x="8345805" y="2445068"/>
              <a:ext cx="3376279" cy="274320"/>
            </a:xfrm>
            <a:prstGeom prst="rect">
              <a:avLst/>
            </a:prstGeom>
            <a:noFill/>
            <a:ln>
              <a:noFill/>
            </a:ln>
          </p:spPr>
          <p:txBody>
            <a:bodyPr wrap="none" lIns="0" tIns="0" rIns="0" bIns="0" anchor="t" anchorCtr="0">
              <a:spAutoFit/>
            </a:bodyPr>
            <a:lstStyle/>
            <a:p>
              <a:pPr algn="l"/>
              <a:r>
                <a:rPr lang="zh-CN" sz="1350" dirty="0">
                  <a:solidFill>
                    <a:srgbClr val="8B949E"/>
                  </a:solidFill>
                  <a:latin typeface="Arial"/>
                  <a:ea typeface="Microsoft YaHei"/>
                  <a:cs typeface="Arial"/>
                </a:rPr>
                <a:t>1. Engineer submits a repair ticket</a:t>
              </a:r>
            </a:p>
          </p:txBody>
        </p:sp>
        <p:sp>
          <p:nvSpPr>
            <p:cNvPr id="41" name="TextBox 41"/>
            <p:cNvSpPr txBox="1"/>
            <p:nvPr/>
          </p:nvSpPr>
          <p:spPr>
            <a:xfrm>
              <a:off x="8345805" y="2768918"/>
              <a:ext cx="2952369" cy="274320"/>
            </a:xfrm>
            <a:prstGeom prst="rect">
              <a:avLst/>
            </a:prstGeom>
            <a:noFill/>
            <a:ln>
              <a:noFill/>
            </a:ln>
          </p:spPr>
          <p:txBody>
            <a:bodyPr wrap="none" lIns="0" tIns="0" rIns="0" bIns="0" anchor="t" anchorCtr="0">
              <a:spAutoFit/>
            </a:bodyPr>
            <a:lstStyle/>
            <a:p>
              <a:pPr algn="l"/>
              <a:r>
                <a:rPr lang="zh-CN" sz="1350" dirty="0">
                  <a:solidFill>
                    <a:srgbClr val="8B949E"/>
                  </a:solidFill>
                  <a:latin typeface="Arial"/>
                  <a:ea typeface="Microsoft YaHei"/>
                  <a:cs typeface="Arial"/>
                </a:rPr>
                <a:t>2. AI identifies the root cause</a:t>
              </a:r>
            </a:p>
          </p:txBody>
        </p:sp>
        <p:sp>
          <p:nvSpPr>
            <p:cNvPr id="42" name="TextBox 42"/>
            <p:cNvSpPr txBox="1"/>
            <p:nvPr/>
          </p:nvSpPr>
          <p:spPr>
            <a:xfrm>
              <a:off x="8345805" y="3092768"/>
              <a:ext cx="2449592" cy="274320"/>
            </a:xfrm>
            <a:prstGeom prst="rect">
              <a:avLst/>
            </a:prstGeom>
            <a:noFill/>
            <a:ln>
              <a:noFill/>
            </a:ln>
          </p:spPr>
          <p:txBody>
            <a:bodyPr wrap="none" lIns="0" tIns="0" rIns="0" bIns="0" anchor="t" anchorCtr="0">
              <a:spAutoFit/>
            </a:bodyPr>
            <a:lstStyle/>
            <a:p>
              <a:pPr algn="l"/>
              <a:r>
                <a:rPr lang="zh-CN" sz="1350" dirty="0">
                  <a:solidFill>
                    <a:srgbClr val="8B949E"/>
                  </a:solidFill>
                  <a:latin typeface="Arial"/>
                  <a:ea typeface="Microsoft YaHei"/>
                  <a:cs typeface="Arial"/>
                </a:rPr>
                <a:t>3. Resolution is recorded</a:t>
              </a:r>
            </a:p>
          </p:txBody>
        </p:sp>
        <p:sp>
          <p:nvSpPr>
            <p:cNvPr id="43" name="TextBox 43"/>
            <p:cNvSpPr txBox="1"/>
            <p:nvPr/>
          </p:nvSpPr>
          <p:spPr>
            <a:xfrm>
              <a:off x="8345805" y="3416618"/>
              <a:ext cx="2814352" cy="274320"/>
            </a:xfrm>
            <a:prstGeom prst="rect">
              <a:avLst/>
            </a:prstGeom>
            <a:noFill/>
            <a:ln>
              <a:noFill/>
            </a:ln>
          </p:spPr>
          <p:txBody>
            <a:bodyPr wrap="none" lIns="0" tIns="0" rIns="0" bIns="0" anchor="t" anchorCtr="0">
              <a:spAutoFit/>
            </a:bodyPr>
            <a:lstStyle/>
            <a:p>
              <a:pPr algn="l"/>
              <a:r>
                <a:rPr lang="zh-CN" sz="1350" dirty="0">
                  <a:solidFill>
                    <a:srgbClr val="8B949E"/>
                  </a:solidFill>
                  <a:latin typeface="Arial"/>
                  <a:ea typeface="Microsoft YaHei"/>
                  <a:cs typeface="Arial"/>
                </a:rPr>
                <a:t>4. Knowledge base is updated</a:t>
              </a:r>
            </a:p>
          </p:txBody>
        </p:sp>
        <p:sp>
          <p:nvSpPr>
            <p:cNvPr id="44" name="TextBox 44"/>
            <p:cNvSpPr txBox="1"/>
            <p:nvPr/>
          </p:nvSpPr>
          <p:spPr>
            <a:xfrm>
              <a:off x="8345805" y="3740468"/>
              <a:ext cx="3553730" cy="274320"/>
            </a:xfrm>
            <a:prstGeom prst="rect">
              <a:avLst/>
            </a:prstGeom>
            <a:noFill/>
            <a:ln>
              <a:noFill/>
            </a:ln>
          </p:spPr>
          <p:txBody>
            <a:bodyPr wrap="none" lIns="0" tIns="0" rIns="0" bIns="0" anchor="t" anchorCtr="0">
              <a:spAutoFit/>
            </a:bodyPr>
            <a:lstStyle/>
            <a:p>
              <a:pPr algn="l"/>
              <a:r>
                <a:rPr lang="zh-CN" sz="1350" dirty="0">
                  <a:solidFill>
                    <a:srgbClr val="8B949E"/>
                  </a:solidFill>
                  <a:latin typeface="Arial"/>
                  <a:ea typeface="Microsoft YaHei"/>
                  <a:cs typeface="Arial"/>
                </a:rPr>
                <a:t>5. AI becomes smarter for next time</a:t>
              </a:r>
            </a:p>
          </p:txBody>
        </p:sp>
        <p:sp>
          <p:nvSpPr>
            <p:cNvPr id="45" name="Rectangle 45"/>
            <p:cNvSpPr/>
            <p:nvPr/>
          </p:nvSpPr>
          <p:spPr>
            <a:xfrm>
              <a:off x="8286750" y="4076700"/>
              <a:ext cx="3238500" cy="9525"/>
            </a:xfrm>
            <a:prstGeom prst="rect">
              <a:avLst/>
            </a:prstGeom>
            <a:solidFill>
              <a:srgbClr val="21262D"/>
            </a:solidFill>
            <a:ln>
              <a:noFill/>
            </a:ln>
          </p:spPr>
          <p:txBody>
            <a:bodyPr/>
            <a:lstStyle/>
            <a:p>
              <a:endParaRPr lang="en-US"/>
            </a:p>
          </p:txBody>
        </p:sp>
        <p:sp>
          <p:nvSpPr>
            <p:cNvPr id="46" name="TextBox 46"/>
            <p:cNvSpPr txBox="1"/>
            <p:nvPr/>
          </p:nvSpPr>
          <p:spPr>
            <a:xfrm>
              <a:off x="8858901" y="4235768"/>
              <a:ext cx="2094197" cy="274320"/>
            </a:xfrm>
            <a:prstGeom prst="rect">
              <a:avLst/>
            </a:prstGeom>
            <a:noFill/>
            <a:ln>
              <a:noFill/>
            </a:ln>
          </p:spPr>
          <p:txBody>
            <a:bodyPr wrap="none" lIns="0" tIns="0" rIns="0" bIns="0" anchor="t" anchorCtr="0">
              <a:spAutoFit/>
            </a:bodyPr>
            <a:lstStyle/>
            <a:p>
              <a:pPr algn="ctr"/>
              <a:r>
                <a:rPr lang="zh-CN" sz="1350" b="1" dirty="0">
                  <a:solidFill>
                    <a:srgbClr val="00BCD4"/>
                  </a:solidFill>
                  <a:latin typeface="Arial"/>
                  <a:ea typeface="Microsoft YaHei"/>
                  <a:cs typeface="Arial"/>
                </a:rPr>
                <a:t>The more you use it,</a:t>
              </a:r>
            </a:p>
          </p:txBody>
        </p:sp>
        <p:sp>
          <p:nvSpPr>
            <p:cNvPr id="47" name="TextBox 47"/>
            <p:cNvSpPr txBox="1"/>
            <p:nvPr/>
          </p:nvSpPr>
          <p:spPr>
            <a:xfrm>
              <a:off x="8889955" y="4464368"/>
              <a:ext cx="2032090" cy="274320"/>
            </a:xfrm>
            <a:prstGeom prst="rect">
              <a:avLst/>
            </a:prstGeom>
            <a:noFill/>
            <a:ln>
              <a:noFill/>
            </a:ln>
          </p:spPr>
          <p:txBody>
            <a:bodyPr wrap="none" lIns="0" tIns="0" rIns="0" bIns="0" anchor="t" anchorCtr="0">
              <a:spAutoFit/>
            </a:bodyPr>
            <a:lstStyle/>
            <a:p>
              <a:pPr algn="ctr"/>
              <a:r>
                <a:rPr lang="zh-CN" sz="1350" b="1" dirty="0">
                  <a:solidFill>
                    <a:srgbClr val="00BCD4"/>
                  </a:solidFill>
                  <a:latin typeface="Arial"/>
                  <a:ea typeface="Microsoft YaHei"/>
                  <a:cs typeface="Arial"/>
                </a:rPr>
                <a:t>the smarter it gets</a:t>
              </a:r>
            </a:p>
          </p:txBody>
        </p:sp>
      </p:grpSp>
      <p:grpSp>
        <p:nvGrpSpPr>
          <p:cNvPr id="51" name="Group 51"/>
          <p:cNvGrpSpPr/>
          <p:nvPr/>
        </p:nvGrpSpPr>
        <p:grpSpPr>
          <a:xfrm>
            <a:off x="0" y="6629400"/>
            <a:ext cx="12192000" cy="252412"/>
            <a:chOff x="0" y="6629400"/>
            <a:chExt cx="12192000" cy="252412"/>
          </a:xfrm>
        </p:grpSpPr>
        <p:sp>
          <p:nvSpPr>
            <p:cNvPr id="49" name="Rectangle 49"/>
            <p:cNvSpPr/>
            <p:nvPr/>
          </p:nvSpPr>
          <p:spPr>
            <a:xfrm>
              <a:off x="0" y="6629400"/>
              <a:ext cx="12192000" cy="228600"/>
            </a:xfrm>
            <a:prstGeom prst="rect">
              <a:avLst/>
            </a:prstGeom>
            <a:solidFill>
              <a:srgbClr val="161B22"/>
            </a:solidFill>
            <a:ln>
              <a:noFill/>
            </a:ln>
          </p:spPr>
          <p:txBody>
            <a:bodyPr/>
            <a:lstStyle/>
            <a:p>
              <a:endParaRPr lang="en-US"/>
            </a:p>
          </p:txBody>
        </p:sp>
        <p:sp>
          <p:nvSpPr>
            <p:cNvPr id="50" name="TextBox 50"/>
            <p:cNvSpPr txBox="1"/>
            <p:nvPr/>
          </p:nvSpPr>
          <p:spPr>
            <a:xfrm>
              <a:off x="11262122" y="6668452"/>
              <a:ext cx="371713" cy="213360"/>
            </a:xfrm>
            <a:prstGeom prst="rect">
              <a:avLst/>
            </a:prstGeom>
            <a:noFill/>
            <a:ln>
              <a:noFill/>
            </a:ln>
          </p:spPr>
          <p:txBody>
            <a:bodyPr wrap="none" lIns="0" tIns="0" rIns="0" bIns="0" anchor="t" anchorCtr="0">
              <a:spAutoFit/>
            </a:bodyPr>
            <a:lstStyle/>
            <a:p>
              <a:pPr algn="r"/>
              <a:r>
                <a:rPr lang="zh-CN" sz="1050" dirty="0">
                  <a:solidFill>
                    <a:srgbClr val="58636D"/>
                  </a:solidFill>
                  <a:latin typeface="Arial"/>
                  <a:ea typeface="Microsoft YaHei"/>
                  <a:cs typeface="Arial"/>
                </a:rPr>
                <a:t>4 / 6</a:t>
              </a:r>
            </a:p>
          </p:txBody>
        </p:sp>
      </p:grpSp>
    </p:spTree>
  </p:cSld>
  <p:clrMapOvr>
    <a:masterClrMapping/>
  </p:clrMapOvr>
  <mc:AlternateContent xmlns:mc="http://schemas.openxmlformats.org/markup-compatibility/2006">
    <mc:Choice xmlns:p14="http://schemas.microsoft.com/office/powerpoint/2010/main" Requires="p14">
      <p:transition p14:dur="400" advTm="6000">
        <p:fade/>
      </p:transition>
    </mc:Choice>
    <mc:Fallback>
      <p:transition advTm="6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18" presetClass="entr" presetSubtype="12"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strips(downRight)">
                                      <p:cBhvr>
                                        <p:cTn id="11" dur="400"/>
                                        <p:tgtEl>
                                          <p:spTgt spid="19"/>
                                        </p:tgtEl>
                                      </p:cBhvr>
                                    </p:animEffect>
                                  </p:childTnLst>
                                </p:cTn>
                              </p:par>
                            </p:childTnLst>
                          </p:cTn>
                        </p:par>
                        <p:par>
                          <p:cTn id="12" fill="hold">
                            <p:stCondLst>
                              <p:cond delay="1800"/>
                            </p:stCondLst>
                            <p:childTnLst>
                              <p:par>
                                <p:cTn id="13" presetID="20" presetClass="entr" presetSubtype="0" fill="hold"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wedge">
                                      <p:cBhvr>
                                        <p:cTn id="15" dur="400"/>
                                        <p:tgtEl>
                                          <p:spTgt spid="22"/>
                                        </p:tgtEl>
                                      </p:cBhvr>
                                    </p:animEffect>
                                  </p:childTnLst>
                                </p:cTn>
                              </p:par>
                            </p:childTnLst>
                          </p:cTn>
                        </p:par>
                        <p:par>
                          <p:cTn id="16" fill="hold">
                            <p:stCondLst>
                              <p:cond delay="2700"/>
                            </p:stCondLst>
                            <p:childTnLst>
                              <p:par>
                                <p:cTn id="17" presetID="21" presetClass="entr" presetSubtype="0" fill="hold" nodeType="after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heel(4)">
                                      <p:cBhvr>
                                        <p:cTn id="19" dur="400"/>
                                        <p:tgtEl>
                                          <p:spTgt spid="25"/>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wipe(left)">
                                      <p:cBhvr>
                                        <p:cTn id="23" dur="400"/>
                                        <p:tgtEl>
                                          <p:spTgt spid="28"/>
                                        </p:tgtEl>
                                      </p:cBhvr>
                                    </p:animEffect>
                                  </p:childTnLst>
                                </p:cTn>
                              </p:par>
                            </p:childTnLst>
                          </p:cTn>
                        </p:par>
                        <p:par>
                          <p:cTn id="24" fill="hold">
                            <p:stCondLst>
                              <p:cond delay="4500"/>
                            </p:stCondLst>
                            <p:childTnLst>
                              <p:par>
                                <p:cTn id="25" presetID="50" presetClass="entr" presetSubtype="0" fill="hold" nodeType="after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stretch(across)">
                                      <p:cBhvr>
                                        <p:cTn id="27" dur="400"/>
                                        <p:tgtEl>
                                          <p:spTgt spid="32"/>
                                        </p:tgtEl>
                                      </p:cBhvr>
                                    </p:animEffect>
                                  </p:childTnLst>
                                </p:cTn>
                              </p:par>
                            </p:childTnLst>
                          </p:cTn>
                        </p:par>
                        <p:par>
                          <p:cTn id="28" fill="hold">
                            <p:stCondLst>
                              <p:cond delay="5400"/>
                            </p:stCondLst>
                            <p:childTnLst>
                              <p:par>
                                <p:cTn id="29" presetID="10" presetClass="entr" presetSubtype="0" fill="hold" nodeType="after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fade">
                                      <p:cBhvr>
                                        <p:cTn id="31" dur="400"/>
                                        <p:tgtEl>
                                          <p:spTgt spid="35"/>
                                        </p:tgtEl>
                                      </p:cBhvr>
                                    </p:animEffect>
                                  </p:childTnLst>
                                </p:cTn>
                              </p:par>
                            </p:childTnLst>
                          </p:cTn>
                        </p:par>
                        <p:par>
                          <p:cTn id="32" fill="hold">
                            <p:stCondLst>
                              <p:cond delay="6300"/>
                            </p:stCondLst>
                            <p:childTnLst>
                              <p:par>
                                <p:cTn id="33" presetID="19" presetClass="entr" presetSubtype="0" fill="hold" nodeType="afterEffect">
                                  <p:stCondLst>
                                    <p:cond delay="0"/>
                                  </p:stCondLst>
                                  <p:childTnLst>
                                    <p:set>
                                      <p:cBhvr>
                                        <p:cTn id="34" dur="1" fill="hold">
                                          <p:stCondLst>
                                            <p:cond delay="0"/>
                                          </p:stCondLst>
                                        </p:cTn>
                                        <p:tgtEl>
                                          <p:spTgt spid="48"/>
                                        </p:tgtEl>
                                        <p:attrNameLst>
                                          <p:attrName>style.visibility</p:attrName>
                                        </p:attrNameLst>
                                      </p:cBhvr>
                                      <p:to>
                                        <p:strVal val="visible"/>
                                      </p:to>
                                    </p:set>
                                    <p:animEffect transition="in" filter="wheel(1)">
                                      <p:cBhvr>
                                        <p:cTn id="35"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9" grpId="0"/>
      <p:bldP spid="22" grpId="0"/>
      <p:bldP spid="25" grpId="0"/>
      <p:bldP spid="28" grpId="0"/>
      <p:bldP spid="32" grpId="0"/>
      <p:bldP spid="35" grpId="0"/>
      <p:bldP spid="4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D1117"/>
            </a:solidFill>
            <a:ln>
              <a:noFill/>
            </a:ln>
          </p:spPr>
          <p:txBody>
            <a:bodyPr/>
            <a:lstStyle/>
            <a:p>
              <a:endParaRPr lang="en-US"/>
            </a:p>
          </p:txBody>
        </p:sp>
        <p:sp>
          <p:nvSpPr>
            <p:cNvPr id="3" name="Rectangle 3"/>
            <p:cNvSpPr/>
            <p:nvPr/>
          </p:nvSpPr>
          <p:spPr>
            <a:xfrm>
              <a:off x="0" y="0"/>
              <a:ext cx="12192000" cy="6858000"/>
            </a:xfrm>
            <a:prstGeom prst="rect">
              <a:avLst/>
            </a:prstGeom>
            <a:gradFill>
              <a:gsLst>
                <a:gs pos="0">
                  <a:srgbClr val="1565C0">
                    <a:alpha val="5000"/>
                  </a:srgbClr>
                </a:gs>
                <a:gs pos="100000">
                  <a:srgbClr val="1565C0">
                    <a:alpha val="0"/>
                  </a:srgbClr>
                </a:gs>
              </a:gsLst>
              <a:path path="circle">
                <a:fillToRect l="50000" t="50000" r="50000" b="50000"/>
              </a:path>
            </a:gradFill>
            <a:ln>
              <a:noFill/>
            </a:ln>
          </p:spPr>
          <p:txBody>
            <a:bodyPr/>
            <a:lstStyle/>
            <a:p>
              <a:endParaRPr lang="en-US"/>
            </a:p>
          </p:txBody>
        </p:sp>
      </p:grpSp>
      <p:grpSp>
        <p:nvGrpSpPr>
          <p:cNvPr id="7" name="Group 7"/>
          <p:cNvGrpSpPr/>
          <p:nvPr/>
        </p:nvGrpSpPr>
        <p:grpSpPr>
          <a:xfrm>
            <a:off x="2628900" y="340995"/>
            <a:ext cx="6934200" cy="792480"/>
            <a:chOff x="2628900" y="340995"/>
            <a:chExt cx="6934200" cy="792480"/>
          </a:xfrm>
        </p:grpSpPr>
        <p:sp>
          <p:nvSpPr>
            <p:cNvPr id="5" name="TextBox 5"/>
            <p:cNvSpPr txBox="1"/>
            <p:nvPr/>
          </p:nvSpPr>
          <p:spPr>
            <a:xfrm>
              <a:off x="2628900" y="340995"/>
              <a:ext cx="6934200" cy="792480"/>
            </a:xfrm>
            <a:prstGeom prst="rect">
              <a:avLst/>
            </a:prstGeom>
            <a:noFill/>
            <a:ln>
              <a:noFill/>
            </a:ln>
          </p:spPr>
          <p:txBody>
            <a:bodyPr wrap="none" lIns="0" tIns="0" rIns="0" bIns="0" anchor="t" anchorCtr="0">
              <a:spAutoFit/>
            </a:bodyPr>
            <a:lstStyle/>
            <a:p>
              <a:pPr algn="ctr"/>
              <a:r>
                <a:rPr lang="zh-CN" sz="3900" dirty="0">
                  <a:solidFill>
                    <a:srgbClr val="E8EDF2"/>
                  </a:solidFill>
                  <a:latin typeface="Impact"/>
                  <a:ea typeface="SimHei"/>
                  <a:cs typeface="Impact"/>
                </a:rPr>
                <a:t>KNOWLEDGE NEVER LEAVES</a:t>
              </a:r>
            </a:p>
          </p:txBody>
        </p:sp>
        <p:sp>
          <p:nvSpPr>
            <p:cNvPr id="6" name="Rectangle 6"/>
            <p:cNvSpPr/>
            <p:nvPr/>
          </p:nvSpPr>
          <p:spPr>
            <a:xfrm>
              <a:off x="4667250" y="876300"/>
              <a:ext cx="2857500" cy="28575"/>
            </a:xfrm>
            <a:prstGeom prst="rect">
              <a:avLst/>
            </a:prstGeom>
            <a:solidFill>
              <a:srgbClr val="00BCD4"/>
            </a:solidFill>
            <a:ln>
              <a:noFill/>
            </a:ln>
          </p:spPr>
          <p:txBody>
            <a:bodyPr/>
            <a:lstStyle/>
            <a:p>
              <a:endParaRPr lang="en-US"/>
            </a:p>
          </p:txBody>
        </p:sp>
      </p:grpSp>
      <p:grpSp>
        <p:nvGrpSpPr>
          <p:cNvPr id="13" name="Group 13"/>
          <p:cNvGrpSpPr/>
          <p:nvPr/>
        </p:nvGrpSpPr>
        <p:grpSpPr>
          <a:xfrm>
            <a:off x="3429000" y="1314450"/>
            <a:ext cx="4701064" cy="762000"/>
            <a:chOff x="3429000" y="1314450"/>
            <a:chExt cx="4701064" cy="762000"/>
          </a:xfrm>
        </p:grpSpPr>
        <p:grpSp>
          <p:nvGrpSpPr>
            <p:cNvPr id="10" name="Group 10"/>
            <p:cNvGrpSpPr/>
            <p:nvPr/>
          </p:nvGrpSpPr>
          <p:grpSpPr>
            <a:xfrm>
              <a:off x="3429000" y="1314450"/>
              <a:ext cx="762000" cy="762000"/>
              <a:chOff x="3429000" y="1314450"/>
              <a:chExt cx="762000" cy="762000"/>
            </a:xfrm>
          </p:grpSpPr>
          <p:sp>
            <p:nvSpPr>
              <p:cNvPr id="8" name="Freeform 8"/>
              <p:cNvSpPr/>
              <p:nvPr/>
            </p:nvSpPr>
            <p:spPr>
              <a:xfrm>
                <a:off x="3690938" y="1504950"/>
                <a:ext cx="238125" cy="238125"/>
              </a:xfrm>
              <a:custGeom>
                <a:avLst/>
                <a:gdLst/>
                <a:ahLst/>
                <a:cxnLst/>
                <a:rect l="l" t="t" r="r" b="b"/>
                <a:pathLst>
                  <a:path w="238125" h="238125">
                    <a:moveTo>
                      <a:pt x="119062" y="238125"/>
                    </a:moveTo>
                    <a:cubicBezTo>
                      <a:pt x="184819" y="238125"/>
                      <a:pt x="238125" y="184819"/>
                      <a:pt x="238125" y="119062"/>
                    </a:cubicBezTo>
                    <a:cubicBezTo>
                      <a:pt x="238125" y="53306"/>
                      <a:pt x="184819" y="0"/>
                      <a:pt x="119062" y="0"/>
                    </a:cubicBezTo>
                    <a:cubicBezTo>
                      <a:pt x="53306" y="0"/>
                      <a:pt x="0" y="53306"/>
                      <a:pt x="0" y="119062"/>
                    </a:cubicBezTo>
                    <a:cubicBezTo>
                      <a:pt x="0" y="184819"/>
                      <a:pt x="53306" y="238125"/>
                      <a:pt x="119062" y="238125"/>
                    </a:cubicBezTo>
                    <a:close/>
                  </a:path>
                </a:pathLst>
              </a:custGeom>
              <a:solidFill>
                <a:srgbClr val="FF6B35"/>
              </a:solidFill>
              <a:ln>
                <a:noFill/>
              </a:ln>
            </p:spPr>
            <p:txBody>
              <a:bodyPr/>
              <a:lstStyle/>
              <a:p>
                <a:endParaRPr lang="en-US"/>
              </a:p>
            </p:txBody>
          </p:sp>
          <p:sp>
            <p:nvSpPr>
              <p:cNvPr id="9" name="Freeform 9"/>
              <p:cNvSpPr/>
              <p:nvPr/>
            </p:nvSpPr>
            <p:spPr>
              <a:xfrm>
                <a:off x="3429000" y="1314450"/>
                <a:ext cx="762000" cy="762000"/>
              </a:xfrm>
              <a:custGeom>
                <a:avLst/>
                <a:gdLst/>
                <a:ahLst/>
                <a:cxnLst/>
                <a:rect l="l" t="t" r="r" b="b"/>
                <a:pathLst>
                  <a:path w="762000" h="762000">
                    <a:moveTo>
                      <a:pt x="381000" y="762000"/>
                    </a:moveTo>
                    <a:cubicBezTo>
                      <a:pt x="591422" y="762000"/>
                      <a:pt x="762000" y="591422"/>
                      <a:pt x="762000" y="381000"/>
                    </a:cubicBezTo>
                    <a:cubicBezTo>
                      <a:pt x="762000" y="170579"/>
                      <a:pt x="591422" y="0"/>
                      <a:pt x="381000" y="0"/>
                    </a:cubicBezTo>
                    <a:cubicBezTo>
                      <a:pt x="170579" y="0"/>
                      <a:pt x="0" y="170579"/>
                      <a:pt x="0" y="381000"/>
                    </a:cubicBezTo>
                    <a:cubicBezTo>
                      <a:pt x="0" y="591422"/>
                      <a:pt x="170579" y="762000"/>
                      <a:pt x="381000" y="762000"/>
                    </a:cubicBezTo>
                    <a:close/>
                    <a:moveTo>
                      <a:pt x="285750" y="476250"/>
                    </a:moveTo>
                    <a:cubicBezTo>
                      <a:pt x="228739" y="476250"/>
                      <a:pt x="179526" y="509645"/>
                      <a:pt x="156604" y="557936"/>
                    </a:cubicBezTo>
                    <a:cubicBezTo>
                      <a:pt x="118182" y="509273"/>
                      <a:pt x="95250" y="447815"/>
                      <a:pt x="95250" y="381000"/>
                    </a:cubicBezTo>
                    <a:cubicBezTo>
                      <a:pt x="95250" y="223185"/>
                      <a:pt x="223185" y="95250"/>
                      <a:pt x="381000" y="95250"/>
                    </a:cubicBezTo>
                    <a:cubicBezTo>
                      <a:pt x="538815" y="95250"/>
                      <a:pt x="666750" y="223185"/>
                      <a:pt x="666750" y="381000"/>
                    </a:cubicBezTo>
                    <a:cubicBezTo>
                      <a:pt x="666750" y="447815"/>
                      <a:pt x="643819" y="509273"/>
                      <a:pt x="605395" y="557936"/>
                    </a:cubicBezTo>
                    <a:cubicBezTo>
                      <a:pt x="582473" y="509645"/>
                      <a:pt x="533262" y="476250"/>
                      <a:pt x="476250" y="476250"/>
                    </a:cubicBezTo>
                    <a:lnTo>
                      <a:pt x="285750" y="476250"/>
                    </a:lnTo>
                    <a:close/>
                  </a:path>
                </a:pathLst>
              </a:custGeom>
              <a:solidFill>
                <a:srgbClr val="FF6B35"/>
              </a:solidFill>
              <a:ln>
                <a:noFill/>
              </a:ln>
            </p:spPr>
            <p:txBody>
              <a:bodyPr/>
              <a:lstStyle/>
              <a:p>
                <a:endParaRPr lang="en-US"/>
              </a:p>
            </p:txBody>
          </p:sp>
        </p:grpSp>
        <p:sp>
          <p:nvSpPr>
            <p:cNvPr id="11" name="TextBox 11"/>
            <p:cNvSpPr txBox="1"/>
            <p:nvPr/>
          </p:nvSpPr>
          <p:spPr>
            <a:xfrm>
              <a:off x="4392930" y="1373505"/>
              <a:ext cx="2614327" cy="426720"/>
            </a:xfrm>
            <a:prstGeom prst="rect">
              <a:avLst/>
            </a:prstGeom>
            <a:noFill/>
            <a:ln>
              <a:noFill/>
            </a:ln>
          </p:spPr>
          <p:txBody>
            <a:bodyPr wrap="none" lIns="0" tIns="0" rIns="0" bIns="0" anchor="t" anchorCtr="0">
              <a:spAutoFit/>
            </a:bodyPr>
            <a:lstStyle/>
            <a:p>
              <a:pPr algn="l"/>
              <a:r>
                <a:rPr lang="zh-CN" sz="2100" dirty="0">
                  <a:solidFill>
                    <a:srgbClr val="E8EDF2"/>
                  </a:solidFill>
                  <a:latin typeface="Impact"/>
                  <a:ea typeface="SimHei"/>
                  <a:cs typeface="Impact"/>
                </a:rPr>
                <a:t>Senior Technician</a:t>
              </a:r>
            </a:p>
          </p:txBody>
        </p:sp>
        <p:sp>
          <p:nvSpPr>
            <p:cNvPr id="12" name="TextBox 12"/>
            <p:cNvSpPr txBox="1"/>
            <p:nvPr/>
          </p:nvSpPr>
          <p:spPr>
            <a:xfrm>
              <a:off x="4400550" y="1724025"/>
              <a:ext cx="3729514" cy="304800"/>
            </a:xfrm>
            <a:prstGeom prst="rect">
              <a:avLst/>
            </a:prstGeom>
            <a:noFill/>
            <a:ln>
              <a:noFill/>
            </a:ln>
          </p:spPr>
          <p:txBody>
            <a:bodyPr wrap="none" lIns="0" tIns="0" rIns="0" bIns="0" anchor="t" anchorCtr="0">
              <a:spAutoFit/>
            </a:bodyPr>
            <a:lstStyle/>
            <a:p>
              <a:pPr algn="l"/>
              <a:r>
                <a:rPr lang="zh-CN" sz="1500" dirty="0">
                  <a:solidFill>
                    <a:srgbClr val="8B949E"/>
                  </a:solidFill>
                  <a:latin typeface="Arial"/>
                  <a:ea typeface="Microsoft YaHei"/>
                  <a:cs typeface="Arial"/>
                </a:rPr>
                <a:t>25 years of maintenance expertise</a:t>
              </a:r>
            </a:p>
          </p:txBody>
        </p:sp>
      </p:grpSp>
      <p:grpSp>
        <p:nvGrpSpPr>
          <p:cNvPr id="17" name="Group 17"/>
          <p:cNvGrpSpPr/>
          <p:nvPr/>
        </p:nvGrpSpPr>
        <p:grpSpPr>
          <a:xfrm>
            <a:off x="3810000" y="2152650"/>
            <a:ext cx="2000250" cy="723900"/>
            <a:chOff x="3810000" y="2152650"/>
            <a:chExt cx="2000250" cy="723900"/>
          </a:xfrm>
        </p:grpSpPr>
        <p:sp>
          <p:nvSpPr>
            <p:cNvPr id="14" name="Line 14"/>
            <p:cNvSpPr/>
            <p:nvPr/>
          </p:nvSpPr>
          <p:spPr>
            <a:xfrm>
              <a:off x="3810000" y="2152650"/>
              <a:ext cx="1" cy="723900"/>
            </a:xfrm>
            <a:prstGeom prst="line">
              <a:avLst/>
            </a:prstGeom>
            <a:noFill/>
            <a:ln w="19050">
              <a:solidFill>
                <a:srgbClr val="1565C0"/>
              </a:solidFill>
              <a:custDash>
                <a:ds d="200000" sp="150000"/>
              </a:custDash>
              <a:tailEnd type="triangle" w="lg" len="lg"/>
            </a:ln>
          </p:spPr>
          <p:txBody>
            <a:bodyPr/>
            <a:lstStyle/>
            <a:p>
              <a:endParaRPr lang="en-US"/>
            </a:p>
          </p:txBody>
        </p:sp>
        <p:sp>
          <p:nvSpPr>
            <p:cNvPr id="15" name="Rectangle 15"/>
            <p:cNvSpPr/>
            <p:nvPr/>
          </p:nvSpPr>
          <p:spPr>
            <a:xfrm>
              <a:off x="4000500" y="2324100"/>
              <a:ext cx="1809750" cy="304800"/>
            </a:xfrm>
            <a:prstGeom prst="roundRect">
              <a:avLst>
                <a:gd name="adj" fmla="val 50000"/>
              </a:avLst>
            </a:prstGeom>
            <a:solidFill>
              <a:srgbClr val="1565C0">
                <a:alpha val="15000"/>
              </a:srgbClr>
            </a:solidFill>
            <a:ln w="9525">
              <a:solidFill>
                <a:srgbClr val="1565C0"/>
              </a:solidFill>
            </a:ln>
          </p:spPr>
          <p:txBody>
            <a:bodyPr/>
            <a:lstStyle/>
            <a:p>
              <a:endParaRPr lang="en-US"/>
            </a:p>
          </p:txBody>
        </p:sp>
        <p:sp>
          <p:nvSpPr>
            <p:cNvPr id="16" name="TextBox 16"/>
            <p:cNvSpPr txBox="1"/>
            <p:nvPr/>
          </p:nvSpPr>
          <p:spPr>
            <a:xfrm>
              <a:off x="4035742" y="2404110"/>
              <a:ext cx="1739265" cy="243840"/>
            </a:xfrm>
            <a:prstGeom prst="rect">
              <a:avLst/>
            </a:prstGeom>
            <a:noFill/>
            <a:ln>
              <a:noFill/>
            </a:ln>
          </p:spPr>
          <p:txBody>
            <a:bodyPr wrap="none" lIns="0" tIns="0" rIns="0" bIns="0" anchor="t" anchorCtr="0">
              <a:spAutoFit/>
            </a:bodyPr>
            <a:lstStyle/>
            <a:p>
              <a:pPr algn="ctr"/>
              <a:r>
                <a:rPr lang="zh-CN" sz="1200" dirty="0">
                  <a:solidFill>
                    <a:srgbClr val="1565C0"/>
                  </a:solidFill>
                  <a:latin typeface="Arial"/>
                  <a:ea typeface="Microsoft YaHei"/>
                  <a:cs typeface="Arial"/>
                </a:rPr>
                <a:t>captured &amp; digitized</a:t>
              </a:r>
            </a:p>
          </p:txBody>
        </p:sp>
      </p:grpSp>
      <p:grpSp>
        <p:nvGrpSpPr>
          <p:cNvPr id="24" name="Group 24"/>
          <p:cNvGrpSpPr/>
          <p:nvPr/>
        </p:nvGrpSpPr>
        <p:grpSpPr>
          <a:xfrm>
            <a:off x="3429000" y="2981325"/>
            <a:ext cx="4953000" cy="666750"/>
            <a:chOff x="3429000" y="2981325"/>
            <a:chExt cx="4953000" cy="666750"/>
          </a:xfrm>
        </p:grpSpPr>
        <p:grpSp>
          <p:nvGrpSpPr>
            <p:cNvPr id="21" name="Group 21"/>
            <p:cNvGrpSpPr/>
            <p:nvPr/>
          </p:nvGrpSpPr>
          <p:grpSpPr>
            <a:xfrm>
              <a:off x="3429000" y="2981325"/>
              <a:ext cx="713584" cy="666750"/>
              <a:chOff x="3429000" y="2981325"/>
              <a:chExt cx="713584" cy="666750"/>
            </a:xfrm>
          </p:grpSpPr>
          <p:sp>
            <p:nvSpPr>
              <p:cNvPr id="18" name="Freeform 18"/>
              <p:cNvSpPr/>
              <p:nvPr/>
            </p:nvSpPr>
            <p:spPr>
              <a:xfrm>
                <a:off x="3667125" y="2981325"/>
                <a:ext cx="142875" cy="666750"/>
              </a:xfrm>
              <a:custGeom>
                <a:avLst/>
                <a:gdLst/>
                <a:ahLst/>
                <a:cxnLst/>
                <a:rect l="l" t="t" r="r" b="b"/>
                <a:pathLst>
                  <a:path w="142875" h="666750">
                    <a:moveTo>
                      <a:pt x="0" y="0"/>
                    </a:moveTo>
                    <a:lnTo>
                      <a:pt x="142875" y="0"/>
                    </a:lnTo>
                    <a:lnTo>
                      <a:pt x="142875" y="666750"/>
                    </a:lnTo>
                    <a:lnTo>
                      <a:pt x="0" y="666750"/>
                    </a:lnTo>
                    <a:lnTo>
                      <a:pt x="0" y="0"/>
                    </a:lnTo>
                    <a:close/>
                  </a:path>
                </a:pathLst>
              </a:custGeom>
              <a:solidFill>
                <a:srgbClr val="00BCD4"/>
              </a:solidFill>
              <a:ln>
                <a:noFill/>
              </a:ln>
            </p:spPr>
            <p:txBody>
              <a:bodyPr/>
              <a:lstStyle/>
              <a:p>
                <a:endParaRPr lang="en-US"/>
              </a:p>
            </p:txBody>
          </p:sp>
          <p:sp>
            <p:nvSpPr>
              <p:cNvPr id="19" name="Freeform 19"/>
              <p:cNvSpPr/>
              <p:nvPr/>
            </p:nvSpPr>
            <p:spPr>
              <a:xfrm>
                <a:off x="3429000" y="3076575"/>
                <a:ext cx="142875" cy="571500"/>
              </a:xfrm>
              <a:custGeom>
                <a:avLst/>
                <a:gdLst/>
                <a:ahLst/>
                <a:cxnLst/>
                <a:rect l="l" t="t" r="r" b="b"/>
                <a:pathLst>
                  <a:path w="142875" h="571500">
                    <a:moveTo>
                      <a:pt x="0" y="0"/>
                    </a:moveTo>
                    <a:lnTo>
                      <a:pt x="142875" y="0"/>
                    </a:lnTo>
                    <a:lnTo>
                      <a:pt x="142875" y="571500"/>
                    </a:lnTo>
                    <a:lnTo>
                      <a:pt x="0" y="571500"/>
                    </a:lnTo>
                    <a:lnTo>
                      <a:pt x="0" y="0"/>
                    </a:lnTo>
                    <a:close/>
                  </a:path>
                </a:pathLst>
              </a:custGeom>
              <a:solidFill>
                <a:srgbClr val="00BCD4"/>
              </a:solidFill>
              <a:ln>
                <a:noFill/>
              </a:ln>
            </p:spPr>
            <p:txBody>
              <a:bodyPr/>
              <a:lstStyle/>
              <a:p>
                <a:endParaRPr lang="en-US"/>
              </a:p>
            </p:txBody>
          </p:sp>
          <p:sp>
            <p:nvSpPr>
              <p:cNvPr id="20" name="Freeform 20"/>
              <p:cNvSpPr/>
              <p:nvPr/>
            </p:nvSpPr>
            <p:spPr>
              <a:xfrm>
                <a:off x="3873961" y="3076575"/>
                <a:ext cx="268623" cy="571500"/>
              </a:xfrm>
              <a:custGeom>
                <a:avLst/>
                <a:gdLst/>
                <a:ahLst/>
                <a:cxnLst/>
                <a:rect l="l" t="t" r="r" b="b"/>
                <a:pathLst>
                  <a:path w="268623" h="571500">
                    <a:moveTo>
                      <a:pt x="134492" y="0"/>
                    </a:moveTo>
                    <a:lnTo>
                      <a:pt x="0" y="33533"/>
                    </a:lnTo>
                    <a:lnTo>
                      <a:pt x="134130" y="571500"/>
                    </a:lnTo>
                    <a:lnTo>
                      <a:pt x="268623" y="537967"/>
                    </a:lnTo>
                    <a:lnTo>
                      <a:pt x="134492" y="0"/>
                    </a:lnTo>
                    <a:close/>
                  </a:path>
                </a:pathLst>
              </a:custGeom>
              <a:solidFill>
                <a:srgbClr val="00BCD4"/>
              </a:solidFill>
              <a:ln>
                <a:noFill/>
              </a:ln>
            </p:spPr>
            <p:txBody>
              <a:bodyPr/>
              <a:lstStyle/>
              <a:p>
                <a:endParaRPr lang="en-US"/>
              </a:p>
            </p:txBody>
          </p:sp>
        </p:grpSp>
        <p:sp>
          <p:nvSpPr>
            <p:cNvPr id="22" name="TextBox 22"/>
            <p:cNvSpPr txBox="1"/>
            <p:nvPr/>
          </p:nvSpPr>
          <p:spPr>
            <a:xfrm>
              <a:off x="4392930" y="2992755"/>
              <a:ext cx="2322957" cy="426720"/>
            </a:xfrm>
            <a:prstGeom prst="rect">
              <a:avLst/>
            </a:prstGeom>
            <a:noFill/>
            <a:ln>
              <a:noFill/>
            </a:ln>
          </p:spPr>
          <p:txBody>
            <a:bodyPr wrap="none" lIns="0" tIns="0" rIns="0" bIns="0" anchor="t" anchorCtr="0">
              <a:spAutoFit/>
            </a:bodyPr>
            <a:lstStyle/>
            <a:p>
              <a:pPr algn="l"/>
              <a:r>
                <a:rPr lang="zh-CN" sz="2100" dirty="0">
                  <a:solidFill>
                    <a:srgbClr val="E8EDF2"/>
                  </a:solidFill>
                  <a:latin typeface="Impact"/>
                  <a:ea typeface="SimHei"/>
                  <a:cs typeface="Impact"/>
                </a:rPr>
                <a:t>Knowledge Base</a:t>
              </a:r>
            </a:p>
          </p:txBody>
        </p:sp>
        <p:sp>
          <p:nvSpPr>
            <p:cNvPr id="23" name="TextBox 23"/>
            <p:cNvSpPr txBox="1"/>
            <p:nvPr/>
          </p:nvSpPr>
          <p:spPr>
            <a:xfrm>
              <a:off x="4400550" y="3343275"/>
              <a:ext cx="3981450" cy="304800"/>
            </a:xfrm>
            <a:prstGeom prst="rect">
              <a:avLst/>
            </a:prstGeom>
            <a:noFill/>
            <a:ln>
              <a:noFill/>
            </a:ln>
          </p:spPr>
          <p:txBody>
            <a:bodyPr wrap="none" lIns="0" tIns="0" rIns="0" bIns="0" anchor="t" anchorCtr="0">
              <a:spAutoFit/>
            </a:bodyPr>
            <a:lstStyle/>
            <a:p>
              <a:pPr algn="l"/>
              <a:r>
                <a:rPr lang="zh-CN" sz="1500" dirty="0">
                  <a:solidFill>
                    <a:srgbClr val="8B949E"/>
                  </a:solidFill>
                  <a:latin typeface="Arial"/>
                  <a:ea typeface="Microsoft YaHei"/>
                  <a:cs typeface="Arial"/>
                </a:rPr>
                <a:t>Preserved forever — searchable 24/7</a:t>
              </a:r>
            </a:p>
          </p:txBody>
        </p:sp>
      </p:grpSp>
      <p:grpSp>
        <p:nvGrpSpPr>
          <p:cNvPr id="28" name="Group 28"/>
          <p:cNvGrpSpPr/>
          <p:nvPr/>
        </p:nvGrpSpPr>
        <p:grpSpPr>
          <a:xfrm>
            <a:off x="3810000" y="3771900"/>
            <a:ext cx="2000250" cy="723900"/>
            <a:chOff x="3810000" y="3771900"/>
            <a:chExt cx="2000250" cy="723900"/>
          </a:xfrm>
        </p:grpSpPr>
        <p:sp>
          <p:nvSpPr>
            <p:cNvPr id="25" name="Line 25"/>
            <p:cNvSpPr/>
            <p:nvPr/>
          </p:nvSpPr>
          <p:spPr>
            <a:xfrm>
              <a:off x="3810000" y="3771900"/>
              <a:ext cx="1" cy="723900"/>
            </a:xfrm>
            <a:prstGeom prst="line">
              <a:avLst/>
            </a:prstGeom>
            <a:noFill/>
            <a:ln w="19050">
              <a:solidFill>
                <a:srgbClr val="00BCD4"/>
              </a:solidFill>
              <a:custDash>
                <a:ds d="200000" sp="150000"/>
              </a:custDash>
              <a:tailEnd type="triangle" w="lg" len="lg"/>
            </a:ln>
          </p:spPr>
          <p:txBody>
            <a:bodyPr/>
            <a:lstStyle/>
            <a:p>
              <a:endParaRPr lang="en-US"/>
            </a:p>
          </p:txBody>
        </p:sp>
        <p:sp>
          <p:nvSpPr>
            <p:cNvPr id="26" name="Rectangle 26"/>
            <p:cNvSpPr/>
            <p:nvPr/>
          </p:nvSpPr>
          <p:spPr>
            <a:xfrm>
              <a:off x="4000500" y="3943350"/>
              <a:ext cx="1809750" cy="304800"/>
            </a:xfrm>
            <a:prstGeom prst="roundRect">
              <a:avLst>
                <a:gd name="adj" fmla="val 50000"/>
              </a:avLst>
            </a:prstGeom>
            <a:solidFill>
              <a:srgbClr val="00BCD4">
                <a:alpha val="12000"/>
              </a:srgbClr>
            </a:solidFill>
            <a:ln w="9525">
              <a:solidFill>
                <a:srgbClr val="00BCD4"/>
              </a:solidFill>
            </a:ln>
          </p:spPr>
          <p:txBody>
            <a:bodyPr/>
            <a:lstStyle/>
            <a:p>
              <a:endParaRPr lang="en-US"/>
            </a:p>
          </p:txBody>
        </p:sp>
        <p:sp>
          <p:nvSpPr>
            <p:cNvPr id="27" name="TextBox 27"/>
            <p:cNvSpPr txBox="1"/>
            <p:nvPr/>
          </p:nvSpPr>
          <p:spPr>
            <a:xfrm>
              <a:off x="4035742" y="4023360"/>
              <a:ext cx="1739265" cy="243840"/>
            </a:xfrm>
            <a:prstGeom prst="rect">
              <a:avLst/>
            </a:prstGeom>
            <a:noFill/>
            <a:ln>
              <a:noFill/>
            </a:ln>
          </p:spPr>
          <p:txBody>
            <a:bodyPr wrap="none" lIns="0" tIns="0" rIns="0" bIns="0" anchor="t" anchorCtr="0">
              <a:spAutoFit/>
            </a:bodyPr>
            <a:lstStyle/>
            <a:p>
              <a:pPr algn="ctr"/>
              <a:r>
                <a:rPr lang="zh-CN" sz="1200" dirty="0">
                  <a:solidFill>
                    <a:srgbClr val="00BCD4"/>
                  </a:solidFill>
                  <a:latin typeface="Arial"/>
                  <a:ea typeface="Microsoft YaHei"/>
                  <a:cs typeface="Arial"/>
                </a:rPr>
                <a:t>instantly accessible</a:t>
              </a:r>
            </a:p>
          </p:txBody>
        </p:sp>
      </p:grpSp>
      <p:grpSp>
        <p:nvGrpSpPr>
          <p:cNvPr id="36" name="Group 36"/>
          <p:cNvGrpSpPr/>
          <p:nvPr/>
        </p:nvGrpSpPr>
        <p:grpSpPr>
          <a:xfrm>
            <a:off x="3429000" y="4600575"/>
            <a:ext cx="5303520" cy="666750"/>
            <a:chOff x="3429000" y="4600575"/>
            <a:chExt cx="5303520" cy="666750"/>
          </a:xfrm>
        </p:grpSpPr>
        <p:grpSp>
          <p:nvGrpSpPr>
            <p:cNvPr id="33" name="Group 33"/>
            <p:cNvGrpSpPr/>
            <p:nvPr/>
          </p:nvGrpSpPr>
          <p:grpSpPr>
            <a:xfrm>
              <a:off x="3429000" y="4600575"/>
              <a:ext cx="762000" cy="666750"/>
              <a:chOff x="3429000" y="4600575"/>
              <a:chExt cx="762000" cy="666750"/>
            </a:xfrm>
          </p:grpSpPr>
          <p:sp>
            <p:nvSpPr>
              <p:cNvPr id="29" name="Freeform 29"/>
              <p:cNvSpPr/>
              <p:nvPr/>
            </p:nvSpPr>
            <p:spPr>
              <a:xfrm>
                <a:off x="3571875" y="4600575"/>
                <a:ext cx="238125" cy="238125"/>
              </a:xfrm>
              <a:custGeom>
                <a:avLst/>
                <a:gdLst/>
                <a:ahLst/>
                <a:cxnLst/>
                <a:rect l="l" t="t" r="r" b="b"/>
                <a:pathLst>
                  <a:path w="238125" h="238125">
                    <a:moveTo>
                      <a:pt x="238125" y="119062"/>
                    </a:moveTo>
                    <a:cubicBezTo>
                      <a:pt x="238125" y="184819"/>
                      <a:pt x="184819" y="238125"/>
                      <a:pt x="119062" y="238125"/>
                    </a:cubicBezTo>
                    <a:cubicBezTo>
                      <a:pt x="53306" y="238125"/>
                      <a:pt x="0" y="184819"/>
                      <a:pt x="0" y="119062"/>
                    </a:cubicBezTo>
                    <a:cubicBezTo>
                      <a:pt x="0" y="53306"/>
                      <a:pt x="53306" y="0"/>
                      <a:pt x="119062" y="0"/>
                    </a:cubicBezTo>
                    <a:cubicBezTo>
                      <a:pt x="184819" y="0"/>
                      <a:pt x="238125" y="53306"/>
                      <a:pt x="238125" y="119062"/>
                    </a:cubicBezTo>
                    <a:close/>
                  </a:path>
                </a:pathLst>
              </a:custGeom>
              <a:solidFill>
                <a:srgbClr val="2EA043"/>
              </a:solidFill>
              <a:ln>
                <a:noFill/>
              </a:ln>
            </p:spPr>
            <p:txBody>
              <a:bodyPr/>
              <a:lstStyle/>
              <a:p>
                <a:endParaRPr lang="en-US"/>
              </a:p>
            </p:txBody>
          </p:sp>
          <p:sp>
            <p:nvSpPr>
              <p:cNvPr id="30" name="Freeform 30"/>
              <p:cNvSpPr/>
              <p:nvPr/>
            </p:nvSpPr>
            <p:spPr>
              <a:xfrm>
                <a:off x="3429000" y="4933950"/>
                <a:ext cx="381000" cy="333375"/>
              </a:xfrm>
              <a:custGeom>
                <a:avLst/>
                <a:gdLst/>
                <a:ahLst/>
                <a:cxnLst/>
                <a:rect l="l" t="t" r="r" b="b"/>
                <a:pathLst>
                  <a:path w="381000" h="333375">
                    <a:moveTo>
                      <a:pt x="142875" y="0"/>
                    </a:moveTo>
                    <a:cubicBezTo>
                      <a:pt x="63968" y="0"/>
                      <a:pt x="0" y="63968"/>
                      <a:pt x="0" y="142875"/>
                    </a:cubicBezTo>
                    <a:lnTo>
                      <a:pt x="0" y="333375"/>
                    </a:lnTo>
                    <a:lnTo>
                      <a:pt x="381000" y="333375"/>
                    </a:lnTo>
                    <a:lnTo>
                      <a:pt x="381000" y="0"/>
                    </a:lnTo>
                    <a:lnTo>
                      <a:pt x="142875" y="0"/>
                    </a:lnTo>
                    <a:close/>
                  </a:path>
                </a:pathLst>
              </a:custGeom>
              <a:solidFill>
                <a:srgbClr val="2EA043"/>
              </a:solidFill>
              <a:ln>
                <a:noFill/>
              </a:ln>
            </p:spPr>
            <p:txBody>
              <a:bodyPr/>
              <a:lstStyle/>
              <a:p>
                <a:endParaRPr lang="en-US"/>
              </a:p>
            </p:txBody>
          </p:sp>
          <p:sp>
            <p:nvSpPr>
              <p:cNvPr id="31" name="Freeform 31"/>
              <p:cNvSpPr/>
              <p:nvPr/>
            </p:nvSpPr>
            <p:spPr>
              <a:xfrm>
                <a:off x="3905250" y="4933950"/>
                <a:ext cx="285750" cy="333375"/>
              </a:xfrm>
              <a:custGeom>
                <a:avLst/>
                <a:gdLst/>
                <a:ahLst/>
                <a:cxnLst/>
                <a:rect l="l" t="t" r="r" b="b"/>
                <a:pathLst>
                  <a:path w="285750" h="333375">
                    <a:moveTo>
                      <a:pt x="142875" y="0"/>
                    </a:moveTo>
                    <a:lnTo>
                      <a:pt x="0" y="0"/>
                    </a:lnTo>
                    <a:lnTo>
                      <a:pt x="0" y="333375"/>
                    </a:lnTo>
                    <a:lnTo>
                      <a:pt x="285750" y="333375"/>
                    </a:lnTo>
                    <a:lnTo>
                      <a:pt x="285750" y="142875"/>
                    </a:lnTo>
                    <a:cubicBezTo>
                      <a:pt x="285750" y="63968"/>
                      <a:pt x="221785" y="0"/>
                      <a:pt x="142875" y="0"/>
                    </a:cubicBezTo>
                    <a:close/>
                  </a:path>
                </a:pathLst>
              </a:custGeom>
              <a:solidFill>
                <a:srgbClr val="2EA043"/>
              </a:solidFill>
              <a:ln>
                <a:noFill/>
              </a:ln>
            </p:spPr>
            <p:txBody>
              <a:bodyPr/>
              <a:lstStyle/>
              <a:p>
                <a:endParaRPr lang="en-US"/>
              </a:p>
            </p:txBody>
          </p:sp>
          <p:sp>
            <p:nvSpPr>
              <p:cNvPr id="32" name="Freeform 32"/>
              <p:cNvSpPr/>
              <p:nvPr/>
            </p:nvSpPr>
            <p:spPr>
              <a:xfrm>
                <a:off x="3905250" y="4648200"/>
                <a:ext cx="190500" cy="190500"/>
              </a:xfrm>
              <a:custGeom>
                <a:avLst/>
                <a:gdLst/>
                <a:ahLst/>
                <a:cxnLst/>
                <a:rect l="l" t="t" r="r" b="b"/>
                <a:pathLst>
                  <a:path w="190500" h="190500">
                    <a:moveTo>
                      <a:pt x="95250" y="190500"/>
                    </a:moveTo>
                    <a:cubicBezTo>
                      <a:pt x="147857" y="190500"/>
                      <a:pt x="190500" y="147855"/>
                      <a:pt x="190500" y="95250"/>
                    </a:cubicBezTo>
                    <a:cubicBezTo>
                      <a:pt x="190500" y="42645"/>
                      <a:pt x="147857" y="0"/>
                      <a:pt x="95250" y="0"/>
                    </a:cubicBezTo>
                    <a:cubicBezTo>
                      <a:pt x="42643" y="0"/>
                      <a:pt x="0" y="42645"/>
                      <a:pt x="0" y="95250"/>
                    </a:cubicBezTo>
                    <a:cubicBezTo>
                      <a:pt x="0" y="147855"/>
                      <a:pt x="42643" y="190500"/>
                      <a:pt x="95250" y="190500"/>
                    </a:cubicBezTo>
                    <a:close/>
                  </a:path>
                </a:pathLst>
              </a:custGeom>
              <a:solidFill>
                <a:srgbClr val="2EA043"/>
              </a:solidFill>
              <a:ln>
                <a:noFill/>
              </a:ln>
            </p:spPr>
            <p:txBody>
              <a:bodyPr/>
              <a:lstStyle/>
              <a:p>
                <a:endParaRPr lang="en-US"/>
              </a:p>
            </p:txBody>
          </p:sp>
        </p:grpSp>
        <p:sp>
          <p:nvSpPr>
            <p:cNvPr id="34" name="TextBox 34"/>
            <p:cNvSpPr txBox="1"/>
            <p:nvPr/>
          </p:nvSpPr>
          <p:spPr>
            <a:xfrm>
              <a:off x="4392930" y="4612005"/>
              <a:ext cx="2246281" cy="426720"/>
            </a:xfrm>
            <a:prstGeom prst="rect">
              <a:avLst/>
            </a:prstGeom>
            <a:noFill/>
            <a:ln>
              <a:noFill/>
            </a:ln>
          </p:spPr>
          <p:txBody>
            <a:bodyPr wrap="none" lIns="0" tIns="0" rIns="0" bIns="0" anchor="t" anchorCtr="0">
              <a:spAutoFit/>
            </a:bodyPr>
            <a:lstStyle/>
            <a:p>
              <a:pPr algn="l"/>
              <a:r>
                <a:rPr lang="zh-CN" sz="2100" dirty="0">
                  <a:solidFill>
                    <a:srgbClr val="E8EDF2"/>
                  </a:solidFill>
                  <a:latin typeface="Impact"/>
                  <a:ea typeface="SimHei"/>
                  <a:cs typeface="Impact"/>
                </a:rPr>
                <a:t>New Technician</a:t>
              </a:r>
            </a:p>
          </p:txBody>
        </p:sp>
        <p:sp>
          <p:nvSpPr>
            <p:cNvPr id="35" name="TextBox 35"/>
            <p:cNvSpPr txBox="1"/>
            <p:nvPr/>
          </p:nvSpPr>
          <p:spPr>
            <a:xfrm>
              <a:off x="4400550" y="4962525"/>
              <a:ext cx="4331970" cy="304800"/>
            </a:xfrm>
            <a:prstGeom prst="rect">
              <a:avLst/>
            </a:prstGeom>
            <a:noFill/>
            <a:ln>
              <a:noFill/>
            </a:ln>
          </p:spPr>
          <p:txBody>
            <a:bodyPr wrap="none" lIns="0" tIns="0" rIns="0" bIns="0" anchor="t" anchorCtr="0">
              <a:spAutoFit/>
            </a:bodyPr>
            <a:lstStyle/>
            <a:p>
              <a:pPr algn="l"/>
              <a:r>
                <a:rPr lang="zh-CN" sz="1500" dirty="0">
                  <a:solidFill>
                    <a:srgbClr val="8B949E"/>
                  </a:solidFill>
                  <a:latin typeface="Arial"/>
                  <a:ea typeface="Microsoft YaHei"/>
                  <a:cs typeface="Arial"/>
                </a:rPr>
                <a:t>Expert knowledge available from day one</a:t>
              </a:r>
            </a:p>
          </p:txBody>
        </p:sp>
      </p:grpSp>
      <p:grpSp>
        <p:nvGrpSpPr>
          <p:cNvPr id="41" name="Group 41"/>
          <p:cNvGrpSpPr/>
          <p:nvPr/>
        </p:nvGrpSpPr>
        <p:grpSpPr>
          <a:xfrm>
            <a:off x="3086100" y="1314450"/>
            <a:ext cx="152400" cy="4000500"/>
            <a:chOff x="3086100" y="1314450"/>
            <a:chExt cx="152400" cy="4000500"/>
          </a:xfrm>
        </p:grpSpPr>
        <p:sp>
          <p:nvSpPr>
            <p:cNvPr id="37" name="Rectangle 37"/>
            <p:cNvSpPr/>
            <p:nvPr/>
          </p:nvSpPr>
          <p:spPr>
            <a:xfrm>
              <a:off x="3143250" y="1314450"/>
              <a:ext cx="38100" cy="4000500"/>
            </a:xfrm>
            <a:prstGeom prst="rect">
              <a:avLst/>
            </a:prstGeom>
            <a:solidFill>
              <a:srgbClr val="21262D"/>
            </a:solidFill>
            <a:ln>
              <a:noFill/>
            </a:ln>
          </p:spPr>
          <p:txBody>
            <a:bodyPr/>
            <a:lstStyle/>
            <a:p>
              <a:endParaRPr lang="en-US"/>
            </a:p>
          </p:txBody>
        </p:sp>
        <p:sp>
          <p:nvSpPr>
            <p:cNvPr id="38" name="Ellipse 38"/>
            <p:cNvSpPr/>
            <p:nvPr/>
          </p:nvSpPr>
          <p:spPr>
            <a:xfrm>
              <a:off x="3086100" y="1619250"/>
              <a:ext cx="152400" cy="152400"/>
            </a:xfrm>
            <a:prstGeom prst="ellipse">
              <a:avLst/>
            </a:prstGeom>
            <a:solidFill>
              <a:srgbClr val="FF6B35"/>
            </a:solidFill>
            <a:ln>
              <a:noFill/>
            </a:ln>
          </p:spPr>
          <p:txBody>
            <a:bodyPr/>
            <a:lstStyle/>
            <a:p>
              <a:endParaRPr lang="en-US"/>
            </a:p>
          </p:txBody>
        </p:sp>
        <p:sp>
          <p:nvSpPr>
            <p:cNvPr id="39" name="Ellipse 39"/>
            <p:cNvSpPr/>
            <p:nvPr/>
          </p:nvSpPr>
          <p:spPr>
            <a:xfrm>
              <a:off x="3086100" y="3238500"/>
              <a:ext cx="152400" cy="152400"/>
            </a:xfrm>
            <a:prstGeom prst="ellipse">
              <a:avLst/>
            </a:prstGeom>
            <a:solidFill>
              <a:srgbClr val="00BCD4"/>
            </a:solidFill>
            <a:ln>
              <a:noFill/>
            </a:ln>
          </p:spPr>
          <p:txBody>
            <a:bodyPr/>
            <a:lstStyle/>
            <a:p>
              <a:endParaRPr lang="en-US"/>
            </a:p>
          </p:txBody>
        </p:sp>
        <p:sp>
          <p:nvSpPr>
            <p:cNvPr id="40" name="Ellipse 40"/>
            <p:cNvSpPr/>
            <p:nvPr/>
          </p:nvSpPr>
          <p:spPr>
            <a:xfrm>
              <a:off x="3086100" y="4857750"/>
              <a:ext cx="152400" cy="152400"/>
            </a:xfrm>
            <a:prstGeom prst="ellipse">
              <a:avLst/>
            </a:prstGeom>
            <a:solidFill>
              <a:srgbClr val="2EA043"/>
            </a:solidFill>
            <a:ln>
              <a:noFill/>
            </a:ln>
          </p:spPr>
          <p:txBody>
            <a:bodyPr/>
            <a:lstStyle/>
            <a:p>
              <a:endParaRPr lang="en-US"/>
            </a:p>
          </p:txBody>
        </p:sp>
      </p:grpSp>
      <p:grpSp>
        <p:nvGrpSpPr>
          <p:cNvPr id="45" name="Group 45"/>
          <p:cNvGrpSpPr/>
          <p:nvPr/>
        </p:nvGrpSpPr>
        <p:grpSpPr>
          <a:xfrm>
            <a:off x="0" y="6057900"/>
            <a:ext cx="12192000" cy="571500"/>
            <a:chOff x="0" y="6057900"/>
            <a:chExt cx="12192000" cy="571500"/>
          </a:xfrm>
        </p:grpSpPr>
        <p:sp>
          <p:nvSpPr>
            <p:cNvPr id="42" name="Rectangle 42"/>
            <p:cNvSpPr/>
            <p:nvPr/>
          </p:nvSpPr>
          <p:spPr>
            <a:xfrm>
              <a:off x="0" y="6057900"/>
              <a:ext cx="12192000" cy="571500"/>
            </a:xfrm>
            <a:prstGeom prst="rect">
              <a:avLst/>
            </a:prstGeom>
            <a:solidFill>
              <a:srgbClr val="161B22"/>
            </a:solidFill>
            <a:ln>
              <a:noFill/>
            </a:ln>
          </p:spPr>
          <p:txBody>
            <a:bodyPr/>
            <a:lstStyle/>
            <a:p>
              <a:endParaRPr lang="en-US"/>
            </a:p>
          </p:txBody>
        </p:sp>
        <p:sp>
          <p:nvSpPr>
            <p:cNvPr id="43" name="Rectangle 43"/>
            <p:cNvSpPr/>
            <p:nvPr/>
          </p:nvSpPr>
          <p:spPr>
            <a:xfrm>
              <a:off x="0" y="6057900"/>
              <a:ext cx="57150" cy="571500"/>
            </a:xfrm>
            <a:prstGeom prst="rect">
              <a:avLst/>
            </a:prstGeom>
            <a:solidFill>
              <a:srgbClr val="00BCD4"/>
            </a:solidFill>
            <a:ln>
              <a:noFill/>
            </a:ln>
          </p:spPr>
          <p:txBody>
            <a:bodyPr/>
            <a:lstStyle/>
            <a:p>
              <a:endParaRPr lang="en-US"/>
            </a:p>
          </p:txBody>
        </p:sp>
        <p:sp>
          <p:nvSpPr>
            <p:cNvPr id="44" name="TextBox 44"/>
            <p:cNvSpPr txBox="1"/>
            <p:nvPr/>
          </p:nvSpPr>
          <p:spPr>
            <a:xfrm>
              <a:off x="3598950" y="6241732"/>
              <a:ext cx="4994100" cy="335280"/>
            </a:xfrm>
            <a:prstGeom prst="rect">
              <a:avLst/>
            </a:prstGeom>
            <a:noFill/>
            <a:ln>
              <a:noFill/>
            </a:ln>
          </p:spPr>
          <p:txBody>
            <a:bodyPr wrap="none" lIns="0" tIns="0" rIns="0" bIns="0" anchor="t" anchorCtr="0">
              <a:spAutoFit/>
            </a:bodyPr>
            <a:lstStyle/>
            <a:p>
              <a:pPr algn="ctr"/>
              <a:r>
                <a:rPr lang="zh-CN" sz="1650" dirty="0">
                  <a:solidFill>
                    <a:srgbClr val="E8EDF2"/>
                  </a:solidFill>
                  <a:latin typeface="Impact"/>
                  <a:ea typeface="SimHei"/>
                  <a:cs typeface="Impact"/>
                </a:rPr>
                <a:t>PRESERVE CRITICAL MAINTENANCE KNOWLEDGE</a:t>
              </a:r>
            </a:p>
          </p:txBody>
        </p:sp>
      </p:grpSp>
      <p:sp>
        <p:nvSpPr>
          <p:cNvPr id="46" name="TextBox 46"/>
          <p:cNvSpPr txBox="1"/>
          <p:nvPr/>
        </p:nvSpPr>
        <p:spPr>
          <a:xfrm>
            <a:off x="11262122" y="6668452"/>
            <a:ext cx="371713" cy="213360"/>
          </a:xfrm>
          <a:prstGeom prst="rect">
            <a:avLst/>
          </a:prstGeom>
          <a:noFill/>
          <a:ln>
            <a:noFill/>
          </a:ln>
        </p:spPr>
        <p:txBody>
          <a:bodyPr wrap="none" lIns="0" tIns="0" rIns="0" bIns="0" anchor="t" anchorCtr="0">
            <a:spAutoFit/>
          </a:bodyPr>
          <a:lstStyle/>
          <a:p>
            <a:pPr algn="r"/>
            <a:r>
              <a:rPr lang="zh-CN" sz="1050" dirty="0">
                <a:solidFill>
                  <a:srgbClr val="58636D"/>
                </a:solidFill>
                <a:latin typeface="Arial"/>
                <a:ea typeface="Microsoft YaHei"/>
                <a:cs typeface="Arial"/>
              </a:rPr>
              <a:t>5 / 6</a:t>
            </a:r>
          </a:p>
        </p:txBody>
      </p:sp>
    </p:spTree>
  </p:cSld>
  <p:clrMapOvr>
    <a:masterClrMapping/>
  </p:clrMapOvr>
  <mc:AlternateContent xmlns:mc="http://schemas.openxmlformats.org/markup-compatibility/2006">
    <mc:Choice xmlns:p14="http://schemas.microsoft.com/office/powerpoint/2010/main" Requires="p14">
      <p:transition p14:dur="400" advTm="6000">
        <p:fade/>
      </p:transition>
    </mc:Choice>
    <mc:Fallback>
      <p:transition advTm="6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image">
                                      <p:cBhvr>
                                        <p:cTn id="11" dur="400"/>
                                        <p:tgtEl>
                                          <p:spTgt spid="13"/>
                                        </p:tgtEl>
                                      </p:cBhvr>
                                    </p:animEffect>
                                  </p:childTnLst>
                                </p:cTn>
                              </p:par>
                            </p:childTnLst>
                          </p:cTn>
                        </p:par>
                        <p:par>
                          <p:cTn id="12" fill="hold">
                            <p:stCondLst>
                              <p:cond delay="1800"/>
                            </p:stCondLst>
                            <p:childTnLst>
                              <p:par>
                                <p:cTn id="13" presetID="3" presetClass="entr" presetSubtype="10"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blinds(horizontal)">
                                      <p:cBhvr>
                                        <p:cTn id="15" dur="400"/>
                                        <p:tgtEl>
                                          <p:spTgt spid="17"/>
                                        </p:tgtEl>
                                      </p:cBhvr>
                                    </p:animEffect>
                                  </p:childTnLst>
                                </p:cTn>
                              </p:par>
                            </p:childTnLst>
                          </p:cTn>
                        </p:par>
                        <p:par>
                          <p:cTn id="16" fill="hold">
                            <p:stCondLst>
                              <p:cond delay="2700"/>
                            </p:stCondLst>
                            <p:childTnLst>
                              <p:par>
                                <p:cTn id="17" presetID="5" presetClass="entr" presetSubtype="6" fill="hold" nodeType="after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checkerboard(across)">
                                      <p:cBhvr>
                                        <p:cTn id="19" dur="400"/>
                                        <p:tgtEl>
                                          <p:spTgt spid="24"/>
                                        </p:tgtEl>
                                      </p:cBhvr>
                                    </p:animEffect>
                                  </p:childTnLst>
                                </p:cTn>
                              </p:par>
                            </p:childTnLst>
                          </p:cTn>
                        </p:par>
                        <p:par>
                          <p:cTn id="20" fill="hold">
                            <p:stCondLst>
                              <p:cond delay="3600"/>
                            </p:stCondLst>
                            <p:childTnLst>
                              <p:par>
                                <p:cTn id="21" presetID="9" presetClass="entr" presetSubtype="0" fill="hold" nodeType="after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dissolve">
                                      <p:cBhvr>
                                        <p:cTn id="23" dur="400"/>
                                        <p:tgtEl>
                                          <p:spTgt spid="28"/>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slide(fromBottom)">
                                      <p:cBhvr>
                                        <p:cTn id="27" dur="400"/>
                                        <p:tgtEl>
                                          <p:spTgt spid="36"/>
                                        </p:tgtEl>
                                      </p:cBhvr>
                                    </p:animEffect>
                                  </p:childTnLst>
                                </p:cTn>
                              </p:par>
                            </p:childTnLst>
                          </p:cTn>
                        </p:par>
                        <p:par>
                          <p:cTn id="28" fill="hold">
                            <p:stCondLst>
                              <p:cond delay="5400"/>
                            </p:stCondLst>
                            <p:childTnLst>
                              <p:par>
                                <p:cTn id="29" presetID="42" presetClass="entr" presetSubtype="8" fill="hold" nodeType="after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slide(fromLeft)">
                                      <p:cBhvr>
                                        <p:cTn id="31" dur="400"/>
                                        <p:tgtEl>
                                          <p:spTgt spid="41"/>
                                        </p:tgtEl>
                                      </p:cBhvr>
                                    </p:animEffect>
                                  </p:childTnLst>
                                </p:cTn>
                              </p:par>
                            </p:childTnLst>
                          </p:cTn>
                        </p:par>
                        <p:par>
                          <p:cTn id="32" fill="hold">
                            <p:stCondLst>
                              <p:cond delay="6300"/>
                            </p:stCondLst>
                            <p:childTnLst>
                              <p:par>
                                <p:cTn id="33" presetID="14" presetClass="entr" presetSubtype="10" fill="hold" nodeType="after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randombar(horizontal)">
                                      <p:cBhvr>
                                        <p:cTn id="35"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p:bldP spid="17" grpId="0"/>
      <p:bldP spid="24" grpId="0"/>
      <p:bldP spid="28" grpId="0"/>
      <p:bldP spid="36" grpId="0"/>
      <p:bldP spid="41" grpId="0"/>
      <p:bldP spid="4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D1117"/>
          </a:solidFill>
          <a:ln>
            <a:noFill/>
          </a:ln>
        </p:spPr>
        <p:txBody>
          <a:bodyPr/>
          <a:lstStyle/>
          <a:p>
            <a:endParaRPr lang="en-US"/>
          </a:p>
        </p:txBody>
      </p:sp>
      <p:grpSp>
        <p:nvGrpSpPr>
          <p:cNvPr id="5" name="Group 5"/>
          <p:cNvGrpSpPr/>
          <p:nvPr/>
        </p:nvGrpSpPr>
        <p:grpSpPr>
          <a:xfrm>
            <a:off x="0" y="0"/>
            <a:ext cx="12192000" cy="6858000"/>
            <a:chOff x="0" y="0"/>
            <a:chExt cx="12192000" cy="6858000"/>
          </a:xfrm>
        </p:grpSpPr>
        <p:pic>
          <p:nvPicPr>
            <p:cNvPr id="3" name="Image 3"/>
            <p:cNvPicPr>
              <a:picLocks noChangeAspect="1"/>
            </p:cNvPicPr>
            <p:nvPr/>
          </p:nvPicPr>
          <p:blipFill>
            <a:blip r:embed="rId3"/>
            <a:stretch>
              <a:fillRect/>
            </a:stretch>
          </p:blipFill>
          <p:spPr>
            <a:xfrm>
              <a:off x="0" y="490677"/>
              <a:ext cx="12192000" cy="5876646"/>
            </a:xfrm>
            <a:prstGeom prst="rect">
              <a:avLst/>
            </a:prstGeom>
          </p:spPr>
        </p:pic>
        <p:sp>
          <p:nvSpPr>
            <p:cNvPr id="4" name="Rectangle 4"/>
            <p:cNvSpPr/>
            <p:nvPr/>
          </p:nvSpPr>
          <p:spPr>
            <a:xfrm>
              <a:off x="0" y="0"/>
              <a:ext cx="12192000" cy="6858000"/>
            </a:xfrm>
            <a:prstGeom prst="rect">
              <a:avLst/>
            </a:prstGeom>
            <a:gradFill>
              <a:gsLst>
                <a:gs pos="0">
                  <a:srgbClr val="0D1117">
                    <a:alpha val="30000"/>
                  </a:srgbClr>
                </a:gs>
                <a:gs pos="100000">
                  <a:srgbClr val="0D1117">
                    <a:alpha val="88000"/>
                  </a:srgbClr>
                </a:gs>
              </a:gsLst>
              <a:path path="circle">
                <a:fillToRect l="50000" t="50000" r="50000" b="50000"/>
              </a:path>
            </a:gradFill>
            <a:ln>
              <a:noFill/>
            </a:ln>
          </p:spPr>
          <p:txBody>
            <a:bodyPr/>
            <a:lstStyle/>
            <a:p>
              <a:endParaRPr lang="en-US"/>
            </a:p>
          </p:txBody>
        </p:sp>
      </p:grpSp>
      <p:grpSp>
        <p:nvGrpSpPr>
          <p:cNvPr id="15" name="Group 15"/>
          <p:cNvGrpSpPr/>
          <p:nvPr/>
        </p:nvGrpSpPr>
        <p:grpSpPr>
          <a:xfrm>
            <a:off x="3238500" y="1762125"/>
            <a:ext cx="5715000" cy="3333750"/>
            <a:chOff x="3238500" y="1762125"/>
            <a:chExt cx="5715000" cy="3333750"/>
          </a:xfrm>
        </p:grpSpPr>
        <p:sp>
          <p:nvSpPr>
            <p:cNvPr id="6" name="Rectangle 6"/>
            <p:cNvSpPr/>
            <p:nvPr/>
          </p:nvSpPr>
          <p:spPr>
            <a:xfrm>
              <a:off x="3238500" y="1762125"/>
              <a:ext cx="5715000" cy="3333750"/>
            </a:xfrm>
            <a:prstGeom prst="roundRect">
              <a:avLst>
                <a:gd name="adj" fmla="val 4571"/>
              </a:avLst>
            </a:prstGeom>
            <a:solidFill>
              <a:srgbClr val="0D1117">
                <a:alpha val="88000"/>
              </a:srgbClr>
            </a:solidFill>
            <a:ln w="9525">
              <a:solidFill>
                <a:srgbClr val="21262D"/>
              </a:solidFill>
            </a:ln>
            <a:effectLst>
              <a:outerShdw blurRad="304800" dist="76200" dir="5400000" algn="ctr" rotWithShape="0">
                <a:srgbClr val="000000">
                  <a:alpha val="37500"/>
                </a:srgbClr>
              </a:outerShdw>
            </a:effectLst>
          </p:spPr>
          <p:txBody>
            <a:bodyPr/>
            <a:lstStyle/>
            <a:p>
              <a:endParaRPr lang="en-US"/>
            </a:p>
          </p:txBody>
        </p:sp>
        <p:sp>
          <p:nvSpPr>
            <p:cNvPr id="7" name="Rectangle 7"/>
            <p:cNvSpPr/>
            <p:nvPr/>
          </p:nvSpPr>
          <p:spPr>
            <a:xfrm>
              <a:off x="3238500" y="1762125"/>
              <a:ext cx="5715000" cy="47625"/>
            </a:xfrm>
            <a:prstGeom prst="roundRect">
              <a:avLst>
                <a:gd name="adj" fmla="val 50000"/>
              </a:avLst>
            </a:prstGeom>
            <a:solidFill>
              <a:srgbClr val="1565C0"/>
            </a:solidFill>
            <a:ln>
              <a:noFill/>
            </a:ln>
          </p:spPr>
          <p:txBody>
            <a:bodyPr/>
            <a:lstStyle/>
            <a:p>
              <a:endParaRPr lang="en-US"/>
            </a:p>
          </p:txBody>
        </p:sp>
        <p:sp>
          <p:nvSpPr>
            <p:cNvPr id="8" name="Freeform 8"/>
            <p:cNvSpPr/>
            <p:nvPr/>
          </p:nvSpPr>
          <p:spPr>
            <a:xfrm>
              <a:off x="5867400" y="2076450"/>
              <a:ext cx="533400" cy="500062"/>
            </a:xfrm>
            <a:custGeom>
              <a:avLst/>
              <a:gdLst/>
              <a:ahLst/>
              <a:cxnLst/>
              <a:rect l="l" t="t" r="r" b="b"/>
              <a:pathLst>
                <a:path w="533400" h="500062">
                  <a:moveTo>
                    <a:pt x="300038" y="0"/>
                  </a:moveTo>
                  <a:lnTo>
                    <a:pt x="300038" y="66675"/>
                  </a:lnTo>
                  <a:lnTo>
                    <a:pt x="433388" y="66675"/>
                  </a:lnTo>
                  <a:lnTo>
                    <a:pt x="533400" y="283369"/>
                  </a:lnTo>
                  <a:lnTo>
                    <a:pt x="433388" y="500062"/>
                  </a:lnTo>
                  <a:lnTo>
                    <a:pt x="100012" y="500062"/>
                  </a:lnTo>
                  <a:lnTo>
                    <a:pt x="0" y="283369"/>
                  </a:lnTo>
                  <a:lnTo>
                    <a:pt x="100012" y="66675"/>
                  </a:lnTo>
                  <a:lnTo>
                    <a:pt x="233362" y="66675"/>
                  </a:lnTo>
                  <a:lnTo>
                    <a:pt x="233362" y="0"/>
                  </a:lnTo>
                  <a:lnTo>
                    <a:pt x="300038" y="0"/>
                  </a:lnTo>
                  <a:close/>
                  <a:moveTo>
                    <a:pt x="153284" y="391329"/>
                  </a:moveTo>
                  <a:lnTo>
                    <a:pt x="266700" y="408778"/>
                  </a:lnTo>
                  <a:lnTo>
                    <a:pt x="380118" y="391329"/>
                  </a:lnTo>
                  <a:lnTo>
                    <a:pt x="369976" y="325428"/>
                  </a:lnTo>
                  <a:lnTo>
                    <a:pt x="266700" y="341316"/>
                  </a:lnTo>
                  <a:lnTo>
                    <a:pt x="163422" y="325428"/>
                  </a:lnTo>
                  <a:lnTo>
                    <a:pt x="153284" y="391329"/>
                  </a:lnTo>
                  <a:close/>
                  <a:moveTo>
                    <a:pt x="233362" y="225028"/>
                  </a:moveTo>
                  <a:cubicBezTo>
                    <a:pt x="233362" y="248043"/>
                    <a:pt x="214706" y="266700"/>
                    <a:pt x="191691" y="266700"/>
                  </a:cubicBezTo>
                  <a:cubicBezTo>
                    <a:pt x="168676" y="266700"/>
                    <a:pt x="150019" y="248043"/>
                    <a:pt x="150019" y="225028"/>
                  </a:cubicBezTo>
                  <a:cubicBezTo>
                    <a:pt x="150019" y="202013"/>
                    <a:pt x="168676" y="183356"/>
                    <a:pt x="191691" y="183356"/>
                  </a:cubicBezTo>
                  <a:cubicBezTo>
                    <a:pt x="214706" y="183356"/>
                    <a:pt x="233362" y="202013"/>
                    <a:pt x="233362" y="225028"/>
                  </a:cubicBezTo>
                  <a:close/>
                  <a:moveTo>
                    <a:pt x="341709" y="266700"/>
                  </a:moveTo>
                  <a:cubicBezTo>
                    <a:pt x="364726" y="266700"/>
                    <a:pt x="383381" y="248043"/>
                    <a:pt x="383381" y="225028"/>
                  </a:cubicBezTo>
                  <a:cubicBezTo>
                    <a:pt x="383381" y="202013"/>
                    <a:pt x="364726" y="183356"/>
                    <a:pt x="341709" y="183356"/>
                  </a:cubicBezTo>
                  <a:cubicBezTo>
                    <a:pt x="318694" y="183356"/>
                    <a:pt x="300038" y="202013"/>
                    <a:pt x="300038" y="225028"/>
                  </a:cubicBezTo>
                  <a:cubicBezTo>
                    <a:pt x="300038" y="248043"/>
                    <a:pt x="318694" y="266700"/>
                    <a:pt x="341709" y="266700"/>
                  </a:cubicBezTo>
                  <a:close/>
                </a:path>
              </a:pathLst>
            </a:custGeom>
            <a:solidFill>
              <a:srgbClr val="00BCD4"/>
            </a:solidFill>
            <a:ln>
              <a:noFill/>
            </a:ln>
          </p:spPr>
          <p:txBody>
            <a:bodyPr/>
            <a:lstStyle/>
            <a:p>
              <a:endParaRPr lang="en-US"/>
            </a:p>
          </p:txBody>
        </p:sp>
        <p:sp>
          <p:nvSpPr>
            <p:cNvPr id="9" name="TextBox 9"/>
            <p:cNvSpPr txBox="1"/>
            <p:nvPr/>
          </p:nvSpPr>
          <p:spPr>
            <a:xfrm>
              <a:off x="4651962" y="2699385"/>
              <a:ext cx="2888075" cy="548640"/>
            </a:xfrm>
            <a:prstGeom prst="rect">
              <a:avLst/>
            </a:prstGeom>
            <a:noFill/>
            <a:ln>
              <a:noFill/>
            </a:ln>
          </p:spPr>
          <p:txBody>
            <a:bodyPr wrap="none" lIns="0" tIns="0" rIns="0" bIns="0" anchor="t" anchorCtr="0">
              <a:spAutoFit/>
            </a:bodyPr>
            <a:lstStyle/>
            <a:p>
              <a:pPr algn="ctr"/>
              <a:r>
                <a:rPr lang="zh-CN" sz="2700" dirty="0">
                  <a:solidFill>
                    <a:srgbClr val="E8EDF2"/>
                  </a:solidFill>
                  <a:latin typeface="Impact"/>
                  <a:ea typeface="SimHei"/>
                  <a:cs typeface="Impact"/>
                </a:rPr>
                <a:t>AI MAINTENANCE</a:t>
              </a:r>
            </a:p>
          </p:txBody>
        </p:sp>
        <p:sp>
          <p:nvSpPr>
            <p:cNvPr id="10" name="TextBox 10"/>
            <p:cNvSpPr txBox="1"/>
            <p:nvPr/>
          </p:nvSpPr>
          <p:spPr>
            <a:xfrm>
              <a:off x="5135023" y="3099435"/>
              <a:ext cx="1921954" cy="548640"/>
            </a:xfrm>
            <a:prstGeom prst="rect">
              <a:avLst/>
            </a:prstGeom>
            <a:noFill/>
            <a:ln>
              <a:noFill/>
            </a:ln>
          </p:spPr>
          <p:txBody>
            <a:bodyPr wrap="none" lIns="0" tIns="0" rIns="0" bIns="0" anchor="t" anchorCtr="0">
              <a:spAutoFit/>
            </a:bodyPr>
            <a:lstStyle/>
            <a:p>
              <a:pPr algn="ctr"/>
              <a:r>
                <a:rPr lang="zh-CN" sz="2700" dirty="0">
                  <a:solidFill>
                    <a:srgbClr val="00BCD4"/>
                  </a:solidFill>
                  <a:latin typeface="Impact"/>
                  <a:ea typeface="SimHei"/>
                  <a:cs typeface="Impact"/>
                </a:rPr>
                <a:t>ASSISTANT</a:t>
              </a:r>
            </a:p>
          </p:txBody>
        </p:sp>
        <p:sp>
          <p:nvSpPr>
            <p:cNvPr id="11" name="Rectangle 11"/>
            <p:cNvSpPr/>
            <p:nvPr/>
          </p:nvSpPr>
          <p:spPr>
            <a:xfrm>
              <a:off x="4572000" y="3562350"/>
              <a:ext cx="3048000" cy="9525"/>
            </a:xfrm>
            <a:prstGeom prst="rect">
              <a:avLst/>
            </a:prstGeom>
            <a:solidFill>
              <a:srgbClr val="21262D"/>
            </a:solidFill>
            <a:ln>
              <a:noFill/>
            </a:ln>
          </p:spPr>
          <p:txBody>
            <a:bodyPr/>
            <a:lstStyle/>
            <a:p>
              <a:endParaRPr lang="en-US"/>
            </a:p>
          </p:txBody>
        </p:sp>
        <p:sp>
          <p:nvSpPr>
            <p:cNvPr id="12" name="Rectangle 12"/>
            <p:cNvSpPr/>
            <p:nvPr/>
          </p:nvSpPr>
          <p:spPr>
            <a:xfrm>
              <a:off x="4381500" y="3714750"/>
              <a:ext cx="3429000" cy="533400"/>
            </a:xfrm>
            <a:prstGeom prst="roundRect">
              <a:avLst>
                <a:gd name="adj" fmla="val 50000"/>
              </a:avLst>
            </a:prstGeom>
            <a:solidFill>
              <a:srgbClr val="1565C0"/>
            </a:solidFill>
            <a:ln>
              <a:noFill/>
            </a:ln>
          </p:spPr>
          <p:txBody>
            <a:bodyPr/>
            <a:lstStyle/>
            <a:p>
              <a:endParaRPr lang="en-US"/>
            </a:p>
          </p:txBody>
        </p:sp>
        <p:sp>
          <p:nvSpPr>
            <p:cNvPr id="13" name="TextBox 13"/>
            <p:cNvSpPr txBox="1"/>
            <p:nvPr/>
          </p:nvSpPr>
          <p:spPr>
            <a:xfrm>
              <a:off x="4701445" y="3870008"/>
              <a:ext cx="2789110" cy="335280"/>
            </a:xfrm>
            <a:prstGeom prst="rect">
              <a:avLst/>
            </a:prstGeom>
            <a:noFill/>
            <a:ln>
              <a:noFill/>
            </a:ln>
          </p:spPr>
          <p:txBody>
            <a:bodyPr wrap="none" lIns="0" tIns="0" rIns="0" bIns="0" anchor="t" anchorCtr="0">
              <a:spAutoFit/>
            </a:bodyPr>
            <a:lstStyle/>
            <a:p>
              <a:pPr algn="ctr"/>
              <a:r>
                <a:rPr lang="zh-CN" sz="1650" dirty="0">
                  <a:solidFill>
                    <a:srgbClr val="FFFFFF"/>
                  </a:solidFill>
                  <a:latin typeface="Impact"/>
                  <a:ea typeface="SimHei"/>
                  <a:cs typeface="Impact"/>
                </a:rPr>
                <a:t>VISIT OUR DEMO STATION</a:t>
              </a:r>
            </a:p>
          </p:txBody>
        </p:sp>
        <p:sp>
          <p:nvSpPr>
            <p:cNvPr id="14" name="TextBox 14"/>
            <p:cNvSpPr txBox="1"/>
            <p:nvPr/>
          </p:nvSpPr>
          <p:spPr>
            <a:xfrm>
              <a:off x="3939588" y="4673918"/>
              <a:ext cx="4312825" cy="274320"/>
            </a:xfrm>
            <a:prstGeom prst="rect">
              <a:avLst/>
            </a:prstGeom>
            <a:noFill/>
            <a:ln>
              <a:noFill/>
            </a:ln>
          </p:spPr>
          <p:txBody>
            <a:bodyPr wrap="none" lIns="0" tIns="0" rIns="0" bIns="0" anchor="t" anchorCtr="0">
              <a:spAutoFit/>
            </a:bodyPr>
            <a:lstStyle/>
            <a:p>
              <a:pPr algn="ctr"/>
              <a:r>
                <a:rPr lang="zh-CN" sz="1350" dirty="0">
                  <a:solidFill>
                    <a:srgbClr val="8B949E"/>
                  </a:solidFill>
                  <a:latin typeface="Arial"/>
                  <a:ea typeface="Microsoft YaHei"/>
                  <a:cs typeface="Arial"/>
                </a:rPr>
                <a:t>Available 24/7 · Auto-learns · Never forgets</a:t>
              </a:r>
            </a:p>
          </p:txBody>
        </p:sp>
      </p:grpSp>
      <p:grpSp>
        <p:nvGrpSpPr>
          <p:cNvPr id="18" name="Group 18"/>
          <p:cNvGrpSpPr/>
          <p:nvPr/>
        </p:nvGrpSpPr>
        <p:grpSpPr>
          <a:xfrm>
            <a:off x="723900" y="400050"/>
            <a:ext cx="2288858" cy="609600"/>
            <a:chOff x="723900" y="400050"/>
            <a:chExt cx="2288858" cy="609600"/>
          </a:xfrm>
        </p:grpSpPr>
        <p:sp>
          <p:nvSpPr>
            <p:cNvPr id="16" name="TextBox 16"/>
            <p:cNvSpPr txBox="1"/>
            <p:nvPr/>
          </p:nvSpPr>
          <p:spPr>
            <a:xfrm>
              <a:off x="723900" y="400050"/>
              <a:ext cx="2288858" cy="609600"/>
            </a:xfrm>
            <a:prstGeom prst="rect">
              <a:avLst/>
            </a:prstGeom>
            <a:noFill/>
            <a:ln>
              <a:noFill/>
            </a:ln>
          </p:spPr>
          <p:txBody>
            <a:bodyPr wrap="none" lIns="0" tIns="0" rIns="0" bIns="0" anchor="t" anchorCtr="0">
              <a:spAutoFit/>
            </a:bodyPr>
            <a:lstStyle/>
            <a:p>
              <a:pPr algn="l"/>
              <a:r>
                <a:rPr lang="zh-CN" sz="3000" dirty="0">
                  <a:solidFill>
                    <a:srgbClr val="E8EDF2"/>
                  </a:solidFill>
                  <a:latin typeface="Impact"/>
                  <a:ea typeface="SimHei"/>
                  <a:cs typeface="Impact"/>
                </a:rPr>
                <a:t>SEE IT LIVE</a:t>
              </a:r>
            </a:p>
          </p:txBody>
        </p:sp>
        <p:sp>
          <p:nvSpPr>
            <p:cNvPr id="17" name="Rectangle 17"/>
            <p:cNvSpPr/>
            <p:nvPr/>
          </p:nvSpPr>
          <p:spPr>
            <a:xfrm>
              <a:off x="762000" y="800100"/>
              <a:ext cx="1600200" cy="38100"/>
            </a:xfrm>
            <a:prstGeom prst="rect">
              <a:avLst/>
            </a:prstGeom>
            <a:solidFill>
              <a:srgbClr val="FF6B35"/>
            </a:solidFill>
            <a:ln>
              <a:noFill/>
            </a:ln>
          </p:spPr>
          <p:txBody>
            <a:bodyPr/>
            <a:lstStyle/>
            <a:p>
              <a:endParaRPr lang="en-US"/>
            </a:p>
          </p:txBody>
        </p:sp>
      </p:grpSp>
      <p:sp>
        <p:nvSpPr>
          <p:cNvPr id="19" name="TextBox 19"/>
          <p:cNvSpPr txBox="1"/>
          <p:nvPr/>
        </p:nvSpPr>
        <p:spPr>
          <a:xfrm>
            <a:off x="11262122" y="6668452"/>
            <a:ext cx="371713" cy="213360"/>
          </a:xfrm>
          <a:prstGeom prst="rect">
            <a:avLst/>
          </a:prstGeom>
          <a:noFill/>
          <a:ln>
            <a:noFill/>
          </a:ln>
        </p:spPr>
        <p:txBody>
          <a:bodyPr wrap="none" lIns="0" tIns="0" rIns="0" bIns="0" anchor="t" anchorCtr="0">
            <a:spAutoFit/>
          </a:bodyPr>
          <a:lstStyle/>
          <a:p>
            <a:pPr algn="r"/>
            <a:r>
              <a:rPr lang="zh-CN" sz="1050" dirty="0">
                <a:solidFill>
                  <a:srgbClr val="58636D"/>
                </a:solidFill>
                <a:latin typeface="Arial"/>
                <a:ea typeface="Microsoft YaHei"/>
                <a:cs typeface="Arial"/>
              </a:rPr>
              <a:t>6 / 6</a:t>
            </a:r>
          </a:p>
        </p:txBody>
      </p:sp>
    </p:spTree>
  </p:cSld>
  <p:clrMapOvr>
    <a:masterClrMapping/>
  </p:clrMapOvr>
  <mc:AlternateContent xmlns:mc="http://schemas.openxmlformats.org/markup-compatibility/2006">
    <mc:Choice xmlns:p14="http://schemas.microsoft.com/office/powerpoint/2010/main" Requires="p14">
      <p:transition p14:dur="400" advTm="6000">
        <p:fade/>
      </p:transition>
    </mc:Choice>
    <mc:Fallback>
      <p:transition advTm="6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par>
                          <p:cTn id="8" fill="hold">
                            <p:stCondLst>
                              <p:cond delay="900"/>
                            </p:stCondLst>
                            <p:childTnLst>
                              <p:par>
                                <p:cTn id="9" presetID="4" presetClass="entr" presetSubtype="0"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box(in)">
                                      <p:cBhvr>
                                        <p:cTn id="11" dur="400"/>
                                        <p:tgtEl>
                                          <p:spTgt spid="15"/>
                                        </p:tgtEl>
                                      </p:cBhvr>
                                    </p:animEffect>
                                  </p:childTnLst>
                                </p:cTn>
                              </p:par>
                            </p:childTnLst>
                          </p:cTn>
                        </p:par>
                        <p:par>
                          <p:cTn id="12" fill="hold">
                            <p:stCondLst>
                              <p:cond delay="1800"/>
                            </p:stCondLst>
                            <p:childTnLst>
                              <p:par>
                                <p:cTn id="13" presetID="16" presetClass="entr" presetSubtype="21" fill="hold"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barn(inVertical)">
                                      <p:cBhvr>
                                        <p:cTn id="15"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5" grpId="0"/>
      <p:bldP spid="18"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130</TotalTime>
  <Words>2668</Words>
  <Application>Microsoft Office PowerPoint</Application>
  <PresentationFormat>Widescreen</PresentationFormat>
  <Paragraphs>81</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Impact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Anh Phan (BA - Team Lead)</cp:lastModifiedBy>
  <cp:revision>2</cp:revision>
  <dcterms:created xsi:type="dcterms:W3CDTF">2013-01-27T09:14:16Z</dcterms:created>
  <dcterms:modified xsi:type="dcterms:W3CDTF">2026-06-16T08:28:15Z</dcterms:modified>
  <cp:category/>
</cp:coreProperties>
</file>